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3" r:id="rId1"/>
  </p:sldMasterIdLst>
  <p:notesMasterIdLst>
    <p:notesMasterId r:id="rId32"/>
  </p:notesMasterIdLst>
  <p:sldIdLst>
    <p:sldId id="256" r:id="rId2"/>
    <p:sldId id="413" r:id="rId3"/>
    <p:sldId id="388" r:id="rId4"/>
    <p:sldId id="390" r:id="rId5"/>
    <p:sldId id="4044" r:id="rId6"/>
    <p:sldId id="385" r:id="rId7"/>
    <p:sldId id="2147482798" r:id="rId8"/>
    <p:sldId id="2147482799" r:id="rId9"/>
    <p:sldId id="2147482800" r:id="rId10"/>
    <p:sldId id="2147482801" r:id="rId11"/>
    <p:sldId id="2147482802" r:id="rId12"/>
    <p:sldId id="2147482803" r:id="rId13"/>
    <p:sldId id="2147482804" r:id="rId14"/>
    <p:sldId id="2147482805" r:id="rId15"/>
    <p:sldId id="2147482806" r:id="rId16"/>
    <p:sldId id="2147482807" r:id="rId17"/>
    <p:sldId id="2147482808" r:id="rId18"/>
    <p:sldId id="2147482809" r:id="rId19"/>
    <p:sldId id="2147482816" r:id="rId20"/>
    <p:sldId id="2147482810" r:id="rId21"/>
    <p:sldId id="415" r:id="rId22"/>
    <p:sldId id="2147482813" r:id="rId23"/>
    <p:sldId id="2147482814" r:id="rId24"/>
    <p:sldId id="2147482815" r:id="rId25"/>
    <p:sldId id="2147482436" r:id="rId26"/>
    <p:sldId id="2147482812" r:id="rId27"/>
    <p:sldId id="4042" r:id="rId28"/>
    <p:sldId id="268" r:id="rId29"/>
    <p:sldId id="2147482817" r:id="rId30"/>
    <p:sldId id="214748281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23"/>
    <p:restoredTop sz="61104" autoAdjust="0"/>
  </p:normalViewPr>
  <p:slideViewPr>
    <p:cSldViewPr snapToGrid="0">
      <p:cViewPr varScale="1">
        <p:scale>
          <a:sx n="75" d="100"/>
          <a:sy n="75" d="100"/>
        </p:scale>
        <p:origin x="1552"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9CCF9A-981A-5249-97D4-A6A8CB76D112}" type="datetimeFigureOut">
              <a:rPr lang="en-US" smtClean="0"/>
              <a:t>9/29/25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8EF870-5850-6643-A228-25AFAA8E2BB1}" type="slidenum">
              <a:rPr lang="en-US" smtClean="0"/>
              <a:t>‹#›</a:t>
            </a:fld>
            <a:endParaRPr lang="en-US"/>
          </a:p>
        </p:txBody>
      </p:sp>
    </p:spTree>
    <p:extLst>
      <p:ext uri="{BB962C8B-B14F-4D97-AF65-F5344CB8AC3E}">
        <p14:creationId xmlns:p14="http://schemas.microsoft.com/office/powerpoint/2010/main" val="550949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a:t>
            </a:fld>
            <a:endParaRPr lang="en-US"/>
          </a:p>
        </p:txBody>
      </p:sp>
    </p:spTree>
    <p:extLst>
      <p:ext uri="{BB962C8B-B14F-4D97-AF65-F5344CB8AC3E}">
        <p14:creationId xmlns:p14="http://schemas.microsoft.com/office/powerpoint/2010/main" val="188993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a:t>
            </a:fld>
            <a:endParaRPr lang="en-US"/>
          </a:p>
        </p:txBody>
      </p:sp>
    </p:spTree>
    <p:extLst>
      <p:ext uri="{BB962C8B-B14F-4D97-AF65-F5344CB8AC3E}">
        <p14:creationId xmlns:p14="http://schemas.microsoft.com/office/powerpoint/2010/main" val="3085108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NOTES:</a:t>
            </a:r>
          </a:p>
          <a:p>
            <a:r>
              <a:rPr lang="en-US" dirty="0"/>
              <a:t>1. Definition of Foundation Models</a:t>
            </a:r>
          </a:p>
          <a:p>
            <a:r>
              <a:rPr lang="en-US" dirty="0"/>
              <a:t>- Large machine learning (ML) models</a:t>
            </a:r>
          </a:p>
          <a:p>
            <a:r>
              <a:rPr lang="en-US" dirty="0"/>
              <a:t>- Pre-trained on vast amounts of data</a:t>
            </a:r>
          </a:p>
          <a:p>
            <a:r>
              <a:rPr lang="en-US" dirty="0"/>
              <a:t>- Serve as a base for more specialized applications</a:t>
            </a:r>
          </a:p>
          <a:p>
            <a:endParaRPr lang="en-US" dirty="0"/>
          </a:p>
          <a:p>
            <a:r>
              <a:rPr lang="en-US" dirty="0"/>
              <a:t>2. Key Characteristics</a:t>
            </a:r>
          </a:p>
          <a:p>
            <a:r>
              <a:rPr lang="en-US" dirty="0"/>
              <a:t>- Pre-trained nature</a:t>
            </a:r>
          </a:p>
          <a:p>
            <a:r>
              <a:rPr lang="en-US" dirty="0"/>
              <a:t>- Adaptability to specialized tasks</a:t>
            </a:r>
          </a:p>
          <a:p>
            <a:r>
              <a:rPr lang="en-US" dirty="0"/>
              <a:t>- Versatility in data types</a:t>
            </a:r>
          </a:p>
          <a:p>
            <a:endParaRPr lang="en-US" dirty="0"/>
          </a:p>
          <a:p>
            <a:r>
              <a:rPr lang="en-US" dirty="0"/>
              <a:t>3. Data Type Compatibility</a:t>
            </a:r>
          </a:p>
          <a:p>
            <a:r>
              <a:rPr lang="en-US" dirty="0"/>
              <a:t>- Text processing</a:t>
            </a:r>
          </a:p>
          <a:p>
            <a:r>
              <a:rPr lang="en-US" dirty="0"/>
              <a:t>- Image analysis</a:t>
            </a:r>
          </a:p>
          <a:p>
            <a:r>
              <a:rPr lang="en-US" dirty="0"/>
              <a:t>- Video processing</a:t>
            </a:r>
          </a:p>
          <a:p>
            <a:r>
              <a:rPr lang="en-US" dirty="0"/>
              <a:t>- Audio processing</a:t>
            </a:r>
          </a:p>
          <a:p>
            <a:r>
              <a:rPr lang="en-US" dirty="0"/>
              <a:t>- Other data formats</a:t>
            </a:r>
          </a:p>
          <a:p>
            <a:endParaRPr lang="en-US" dirty="0"/>
          </a:p>
          <a:p>
            <a:r>
              <a:rPr lang="en-US" b="1" dirty="0"/>
              <a:t>EDUCATOR NOTES:</a:t>
            </a:r>
          </a:p>
          <a:p>
            <a:endParaRPr lang="en-US" b="1" dirty="0"/>
          </a:p>
          <a:p>
            <a:r>
              <a:rPr lang="en-US" dirty="0"/>
              <a:t>"Today we're discussing Foundation Models, which represent a significant advancement in machine learning. These models are distinctive because they're pre-trained on massive datasets, making them incredibly powerful and versatile. What makes them particularly valuable is their ability to be adapted or fine-tuned for specific tasks while maintaining their foundational knowledge.</a:t>
            </a:r>
          </a:p>
          <a:p>
            <a:endParaRPr lang="en-US" dirty="0"/>
          </a:p>
          <a:p>
            <a:r>
              <a:rPr lang="en-US" dirty="0"/>
              <a:t>One of the most impressive aspects is their versatility in handling different types of data. Whether we're working with text, images, video, or audio, these models can be trained to process and understand various data formats effectively.</a:t>
            </a:r>
          </a:p>
          <a:p>
            <a:endParaRPr lang="en-US" dirty="0"/>
          </a:p>
          <a:p>
            <a:r>
              <a:rPr lang="en-US" dirty="0"/>
              <a:t>Remember, the key takeaway is that Foundation Models serve as a robust starting point for more specialized applications, saving time and computational resources compared to training models from scratch."</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3</a:t>
            </a:fld>
            <a:endParaRPr lang="en-US"/>
          </a:p>
        </p:txBody>
      </p:sp>
    </p:spTree>
    <p:extLst>
      <p:ext uri="{BB962C8B-B14F-4D97-AF65-F5344CB8AC3E}">
        <p14:creationId xmlns:p14="http://schemas.microsoft.com/office/powerpoint/2010/main" val="1643116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are foundation models trained on vast text data to learn word probabilities in different contexts. Their training involves predicting missing words in text sequences or predicting the next word given a phrase, allowing them to understand language patterns and generate contextually appropriate text for various applications.</a:t>
            </a:r>
          </a:p>
          <a:p>
            <a:endParaRPr lang="en-US" dirty="0"/>
          </a:p>
          <a:p>
            <a:r>
              <a:rPr lang="en-US" b="1" dirty="0"/>
              <a:t>Key points:</a:t>
            </a:r>
          </a:p>
          <a:p>
            <a:endParaRPr lang="en-US" dirty="0"/>
          </a:p>
          <a:p>
            <a:r>
              <a:rPr lang="en-US" dirty="0"/>
              <a:t>1. Definition of Foundation Models</a:t>
            </a:r>
          </a:p>
          <a:p>
            <a:r>
              <a:rPr lang="en-US" dirty="0"/>
              <a:t>- Models that are trained primarily on text data</a:t>
            </a:r>
          </a:p>
          <a:p>
            <a:r>
              <a:rPr lang="en-US" dirty="0"/>
              <a:t>- Machine learning models designed for understanding language patterns</a:t>
            </a:r>
          </a:p>
          <a:p>
            <a:r>
              <a:rPr lang="en-US" dirty="0"/>
              <a:t>- Core purpose is learning word probabilities in context</a:t>
            </a:r>
          </a:p>
          <a:p>
            <a:endParaRPr lang="en-US" dirty="0"/>
          </a:p>
          <a:p>
            <a:r>
              <a:rPr lang="en-US" dirty="0"/>
              <a:t>2. Key Characteristics of LLMs</a:t>
            </a:r>
          </a:p>
          <a:p>
            <a:r>
              <a:rPr lang="en-US" dirty="0"/>
              <a:t>- Large-scale machine learning systems</a:t>
            </a:r>
          </a:p>
          <a:p>
            <a:r>
              <a:rPr lang="en-US" dirty="0"/>
              <a:t>- Focus on contextual understanding</a:t>
            </a:r>
          </a:p>
          <a:p>
            <a:r>
              <a:rPr lang="en-US" dirty="0"/>
              <a:t>- Trained to predict and generate text</a:t>
            </a:r>
          </a:p>
          <a:p>
            <a:endParaRPr lang="en-US" dirty="0"/>
          </a:p>
          <a:p>
            <a:r>
              <a:rPr lang="en-US" dirty="0"/>
              <a:t>3. Training Methodology</a:t>
            </a:r>
          </a:p>
          <a:p>
            <a:r>
              <a:rPr lang="en-US" dirty="0"/>
              <a:t>- Primary task: Predict missing words in sequences</a:t>
            </a:r>
          </a:p>
          <a:p>
            <a:r>
              <a:rPr lang="en-US" dirty="0"/>
              <a:t>- Uses pattern recognition across large text datasets</a:t>
            </a:r>
          </a:p>
          <a:p>
            <a:r>
              <a:rPr lang="en-US" dirty="0"/>
              <a:t>- Example shown with weather prediction scenario</a:t>
            </a:r>
          </a:p>
          <a:p>
            <a:endParaRPr lang="en-US" dirty="0"/>
          </a:p>
          <a:p>
            <a:r>
              <a:rPr lang="en-US" b="1" dirty="0"/>
              <a:t>EDUCATOR NOTES:</a:t>
            </a:r>
          </a:p>
          <a:p>
            <a:endParaRPr lang="en-US" dirty="0"/>
          </a:p>
          <a:p>
            <a:r>
              <a:rPr lang="en-US" dirty="0"/>
              <a:t>” Let's quickly review Large Language Models, or LLMs, which represent a fundamental advancement in artificial intelligence. When presenting this slide, I'll emphasize three key points:</a:t>
            </a:r>
          </a:p>
          <a:p>
            <a:endParaRPr lang="en-US" dirty="0"/>
          </a:p>
          <a:p>
            <a:r>
              <a:rPr lang="en-US" dirty="0"/>
              <a:t>1. Start by explaining that foundation models are the backbone of modern AI language systems, trained on vast amounts of text data to understand language patterns.</a:t>
            </a:r>
          </a:p>
          <a:p>
            <a:endParaRPr lang="en-US" dirty="0"/>
          </a:p>
          <a:p>
            <a:r>
              <a:rPr lang="en-US" dirty="0"/>
              <a:t>2. Use the weather example to demonstrate how LLMs work in practice - it shows how the model predicts the next word based on context and learned patterns.</a:t>
            </a:r>
          </a:p>
          <a:p>
            <a:endParaRPr lang="en-US" dirty="0"/>
          </a:p>
          <a:p>
            <a:r>
              <a:rPr lang="en-US" dirty="0"/>
              <a:t>3. Emphasize that the core training task - predicting missing words - is actually what enables these models to develop broader language understanding capabilities.</a:t>
            </a:r>
          </a:p>
          <a:p>
            <a:endParaRPr lang="en-US" dirty="0"/>
          </a:p>
          <a:p>
            <a:r>
              <a:rPr lang="en-US" dirty="0"/>
              <a:t>Remember to pause after introducing the weather example to let the audience absorb the concept, and possibly ask for their predictions to engage them in the learning process."</a:t>
            </a:r>
          </a:p>
        </p:txBody>
      </p:sp>
      <p:sp>
        <p:nvSpPr>
          <p:cNvPr id="4" name="Slide Number Placeholder 3"/>
          <p:cNvSpPr>
            <a:spLocks noGrp="1"/>
          </p:cNvSpPr>
          <p:nvPr>
            <p:ph type="sldNum" sz="quarter" idx="5"/>
          </p:nvPr>
        </p:nvSpPr>
        <p:spPr/>
        <p:txBody>
          <a:bodyPr/>
          <a:lstStyle/>
          <a:p>
            <a:fld id="{688EF870-5850-6643-A228-25AFAA8E2BB1}" type="slidenum">
              <a:rPr lang="en-US" smtClean="0"/>
              <a:t>4</a:t>
            </a:fld>
            <a:endParaRPr lang="en-US"/>
          </a:p>
        </p:txBody>
      </p:sp>
    </p:spTree>
    <p:extLst>
      <p:ext uri="{BB962C8B-B14F-4D97-AF65-F5344CB8AC3E}">
        <p14:creationId xmlns:p14="http://schemas.microsoft.com/office/powerpoint/2010/main" val="3726403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Clear and Specific Instructions</a:t>
            </a:r>
          </a:p>
          <a:p>
            <a:r>
              <a:rPr lang="en-US" dirty="0"/>
              <a:t>- Instructions must be unambiguous to avoid confusion</a:t>
            </a:r>
          </a:p>
          <a:p>
            <a:r>
              <a:rPr lang="en-US" dirty="0"/>
              <a:t>- Be precise about what you want the model to do</a:t>
            </a:r>
          </a:p>
          <a:p>
            <a:r>
              <a:rPr lang="en-US" dirty="0"/>
              <a:t>- Avoid vague or open-ended directions</a:t>
            </a:r>
          </a:p>
          <a:p>
            <a:endParaRPr lang="en-US" dirty="0"/>
          </a:p>
          <a:p>
            <a:r>
              <a:rPr lang="en-US" dirty="0"/>
              <a:t>2. Focus Areas</a:t>
            </a:r>
          </a:p>
          <a:p>
            <a:r>
              <a:rPr lang="en-US" dirty="0"/>
              <a:t>- Explicitly indicate which parts of the prompt require special attention</a:t>
            </a:r>
          </a:p>
          <a:p>
            <a:r>
              <a:rPr lang="en-US" dirty="0"/>
              <a:t>- Guide the model to concentrate on specific aspects</a:t>
            </a:r>
          </a:p>
          <a:p>
            <a:r>
              <a:rPr lang="en-US" dirty="0"/>
              <a:t>- Use highlighting or emphasis when necessary</a:t>
            </a:r>
          </a:p>
          <a:p>
            <a:endParaRPr lang="en-US" dirty="0"/>
          </a:p>
          <a:p>
            <a:r>
              <a:rPr lang="en-US" dirty="0"/>
              <a:t>3. Details and Restrictions</a:t>
            </a:r>
          </a:p>
          <a:p>
            <a:r>
              <a:rPr lang="en-US" dirty="0"/>
              <a:t>- Include all relevant parameters</a:t>
            </a:r>
          </a:p>
          <a:p>
            <a:r>
              <a:rPr lang="en-US" dirty="0"/>
              <a:t>- Set clear boundaries and limitations</a:t>
            </a:r>
          </a:p>
          <a:p>
            <a:r>
              <a:rPr lang="en-US" dirty="0"/>
              <a:t>- Specify any constraints or requirements</a:t>
            </a:r>
          </a:p>
          <a:p>
            <a:endParaRPr lang="en-US" dirty="0"/>
          </a:p>
          <a:p>
            <a:r>
              <a:rPr lang="en-US" dirty="0"/>
              <a:t>4. Structure</a:t>
            </a:r>
          </a:p>
          <a:p>
            <a:r>
              <a:rPr lang="en-US" dirty="0"/>
              <a:t>- Organize prompts into distinct sections:</a:t>
            </a:r>
          </a:p>
          <a:p>
            <a:r>
              <a:rPr lang="en-US" dirty="0"/>
              <a:t>  * Instructions (what to do)</a:t>
            </a:r>
          </a:p>
          <a:p>
            <a:r>
              <a:rPr lang="en-US" dirty="0"/>
              <a:t>  * Content (material to work with)</a:t>
            </a:r>
          </a:p>
          <a:p>
            <a:r>
              <a:rPr lang="en-US" dirty="0"/>
              <a:t>  * Questions (specific queries)</a:t>
            </a:r>
          </a:p>
          <a:p>
            <a:r>
              <a:rPr lang="en-US" dirty="0"/>
              <a:t>  * Output format (how to present results)</a:t>
            </a:r>
          </a:p>
          <a:p>
            <a:endParaRPr lang="en-US" dirty="0"/>
          </a:p>
          <a:p>
            <a:r>
              <a:rPr lang="en-US" dirty="0"/>
              <a:t>5. Positive Framing</a:t>
            </a:r>
          </a:p>
          <a:p>
            <a:r>
              <a:rPr lang="en-US" dirty="0"/>
              <a:t>- Use affirmative language instead of negative</a:t>
            </a:r>
          </a:p>
          <a:p>
            <a:r>
              <a:rPr lang="en-US" dirty="0"/>
              <a:t>- Focus on what should be done rather than what shouldn't</a:t>
            </a:r>
          </a:p>
          <a:p>
            <a:r>
              <a:rPr lang="en-US" dirty="0"/>
              <a:t>- Creates clearer understanding and better results</a:t>
            </a:r>
          </a:p>
          <a:p>
            <a:endParaRPr lang="en-US" dirty="0"/>
          </a:p>
          <a:p>
            <a:r>
              <a:rPr lang="en-US" dirty="0"/>
              <a:t>6. Iterative Development</a:t>
            </a:r>
          </a:p>
          <a:p>
            <a:r>
              <a:rPr lang="en-US" dirty="0"/>
              <a:t>- First attempts may not be perfect</a:t>
            </a:r>
          </a:p>
          <a:p>
            <a:r>
              <a:rPr lang="en-US" dirty="0"/>
              <a:t>- Refine prompts through multiple iterations</a:t>
            </a:r>
          </a:p>
          <a:p>
            <a:r>
              <a:rPr lang="en-US" dirty="0"/>
              <a:t>- Learn from each attempt to improve results</a:t>
            </a:r>
          </a:p>
          <a:p>
            <a:endParaRPr lang="en-US" dirty="0"/>
          </a:p>
          <a:p>
            <a:r>
              <a:rPr lang="en-US" b="1" dirty="0"/>
              <a:t>EDUCATOR NOTES:</a:t>
            </a:r>
          </a:p>
          <a:p>
            <a:endParaRPr lang="en-US" dirty="0"/>
          </a:p>
          <a:p>
            <a:r>
              <a:rPr lang="en-US" dirty="0"/>
              <a:t>”Let’s discuss best practices for prompt engineering. Remember that effective prompting is like having a clear conversation - the more precise you are, the better the results. When crafting your prompts, think of it as giving instructions to someone who wants to help but needs explicit guidance. Start with clear instructions, be specific about what you want to focus on, and don't forget to include any important details or restrictions.</a:t>
            </a:r>
          </a:p>
          <a:p>
            <a:endParaRPr lang="en-US" dirty="0"/>
          </a:p>
          <a:p>
            <a:r>
              <a:rPr lang="en-US" dirty="0"/>
              <a:t>Structure is key - breaking down your prompt into clear sections helps both you and the model. Always aim to frame your instructions positively, as this tends to yield better results. And don't get discouraged if you don't get perfect results immediately - prompt engineering is an iterative process that gets better with practice and refinement.</a:t>
            </a:r>
          </a:p>
          <a:p>
            <a:endParaRPr lang="en-US" dirty="0"/>
          </a:p>
          <a:p>
            <a:r>
              <a:rPr lang="en-US" dirty="0"/>
              <a:t>Remember to pause here for questions and perhaps share some examples of before/after prompts to illustrate these principles in action."</a:t>
            </a:r>
          </a:p>
        </p:txBody>
      </p:sp>
      <p:sp>
        <p:nvSpPr>
          <p:cNvPr id="4" name="Slide Number Placeholder 3"/>
          <p:cNvSpPr>
            <a:spLocks noGrp="1"/>
          </p:cNvSpPr>
          <p:nvPr>
            <p:ph type="sldNum" sz="quarter" idx="5"/>
          </p:nvPr>
        </p:nvSpPr>
        <p:spPr/>
        <p:txBody>
          <a:bodyPr/>
          <a:lstStyle/>
          <a:p>
            <a:fld id="{688EF870-5850-6643-A228-25AFAA8E2BB1}" type="slidenum">
              <a:rPr lang="en-US" smtClean="0"/>
              <a:t>5</a:t>
            </a:fld>
            <a:endParaRPr lang="en-US"/>
          </a:p>
        </p:txBody>
      </p:sp>
    </p:spTree>
    <p:extLst>
      <p:ext uri="{BB962C8B-B14F-4D97-AF65-F5344CB8AC3E}">
        <p14:creationId xmlns:p14="http://schemas.microsoft.com/office/powerpoint/2010/main" val="212635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Evaluating Large Language Models (LLMs) is crucial for: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Quality and Reliability: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Ensures models provide accurate and reliable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Helps identify potential errors or biases in responses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Validates the model's ability to understand and process language correctly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Safety and Ethics: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Verifies that models operate within ethical boundaries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Helps prevent harmful or inappropriate outputs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Ensures responsible AI development and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Performance Measurement: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Assesses the model's capabilities across different tasks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Identifies strengths and weaknesses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Helps track improvements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Business Value: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Determines if the model meets specific business requirements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Helps justify investment in AI technology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Ensures cost-effectiveness of deployment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 User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Confirms the model can effectively assist users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Ensures responses are helpful and relevant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Validates the model's ability to understand context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 Continuous 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Identifies areas needing enhancement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Guides future development efforts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Helps in model refinement and updates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Regular evaluation helps maintain high standards in AI development and ensures LLMs remain useful and reliable tools for their intended purposes.</a:t>
            </a:r>
          </a:p>
        </p:txBody>
      </p:sp>
    </p:spTree>
    <p:extLst>
      <p:ext uri="{BB962C8B-B14F-4D97-AF65-F5344CB8AC3E}">
        <p14:creationId xmlns:p14="http://schemas.microsoft.com/office/powerpoint/2010/main" val="3581051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Question-answering</a:t>
            </a:r>
          </a:p>
          <a:p>
            <a:r>
              <a:rPr lang="en-US" dirty="0"/>
              <a:t>- Ability to comprehend and respond to natural language queries</a:t>
            </a:r>
          </a:p>
          <a:p>
            <a:r>
              <a:rPr lang="en-US" dirty="0"/>
              <a:t>- Provides relevant, contextual information</a:t>
            </a:r>
          </a:p>
          <a:p>
            <a:r>
              <a:rPr lang="en-US" dirty="0"/>
              <a:t>- Handles both simple and complex questions</a:t>
            </a:r>
          </a:p>
          <a:p>
            <a:endParaRPr lang="en-US" dirty="0"/>
          </a:p>
          <a:p>
            <a:r>
              <a:rPr lang="en-US" dirty="0"/>
              <a:t>2. Content Generation</a:t>
            </a:r>
          </a:p>
          <a:p>
            <a:r>
              <a:rPr lang="en-US" dirty="0"/>
              <a:t>- Creates various types of written content</a:t>
            </a:r>
          </a:p>
          <a:p>
            <a:r>
              <a:rPr lang="en-US" dirty="0"/>
              <a:t>- Includes articles, summaries, stories, and reports</a:t>
            </a:r>
          </a:p>
          <a:p>
            <a:r>
              <a:rPr lang="en-US" dirty="0"/>
              <a:t>- Maintains coherence and relevance</a:t>
            </a:r>
          </a:p>
          <a:p>
            <a:endParaRPr lang="en-US" dirty="0"/>
          </a:p>
          <a:p>
            <a:r>
              <a:rPr lang="en-US" dirty="0"/>
              <a:t>3. Logical Reasoning</a:t>
            </a:r>
          </a:p>
          <a:p>
            <a:r>
              <a:rPr lang="en-US" dirty="0"/>
              <a:t>- Processes and analyzes information systematically</a:t>
            </a:r>
          </a:p>
          <a:p>
            <a:r>
              <a:rPr lang="en-US" dirty="0"/>
              <a:t>- Draws logical conclusions</a:t>
            </a:r>
          </a:p>
          <a:p>
            <a:r>
              <a:rPr lang="en-US" dirty="0"/>
              <a:t>- Follows structured thought patterns</a:t>
            </a:r>
          </a:p>
          <a:p>
            <a:endParaRPr lang="en-US" dirty="0"/>
          </a:p>
          <a:p>
            <a:r>
              <a:rPr lang="en-US" dirty="0"/>
              <a:t>4. Arithmetic Reasoning</a:t>
            </a:r>
          </a:p>
          <a:p>
            <a:r>
              <a:rPr lang="en-US" dirty="0"/>
              <a:t>- Solves mathematical problems</a:t>
            </a:r>
          </a:p>
          <a:p>
            <a:r>
              <a:rPr lang="en-US" dirty="0"/>
              <a:t>- Handles numerical calculations</a:t>
            </a:r>
          </a:p>
          <a:p>
            <a:r>
              <a:rPr lang="en-US" dirty="0"/>
              <a:t>- Understands mathematical concepts</a:t>
            </a:r>
          </a:p>
          <a:p>
            <a:endParaRPr lang="en-US" dirty="0"/>
          </a:p>
          <a:p>
            <a:r>
              <a:rPr lang="en-US" dirty="0"/>
              <a:t>5. Common Sense Reasoning</a:t>
            </a:r>
          </a:p>
          <a:p>
            <a:r>
              <a:rPr lang="en-US" dirty="0"/>
              <a:t>- Applies everyday knowledge and understanding</a:t>
            </a:r>
          </a:p>
          <a:p>
            <a:r>
              <a:rPr lang="en-US" dirty="0"/>
              <a:t>- Makes practical judgments</a:t>
            </a:r>
          </a:p>
          <a:p>
            <a:r>
              <a:rPr lang="en-US" dirty="0"/>
              <a:t>- Understands context and implications</a:t>
            </a:r>
          </a:p>
          <a:p>
            <a:endParaRPr lang="en-US" dirty="0"/>
          </a:p>
          <a:p>
            <a:r>
              <a:rPr lang="en-US" dirty="0"/>
              <a:t>6. Code Generation</a:t>
            </a:r>
          </a:p>
          <a:p>
            <a:r>
              <a:rPr lang="en-US" dirty="0"/>
              <a:t>- Writes programming code in various languages</a:t>
            </a:r>
          </a:p>
          <a:p>
            <a:r>
              <a:rPr lang="en-US" dirty="0"/>
              <a:t>- Debugs and explains code</a:t>
            </a:r>
          </a:p>
          <a:p>
            <a:r>
              <a:rPr lang="en-US" dirty="0"/>
              <a:t>- Assists in software development tasks</a:t>
            </a:r>
          </a:p>
          <a:p>
            <a:endParaRPr lang="en-US" dirty="0"/>
          </a:p>
          <a:p>
            <a:r>
              <a:rPr lang="en-US" dirty="0"/>
              <a:t>7. Multi-hop Reasoning</a:t>
            </a:r>
          </a:p>
          <a:p>
            <a:r>
              <a:rPr lang="en-US" dirty="0"/>
              <a:t>- Connects multiple pieces of information</a:t>
            </a:r>
          </a:p>
          <a:p>
            <a:r>
              <a:rPr lang="en-US" dirty="0"/>
              <a:t>- Draws conclusions from multiple sources</a:t>
            </a:r>
          </a:p>
          <a:p>
            <a:r>
              <a:rPr lang="en-US" dirty="0"/>
              <a:t>- Handles complex, multi-step problems</a:t>
            </a:r>
          </a:p>
          <a:p>
            <a:endParaRPr lang="en-US" dirty="0"/>
          </a:p>
          <a:p>
            <a:r>
              <a:rPr lang="en-US" b="1" dirty="0"/>
              <a:t>EDUCATOR NOTES:</a:t>
            </a:r>
          </a:p>
          <a:p>
            <a:endParaRPr lang="en-US" dirty="0"/>
          </a:p>
          <a:p>
            <a:r>
              <a:rPr lang="en-US" dirty="0"/>
              <a:t>”Let’s discuss the expanding capabilities of Large Language Models, or LLMs. What's particularly fascinating is how these models have evolved to handle increasingly complex tasks. From basic question-answering to sophisticated multi-hop reasoning, LLMs are becoming more versatile tools. The abilities listed here aren't just isolated functions – they often work together seamlessly. For example, when an LLM solves a word problem, it might combine arithmetic reasoning with common sense reasoning. It's important to note that this list isn't exhaustive, as new capabilities are being discovered and developed regularly."</a:t>
            </a:r>
          </a:p>
        </p:txBody>
      </p:sp>
      <p:sp>
        <p:nvSpPr>
          <p:cNvPr id="4" name="Slide Number Placeholder 3"/>
          <p:cNvSpPr>
            <a:spLocks noGrp="1"/>
          </p:cNvSpPr>
          <p:nvPr>
            <p:ph type="sldNum" sz="quarter" idx="5"/>
          </p:nvPr>
        </p:nvSpPr>
        <p:spPr/>
        <p:txBody>
          <a:bodyPr/>
          <a:lstStyle/>
          <a:p>
            <a:fld id="{688EF870-5850-6643-A228-25AFAA8E2BB1}" type="slidenum">
              <a:rPr lang="en-US" smtClean="0"/>
              <a:t>7</a:t>
            </a:fld>
            <a:endParaRPr lang="en-US"/>
          </a:p>
        </p:txBody>
      </p:sp>
    </p:spTree>
    <p:extLst>
      <p:ext uri="{BB962C8B-B14F-4D97-AF65-F5344CB8AC3E}">
        <p14:creationId xmlns:p14="http://schemas.microsoft.com/office/powerpoint/2010/main" val="595372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Diverse Training Data</a:t>
            </a:r>
          </a:p>
          <a:p>
            <a:r>
              <a:rPr lang="en-US" dirty="0"/>
              <a:t>- Trained on vast amounts of information</a:t>
            </a:r>
          </a:p>
          <a:p>
            <a:r>
              <a:rPr lang="en-US" dirty="0"/>
              <a:t>- Covers multiple disciplines and fields</a:t>
            </a:r>
          </a:p>
          <a:p>
            <a:r>
              <a:rPr lang="en-US" dirty="0"/>
              <a:t>- Includes both academic and practical knowledge</a:t>
            </a:r>
          </a:p>
          <a:p>
            <a:endParaRPr lang="en-US" dirty="0"/>
          </a:p>
          <a:p>
            <a:r>
              <a:rPr lang="en-US" dirty="0"/>
              <a:t>2. Key Knowledge Domains:</a:t>
            </a:r>
          </a:p>
          <a:p>
            <a:r>
              <a:rPr lang="en-US" dirty="0"/>
              <a:t>Finance</a:t>
            </a:r>
          </a:p>
          <a:p>
            <a:r>
              <a:rPr lang="en-US" dirty="0"/>
              <a:t>- Market analysis</a:t>
            </a:r>
          </a:p>
          <a:p>
            <a:r>
              <a:rPr lang="en-US" dirty="0"/>
              <a:t>- Financial terminology</a:t>
            </a:r>
          </a:p>
          <a:p>
            <a:r>
              <a:rPr lang="en-US" dirty="0"/>
              <a:t>- Investment concepts</a:t>
            </a:r>
          </a:p>
          <a:p>
            <a:endParaRPr lang="en-US" dirty="0"/>
          </a:p>
          <a:p>
            <a:r>
              <a:rPr lang="en-US" dirty="0"/>
              <a:t>Education</a:t>
            </a:r>
          </a:p>
          <a:p>
            <a:r>
              <a:rPr lang="en-US" dirty="0"/>
              <a:t>- Academic subjects</a:t>
            </a:r>
          </a:p>
          <a:p>
            <a:r>
              <a:rPr lang="en-US" dirty="0"/>
              <a:t>- Teaching methodologies</a:t>
            </a:r>
          </a:p>
          <a:p>
            <a:r>
              <a:rPr lang="en-US" dirty="0"/>
              <a:t>- Educational resources</a:t>
            </a:r>
          </a:p>
          <a:p>
            <a:endParaRPr lang="en-US" dirty="0"/>
          </a:p>
          <a:p>
            <a:r>
              <a:rPr lang="en-US" dirty="0"/>
              <a:t>Software Development</a:t>
            </a:r>
          </a:p>
          <a:p>
            <a:r>
              <a:rPr lang="en-US" dirty="0"/>
              <a:t>- Programming languages</a:t>
            </a:r>
          </a:p>
          <a:p>
            <a:r>
              <a:rPr lang="en-US" dirty="0"/>
              <a:t>- Development frameworks</a:t>
            </a:r>
          </a:p>
          <a:p>
            <a:r>
              <a:rPr lang="en-US" dirty="0"/>
              <a:t>- Best practices</a:t>
            </a:r>
          </a:p>
          <a:p>
            <a:endParaRPr lang="en-US" dirty="0"/>
          </a:p>
          <a:p>
            <a:r>
              <a:rPr lang="en-US" dirty="0"/>
              <a:t>Medicine</a:t>
            </a:r>
          </a:p>
          <a:p>
            <a:r>
              <a:rPr lang="en-US" dirty="0"/>
              <a:t>- Medical terminology</a:t>
            </a:r>
          </a:p>
          <a:p>
            <a:r>
              <a:rPr lang="en-US" dirty="0"/>
              <a:t>- Basic health concepts</a:t>
            </a:r>
          </a:p>
          <a:p>
            <a:r>
              <a:rPr lang="en-US" dirty="0"/>
              <a:t>- Healthcare information</a:t>
            </a:r>
          </a:p>
          <a:p>
            <a:endParaRPr lang="en-US" dirty="0"/>
          </a:p>
          <a:p>
            <a:r>
              <a:rPr lang="en-US" dirty="0"/>
              <a:t>3. Important Considerations:</a:t>
            </a:r>
          </a:p>
          <a:p>
            <a:r>
              <a:rPr lang="en-US" dirty="0"/>
              <a:t>- Knowledge can be superficial</a:t>
            </a:r>
          </a:p>
          <a:p>
            <a:r>
              <a:rPr lang="en-US" dirty="0"/>
              <a:t>- May lack deep expertise in specific areas</a:t>
            </a:r>
          </a:p>
          <a:p>
            <a:r>
              <a:rPr lang="en-US" dirty="0"/>
              <a:t>- Requires verification for specialized applications</a:t>
            </a:r>
          </a:p>
          <a:p>
            <a:endParaRPr lang="en-US" dirty="0"/>
          </a:p>
          <a:p>
            <a:r>
              <a:rPr lang="en-US" dirty="0"/>
              <a:t>4. Business Alignment Challenges:</a:t>
            </a:r>
          </a:p>
          <a:p>
            <a:r>
              <a:rPr lang="en-US" dirty="0"/>
              <a:t>- Need to validate against company policies</a:t>
            </a:r>
          </a:p>
          <a:p>
            <a:r>
              <a:rPr lang="en-US" dirty="0"/>
              <a:t>- Ensure compliance with industry regulations</a:t>
            </a:r>
          </a:p>
          <a:p>
            <a:r>
              <a:rPr lang="en-US" dirty="0"/>
              <a:t>- Verify consistency with brand values</a:t>
            </a:r>
          </a:p>
          <a:p>
            <a:r>
              <a:rPr lang="en-US" dirty="0"/>
              <a:t>- May require domain-specific fine-tuning</a:t>
            </a:r>
          </a:p>
          <a:p>
            <a:endParaRPr lang="en-US" dirty="0"/>
          </a:p>
          <a:p>
            <a:r>
              <a:rPr lang="en-US" b="1" dirty="0"/>
              <a:t>EDUCATOR NOTES:</a:t>
            </a:r>
          </a:p>
          <a:p>
            <a:endParaRPr lang="en-US" dirty="0"/>
          </a:p>
          <a:p>
            <a:r>
              <a:rPr lang="en-US" dirty="0"/>
              <a:t>"In this slide, we're examining the knowledge capabilities of Large Language Models. While LLMs demonstrate impressive breadth across various domains - from finance to medicine - it's crucial to understand that this knowledge can sometimes be surface-level. When implementing LLMs in an enterprise setting, we must carefully evaluate whether their performance truly aligns with our organization's specific needs, data requirements, and compliance standards. The key question isn't just about what they know, but how well that knowledge serves our particular use case and maintains our brand integrity. Think of it as having a generalist who knows a little about everything versus a specialist who deeply understands your specific industry needs."</a:t>
            </a:r>
          </a:p>
        </p:txBody>
      </p:sp>
      <p:sp>
        <p:nvSpPr>
          <p:cNvPr id="4" name="Slide Number Placeholder 3"/>
          <p:cNvSpPr>
            <a:spLocks noGrp="1"/>
          </p:cNvSpPr>
          <p:nvPr>
            <p:ph type="sldNum" sz="quarter" idx="5"/>
          </p:nvPr>
        </p:nvSpPr>
        <p:spPr/>
        <p:txBody>
          <a:bodyPr/>
          <a:lstStyle/>
          <a:p>
            <a:fld id="{688EF870-5850-6643-A228-25AFAA8E2BB1}" type="slidenum">
              <a:rPr lang="en-US" smtClean="0"/>
              <a:t>8</a:t>
            </a:fld>
            <a:endParaRPr lang="en-US"/>
          </a:p>
        </p:txBody>
      </p:sp>
    </p:spTree>
    <p:extLst>
      <p:ext uri="{BB962C8B-B14F-4D97-AF65-F5344CB8AC3E}">
        <p14:creationId xmlns:p14="http://schemas.microsoft.com/office/powerpoint/2010/main" val="523645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Societal Impact</a:t>
            </a:r>
          </a:p>
          <a:p>
            <a:r>
              <a:rPr lang="en-US" dirty="0"/>
              <a:t>- Growing influence on daily life and decision-making</a:t>
            </a:r>
          </a:p>
          <a:p>
            <a:r>
              <a:rPr lang="en-US" dirty="0"/>
              <a:t>- Impact on information consumption patterns</a:t>
            </a:r>
          </a:p>
          <a:p>
            <a:r>
              <a:rPr lang="en-US" dirty="0"/>
              <a:t>- Effects on work, education, and communication</a:t>
            </a:r>
          </a:p>
          <a:p>
            <a:endParaRPr lang="en-US" dirty="0"/>
          </a:p>
          <a:p>
            <a:r>
              <a:rPr lang="en-US" dirty="0"/>
              <a:t>2. Information Interaction</a:t>
            </a:r>
          </a:p>
          <a:p>
            <a:r>
              <a:rPr lang="en-US" dirty="0"/>
              <a:t>- New ways of accessing and processing information</a:t>
            </a:r>
          </a:p>
          <a:p>
            <a:r>
              <a:rPr lang="en-US" dirty="0"/>
              <a:t>- Changes in how people search for and consume content</a:t>
            </a:r>
          </a:p>
          <a:p>
            <a:r>
              <a:rPr lang="en-US" dirty="0"/>
              <a:t>- Impact on information literacy and verification</a:t>
            </a:r>
          </a:p>
          <a:p>
            <a:endParaRPr lang="en-US" dirty="0"/>
          </a:p>
          <a:p>
            <a:r>
              <a:rPr lang="en-US" dirty="0"/>
              <a:t>3. Safety Considerations</a:t>
            </a:r>
          </a:p>
          <a:p>
            <a:r>
              <a:rPr lang="en-US" dirty="0"/>
              <a:t>- Protection against harmful outputs</a:t>
            </a:r>
          </a:p>
          <a:p>
            <a:r>
              <a:rPr lang="en-US" dirty="0"/>
              <a:t>- Prevention of misuse</a:t>
            </a:r>
          </a:p>
          <a:p>
            <a:r>
              <a:rPr lang="en-US" dirty="0"/>
              <a:t>- User protection mechanisms</a:t>
            </a:r>
          </a:p>
          <a:p>
            <a:r>
              <a:rPr lang="en-US" dirty="0"/>
              <a:t>- Content filtering and moderation</a:t>
            </a:r>
          </a:p>
          <a:p>
            <a:endParaRPr lang="en-US" dirty="0"/>
          </a:p>
          <a:p>
            <a:r>
              <a:rPr lang="en-US" dirty="0"/>
              <a:t>4. Security Concerns</a:t>
            </a:r>
          </a:p>
          <a:p>
            <a:r>
              <a:rPr lang="en-US" dirty="0"/>
              <a:t>- Data privacy and protection</a:t>
            </a:r>
          </a:p>
          <a:p>
            <a:r>
              <a:rPr lang="en-US" dirty="0"/>
              <a:t>- Prevention of unauthorized access</a:t>
            </a:r>
          </a:p>
          <a:p>
            <a:r>
              <a:rPr lang="en-US" dirty="0"/>
              <a:t>- Protection against malicious use</a:t>
            </a:r>
          </a:p>
          <a:p>
            <a:r>
              <a:rPr lang="en-US" dirty="0"/>
              <a:t>- System integrity maintenance</a:t>
            </a:r>
          </a:p>
          <a:p>
            <a:endParaRPr lang="en-US" dirty="0"/>
          </a:p>
          <a:p>
            <a:r>
              <a:rPr lang="en-US" dirty="0"/>
              <a:t>5. Ethical Implications</a:t>
            </a:r>
          </a:p>
          <a:p>
            <a:r>
              <a:rPr lang="en-US" dirty="0"/>
              <a:t>- Fairness and bias considerations</a:t>
            </a:r>
          </a:p>
          <a:p>
            <a:r>
              <a:rPr lang="en-US" dirty="0"/>
              <a:t>- Transparency in decision-making</a:t>
            </a:r>
          </a:p>
          <a:p>
            <a:r>
              <a:rPr lang="en-US" dirty="0"/>
              <a:t>- Accountability measures</a:t>
            </a:r>
          </a:p>
          <a:p>
            <a:r>
              <a:rPr lang="en-US" dirty="0"/>
              <a:t>- Impact on human autonomy</a:t>
            </a:r>
          </a:p>
          <a:p>
            <a:endParaRPr lang="en-US" dirty="0"/>
          </a:p>
          <a:p>
            <a:r>
              <a:rPr lang="en-US" dirty="0"/>
              <a:t>6. Responsible AI Development</a:t>
            </a:r>
          </a:p>
          <a:p>
            <a:r>
              <a:rPr lang="en-US" dirty="0"/>
              <a:t>- Emphasis on ethical guidelines</a:t>
            </a:r>
          </a:p>
          <a:p>
            <a:r>
              <a:rPr lang="en-US" dirty="0"/>
              <a:t>- Implementation of safety measures</a:t>
            </a:r>
          </a:p>
          <a:p>
            <a:r>
              <a:rPr lang="en-US" dirty="0"/>
              <a:t>- Regular monitoring and evaluation</a:t>
            </a:r>
          </a:p>
          <a:p>
            <a:r>
              <a:rPr lang="en-US" dirty="0"/>
              <a:t>- Alignment with societal values</a:t>
            </a:r>
          </a:p>
          <a:p>
            <a:endParaRPr lang="en-US" dirty="0"/>
          </a:p>
          <a:p>
            <a:r>
              <a:rPr lang="en-US" b="1" dirty="0"/>
              <a:t>EDUCATOR NOTES:</a:t>
            </a:r>
          </a:p>
          <a:p>
            <a:endParaRPr lang="en-US" dirty="0"/>
          </a:p>
          <a:p>
            <a:r>
              <a:rPr lang="en-US" dirty="0"/>
              <a:t>”Let’s discuss the increasing visibility and influence of Large Language Models in our society. As these AI systems become more integrated into our daily lives, we must carefully consider their impact across multiple dimensions.</a:t>
            </a:r>
          </a:p>
          <a:p>
            <a:r>
              <a:rPr lang="en-US" dirty="0"/>
              <a:t>Key points to emphasize:</a:t>
            </a:r>
          </a:p>
          <a:p>
            <a:pPr marL="171450" indent="-171450">
              <a:buFont typeface="Arial" panose="020B0604020202020204" pitchFamily="34" charset="0"/>
              <a:buChar char="•"/>
            </a:pPr>
            <a:r>
              <a:rPr lang="en-US" dirty="0"/>
              <a:t>The rapid adoption of LLMs is transforming how we interact with information</a:t>
            </a:r>
          </a:p>
          <a:p>
            <a:pPr marL="171450" indent="-171450">
              <a:buFont typeface="Arial" panose="020B0604020202020204" pitchFamily="34" charset="0"/>
              <a:buChar char="•"/>
            </a:pPr>
            <a:r>
              <a:rPr lang="en-US" dirty="0"/>
              <a:t>Safety and security must be prioritized as these systems become more prevalent</a:t>
            </a:r>
          </a:p>
          <a:p>
            <a:pPr marL="171450" indent="-171450">
              <a:buFont typeface="Arial" panose="020B0604020202020204" pitchFamily="34" charset="0"/>
              <a:buChar char="•"/>
            </a:pPr>
            <a:r>
              <a:rPr lang="en-US" dirty="0"/>
              <a:t>Ethical considerations should guide development and implementation</a:t>
            </a:r>
          </a:p>
          <a:p>
            <a:r>
              <a:rPr lang="en-US" dirty="0"/>
              <a:t>Responsible AI development is not optional—it's fundamental to the sustainable growth of this technology</a:t>
            </a:r>
          </a:p>
          <a:p>
            <a:r>
              <a:rPr lang="en-US" dirty="0"/>
              <a:t>Remember to encourage audience discussion about the balance between innovation and responsible development. This helps engage participants and brings out practical perspectives on implementing these principles."</a:t>
            </a:r>
          </a:p>
        </p:txBody>
      </p:sp>
      <p:sp>
        <p:nvSpPr>
          <p:cNvPr id="4" name="Slide Number Placeholder 3"/>
          <p:cNvSpPr>
            <a:spLocks noGrp="1"/>
          </p:cNvSpPr>
          <p:nvPr>
            <p:ph type="sldNum" sz="quarter" idx="5"/>
          </p:nvPr>
        </p:nvSpPr>
        <p:spPr/>
        <p:txBody>
          <a:bodyPr/>
          <a:lstStyle/>
          <a:p>
            <a:fld id="{688EF870-5850-6643-A228-25AFAA8E2BB1}" type="slidenum">
              <a:rPr lang="en-US" smtClean="0"/>
              <a:t>9</a:t>
            </a:fld>
            <a:endParaRPr lang="en-US"/>
          </a:p>
        </p:txBody>
      </p:sp>
    </p:spTree>
    <p:extLst>
      <p:ext uri="{BB962C8B-B14F-4D97-AF65-F5344CB8AC3E}">
        <p14:creationId xmlns:p14="http://schemas.microsoft.com/office/powerpoint/2010/main" val="2161098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Agentic Applications</a:t>
            </a:r>
          </a:p>
          <a:p>
            <a:r>
              <a:rPr lang="en-US" dirty="0"/>
              <a:t>- Definition of LLM agents as autonomous actors</a:t>
            </a:r>
          </a:p>
          <a:p>
            <a:r>
              <a:rPr lang="en-US" dirty="0"/>
              <a:t>- Capability to perform concrete actions</a:t>
            </a:r>
          </a:p>
          <a:p>
            <a:r>
              <a:rPr lang="en-US" dirty="0"/>
              <a:t>- Evolution from passive response to active execution</a:t>
            </a:r>
          </a:p>
          <a:p>
            <a:endParaRPr lang="en-US" dirty="0"/>
          </a:p>
          <a:p>
            <a:r>
              <a:rPr lang="en-US" dirty="0"/>
              <a:t>2. Technical Capabilities: Write and Execute Code</a:t>
            </a:r>
          </a:p>
          <a:p>
            <a:r>
              <a:rPr lang="en-US" dirty="0"/>
              <a:t>- Code generation abilities</a:t>
            </a:r>
          </a:p>
          <a:p>
            <a:r>
              <a:rPr lang="en-US" dirty="0"/>
              <a:t>- Testing and debugging features</a:t>
            </a:r>
          </a:p>
          <a:p>
            <a:r>
              <a:rPr lang="en-US" dirty="0"/>
              <a:t>- Implementation capabilities</a:t>
            </a:r>
          </a:p>
          <a:p>
            <a:endParaRPr lang="en-US" dirty="0"/>
          </a:p>
          <a:p>
            <a:r>
              <a:rPr lang="en-US" dirty="0"/>
              <a:t>3. Database Interaction</a:t>
            </a:r>
          </a:p>
          <a:p>
            <a:r>
              <a:rPr lang="en-US" dirty="0"/>
              <a:t>- Natural language to SQL conversion</a:t>
            </a:r>
          </a:p>
          <a:p>
            <a:r>
              <a:rPr lang="en-US" dirty="0"/>
              <a:t>- Query generation and optimization</a:t>
            </a:r>
          </a:p>
          <a:p>
            <a:r>
              <a:rPr lang="en-US" dirty="0"/>
              <a:t>- Database access and management</a:t>
            </a:r>
          </a:p>
          <a:p>
            <a:endParaRPr lang="en-US" dirty="0"/>
          </a:p>
          <a:p>
            <a:r>
              <a:rPr lang="en-US" dirty="0"/>
              <a:t>4. API Integration</a:t>
            </a:r>
          </a:p>
          <a:p>
            <a:r>
              <a:rPr lang="en-US" dirty="0"/>
              <a:t>- Ability to make API calls</a:t>
            </a:r>
          </a:p>
          <a:p>
            <a:r>
              <a:rPr lang="en-US" dirty="0"/>
              <a:t>- Integration with external services</a:t>
            </a:r>
          </a:p>
          <a:p>
            <a:r>
              <a:rPr lang="en-US" dirty="0"/>
              <a:t>- Automated interactions with systems</a:t>
            </a:r>
          </a:p>
          <a:p>
            <a:endParaRPr lang="en-US" dirty="0"/>
          </a:p>
          <a:p>
            <a:r>
              <a:rPr lang="en-US" dirty="0"/>
              <a:t>5. Physical Control Systems</a:t>
            </a:r>
          </a:p>
          <a:p>
            <a:r>
              <a:rPr lang="en-US" dirty="0"/>
              <a:t>- Robotic control capabilities</a:t>
            </a:r>
          </a:p>
          <a:p>
            <a:r>
              <a:rPr lang="en-US" dirty="0"/>
              <a:t>- Machine operation</a:t>
            </a:r>
          </a:p>
          <a:p>
            <a:r>
              <a:rPr lang="en-US" dirty="0"/>
              <a:t>- Automation possibilities</a:t>
            </a:r>
          </a:p>
          <a:p>
            <a:endParaRPr lang="en-US" dirty="0"/>
          </a:p>
          <a:p>
            <a:r>
              <a:rPr lang="en-US" dirty="0"/>
              <a:t>6. System Access and Control</a:t>
            </a:r>
          </a:p>
          <a:p>
            <a:r>
              <a:rPr lang="en-US" dirty="0"/>
              <a:t>- Operating system interaction</a:t>
            </a:r>
          </a:p>
          <a:p>
            <a:r>
              <a:rPr lang="en-US" dirty="0"/>
              <a:t>- System management capabilities</a:t>
            </a:r>
          </a:p>
          <a:p>
            <a:r>
              <a:rPr lang="en-US" dirty="0"/>
              <a:t>- Resource control and monitoring</a:t>
            </a:r>
          </a:p>
          <a:p>
            <a:endParaRPr lang="en-US" dirty="0"/>
          </a:p>
          <a:p>
            <a:r>
              <a:rPr lang="en-US" dirty="0"/>
              <a:t>7. Security Emphasis</a:t>
            </a:r>
          </a:p>
          <a:p>
            <a:r>
              <a:rPr lang="en-US" dirty="0"/>
              <a:t>- Critical importance of security policies</a:t>
            </a:r>
          </a:p>
          <a:p>
            <a:r>
              <a:rPr lang="en-US" dirty="0"/>
              <a:t>- Access control implementation</a:t>
            </a:r>
          </a:p>
          <a:p>
            <a:r>
              <a:rPr lang="en-US" dirty="0"/>
              <a:t>- Risk management protocols</a:t>
            </a:r>
          </a:p>
          <a:p>
            <a:endParaRPr lang="en-US" dirty="0"/>
          </a:p>
          <a:p>
            <a:r>
              <a:rPr lang="en-US" dirty="0"/>
              <a:t>8. Agent-based OS Potential</a:t>
            </a:r>
          </a:p>
          <a:p>
            <a:r>
              <a:rPr lang="en-US" dirty="0"/>
              <a:t>- Future of operating systems</a:t>
            </a:r>
          </a:p>
          <a:p>
            <a:r>
              <a:rPr lang="en-US" dirty="0"/>
              <a:t>- Integration of AI agents</a:t>
            </a:r>
          </a:p>
          <a:p>
            <a:r>
              <a:rPr lang="en-US" dirty="0"/>
              <a:t>- System automation possibilities</a:t>
            </a:r>
          </a:p>
          <a:p>
            <a:endParaRPr lang="en-US" dirty="0"/>
          </a:p>
          <a:p>
            <a:r>
              <a:rPr lang="en-US" b="1" dirty="0"/>
              <a:t>EDUCATOR NOTES:</a:t>
            </a:r>
          </a:p>
          <a:p>
            <a:endParaRPr lang="en-US" dirty="0"/>
          </a:p>
          <a:p>
            <a:r>
              <a:rPr lang="en-US" dirty="0"/>
              <a:t>”Let’s explore how LLMs are evolving beyond simple content generation into actionable, agentic applications. This represents a significant shift in how we utilize AI technology.</a:t>
            </a:r>
          </a:p>
          <a:p>
            <a:r>
              <a:rPr lang="en-US" dirty="0"/>
              <a:t>Key points to emphasize:</a:t>
            </a:r>
          </a:p>
          <a:p>
            <a:pPr marL="171450" indent="-171450">
              <a:buFont typeface="Arial" panose="020B0604020202020204" pitchFamily="34" charset="0"/>
              <a:buChar char="•"/>
            </a:pPr>
            <a:r>
              <a:rPr lang="en-US" dirty="0"/>
              <a:t>The transition from passive text generation to active system interaction</a:t>
            </a:r>
          </a:p>
          <a:p>
            <a:pPr marL="171450" indent="-171450">
              <a:buFont typeface="Arial" panose="020B0604020202020204" pitchFamily="34" charset="0"/>
              <a:buChar char="•"/>
            </a:pPr>
            <a:r>
              <a:rPr lang="en-US" dirty="0"/>
              <a:t>The importance of maintaining security protocols while implementing these capabilities</a:t>
            </a:r>
          </a:p>
          <a:p>
            <a:pPr marL="171450" indent="-171450">
              <a:buFont typeface="Arial" panose="020B0604020202020204" pitchFamily="34" charset="0"/>
              <a:buChar char="•"/>
            </a:pPr>
            <a:r>
              <a:rPr lang="en-US" dirty="0"/>
              <a:t>The various practical applications, from code execution to robotic control</a:t>
            </a:r>
          </a:p>
          <a:p>
            <a:pPr marL="171450" indent="-171450">
              <a:buFont typeface="Arial" panose="020B0604020202020204" pitchFamily="34" charset="0"/>
              <a:buChar char="•"/>
            </a:pPr>
            <a:r>
              <a:rPr lang="en-US" dirty="0"/>
              <a:t>The future potential of agent-based operating systems</a:t>
            </a:r>
          </a:p>
          <a:p>
            <a:endParaRPr lang="en-US" dirty="0"/>
          </a:p>
          <a:p>
            <a:r>
              <a:rPr lang="en-US" dirty="0"/>
              <a:t>Remember to stress that while these capabilities are powerful, they must be implemented with appropriate security measures. This is not just about what these systems can do, but how they can do it safely and reliably.</a:t>
            </a:r>
          </a:p>
          <a:p>
            <a:r>
              <a:rPr lang="en-US" dirty="0"/>
              <a:t>Consider including practical examples of successful implementations and potential use cases that resonate with your audience's industry or interests."</a:t>
            </a:r>
          </a:p>
        </p:txBody>
      </p:sp>
      <p:sp>
        <p:nvSpPr>
          <p:cNvPr id="4" name="Slide Number Placeholder 3"/>
          <p:cNvSpPr>
            <a:spLocks noGrp="1"/>
          </p:cNvSpPr>
          <p:nvPr>
            <p:ph type="sldNum" sz="quarter" idx="5"/>
          </p:nvPr>
        </p:nvSpPr>
        <p:spPr/>
        <p:txBody>
          <a:bodyPr/>
          <a:lstStyle/>
          <a:p>
            <a:fld id="{688EF870-5850-6643-A228-25AFAA8E2BB1}" type="slidenum">
              <a:rPr lang="en-US" smtClean="0"/>
              <a:t>10</a:t>
            </a:fld>
            <a:endParaRPr lang="en-US"/>
          </a:p>
        </p:txBody>
      </p:sp>
    </p:spTree>
    <p:extLst>
      <p:ext uri="{BB962C8B-B14F-4D97-AF65-F5344CB8AC3E}">
        <p14:creationId xmlns:p14="http://schemas.microsoft.com/office/powerpoint/2010/main" val="1367561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The slide titled "5. Experts for other systems" discusses how LLMs can act as evaluators for other systems, specifically:</a:t>
            </a:r>
          </a:p>
          <a:p>
            <a:pPr marL="171450" indent="-171450">
              <a:buFont typeface="Arial" panose="020B0604020202020204" pitchFamily="34" charset="0"/>
              <a:buChar char="•"/>
            </a:pPr>
            <a:r>
              <a:rPr lang="en-US" dirty="0"/>
              <a:t>They can serve as evaluators for other systems</a:t>
            </a:r>
          </a:p>
          <a:p>
            <a:pPr marL="171450" indent="-171450">
              <a:buFont typeface="Arial" panose="020B0604020202020204" pitchFamily="34" charset="0"/>
              <a:buChar char="•"/>
            </a:pPr>
            <a:r>
              <a:rPr lang="en-US" dirty="0"/>
              <a:t>They can be used to annotate and label data</a:t>
            </a:r>
          </a:p>
          <a:p>
            <a:pPr marL="171450" indent="-171450">
              <a:buFont typeface="Arial" panose="020B0604020202020204" pitchFamily="34" charset="0"/>
              <a:buChar char="•"/>
            </a:pPr>
            <a:r>
              <a:rPr lang="en-US" dirty="0"/>
              <a:t>They can be used to evaluate other LLMs</a:t>
            </a:r>
          </a:p>
          <a:p>
            <a:r>
              <a:rPr lang="en-US" dirty="0"/>
              <a:t>This reflects how LLMs can be leveraged as expert evaluators to assess, analyze, and provide feedback on the performance of other AI systems and models, rather than them being the ones being evaluated. This is an important capability where LLMs can serve as automated evaluation tools in AI development and testing processes.</a:t>
            </a:r>
            <a:endParaRPr lang="en-US" b="1" dirty="0"/>
          </a:p>
          <a:p>
            <a:endParaRPr lang="en-US" b="1" dirty="0"/>
          </a:p>
          <a:p>
            <a:r>
              <a:rPr lang="en-US" b="1" dirty="0"/>
              <a:t>EDUCATOR NOTES:</a:t>
            </a:r>
          </a:p>
          <a:p>
            <a:endParaRPr lang="en-US" b="1" dirty="0"/>
          </a:p>
          <a:p>
            <a:r>
              <a:rPr lang="en-US" dirty="0"/>
              <a:t>“Let’s discuss how evaluator systems play a crucial role in developing and improving AI systems.</a:t>
            </a:r>
          </a:p>
          <a:p>
            <a:r>
              <a:rPr lang="en-US" dirty="0"/>
              <a:t>Evaluators are specialized systems designed to assess and validate the performance of other AI systems. They serve two main functions:</a:t>
            </a:r>
          </a:p>
          <a:p>
            <a:endParaRPr lang="en-US" dirty="0"/>
          </a:p>
          <a:p>
            <a:r>
              <a:rPr lang="en-US" dirty="0"/>
              <a:t>Data Annotation and Labeling:</a:t>
            </a:r>
          </a:p>
          <a:p>
            <a:pPr marL="171450" indent="-171450">
              <a:buFont typeface="Arial" panose="020B0604020202020204" pitchFamily="34" charset="0"/>
              <a:buChar char="•"/>
            </a:pPr>
            <a:r>
              <a:rPr lang="en-US" dirty="0"/>
              <a:t>These systems help in creating high-quality training datasets</a:t>
            </a:r>
          </a:p>
          <a:p>
            <a:pPr marL="171450" indent="-171450">
              <a:buFont typeface="Arial" panose="020B0604020202020204" pitchFamily="34" charset="0"/>
              <a:buChar char="•"/>
            </a:pPr>
            <a:r>
              <a:rPr lang="en-US" dirty="0"/>
              <a:t>They assist in categorizing and labeling data systematically</a:t>
            </a:r>
          </a:p>
          <a:p>
            <a:pPr marL="171450" indent="-171450">
              <a:buFont typeface="Arial" panose="020B0604020202020204" pitchFamily="34" charset="0"/>
              <a:buChar char="•"/>
            </a:pPr>
            <a:r>
              <a:rPr lang="en-US" dirty="0"/>
              <a:t>This creates the foundation for training more accurate AI models</a:t>
            </a:r>
          </a:p>
          <a:p>
            <a:r>
              <a:rPr lang="en-US" dirty="0"/>
              <a:t>LLM Evaluation:</a:t>
            </a:r>
          </a:p>
          <a:p>
            <a:endParaRPr lang="en-US" dirty="0"/>
          </a:p>
          <a:p>
            <a:r>
              <a:rPr lang="en-US" dirty="0"/>
              <a:t>Evaluators assess the performance and capabilities of other Large Language Models</a:t>
            </a:r>
          </a:p>
          <a:p>
            <a:pPr marL="171450" indent="-171450">
              <a:buFont typeface="Arial" panose="020B0604020202020204" pitchFamily="34" charset="0"/>
              <a:buChar char="•"/>
            </a:pPr>
            <a:r>
              <a:rPr lang="en-US" dirty="0"/>
              <a:t>They help benchmark different models against each other</a:t>
            </a:r>
          </a:p>
          <a:p>
            <a:pPr marL="171450" indent="-171450">
              <a:buFont typeface="Arial" panose="020B0604020202020204" pitchFamily="34" charset="0"/>
              <a:buChar char="•"/>
            </a:pPr>
            <a:r>
              <a:rPr lang="en-US" dirty="0"/>
              <a:t>They can identify areas for improvement in model responses</a:t>
            </a:r>
          </a:p>
          <a:p>
            <a:pPr marL="171450" indent="-171450">
              <a:buFont typeface="Arial" panose="020B0604020202020204" pitchFamily="34" charset="0"/>
              <a:buChar char="•"/>
            </a:pPr>
            <a:r>
              <a:rPr lang="en-US" dirty="0"/>
              <a:t>They ensure quality and reliability in AI outputs</a:t>
            </a:r>
          </a:p>
          <a:p>
            <a:endParaRPr lang="en-US" dirty="0"/>
          </a:p>
          <a:p>
            <a:r>
              <a:rPr lang="en-US" dirty="0"/>
              <a:t>This evaluation layer is crucial for maintaining quality standards and ensuring continuous improvement in AI systems."</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11</a:t>
            </a:fld>
            <a:endParaRPr lang="en-US"/>
          </a:p>
        </p:txBody>
      </p:sp>
    </p:spTree>
    <p:extLst>
      <p:ext uri="{BB962C8B-B14F-4D97-AF65-F5344CB8AC3E}">
        <p14:creationId xmlns:p14="http://schemas.microsoft.com/office/powerpoint/2010/main" val="30772932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651-8DF3-79C5-7F64-39067053A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36E1B-D5E9-F3C7-476B-A31E85C2E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ADBCF8-B6F8-4EFF-DB8A-1192B5D675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72409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Subjective Nature of Language Evaluation</a:t>
            </a:r>
          </a:p>
          <a:p>
            <a:r>
              <a:rPr lang="en-US" dirty="0"/>
              <a:t>- Language evaluation inherently involves subjective judgments</a:t>
            </a:r>
          </a:p>
          <a:p>
            <a:r>
              <a:rPr lang="en-US" dirty="0"/>
              <a:t>- Different evaluators may interpret outputs differently</a:t>
            </a:r>
          </a:p>
          <a:p>
            <a:r>
              <a:rPr lang="en-US" dirty="0"/>
              <a:t>- Hard to establish absolute benchmarks for quality</a:t>
            </a:r>
          </a:p>
          <a:p>
            <a:endParaRPr lang="en-US" dirty="0"/>
          </a:p>
          <a:p>
            <a:r>
              <a:rPr lang="en-US" dirty="0"/>
              <a:t>2. Versatility of LLMs</a:t>
            </a:r>
          </a:p>
          <a:p>
            <a:r>
              <a:rPr lang="en-US" dirty="0"/>
              <a:t>- LLMs can perform many different types of tasks</a:t>
            </a:r>
          </a:p>
          <a:p>
            <a:r>
              <a:rPr lang="en-US" dirty="0"/>
              <a:t>- Wide range of applications makes comprehensive testing challenging</a:t>
            </a:r>
          </a:p>
          <a:p>
            <a:r>
              <a:rPr lang="en-US" dirty="0"/>
              <a:t>- Need to evaluate across multiple use cases and scenarios</a:t>
            </a:r>
          </a:p>
          <a:p>
            <a:endParaRPr lang="en-US" dirty="0"/>
          </a:p>
          <a:p>
            <a:r>
              <a:rPr lang="en-US" dirty="0"/>
              <a:t>3. Comprehensive Evaluation Challenges</a:t>
            </a:r>
          </a:p>
          <a:p>
            <a:r>
              <a:rPr lang="en-US" dirty="0"/>
              <a:t>- Difficult to test all possible functionalities</a:t>
            </a:r>
          </a:p>
          <a:p>
            <a:r>
              <a:rPr lang="en-US" dirty="0"/>
              <a:t>- Need to assess both general and specific capabilities</a:t>
            </a:r>
          </a:p>
          <a:p>
            <a:r>
              <a:rPr lang="en-US" dirty="0"/>
              <a:t>- Multiple dimensions of performance to consider</a:t>
            </a:r>
          </a:p>
          <a:p>
            <a:endParaRPr lang="en-US" dirty="0"/>
          </a:p>
          <a:p>
            <a:r>
              <a:rPr lang="en-US" dirty="0"/>
              <a:t>4. Lack of Universal Framework</a:t>
            </a:r>
          </a:p>
          <a:p>
            <a:r>
              <a:rPr lang="en-US" dirty="0"/>
              <a:t>- No standardized evaluation protocol exists</a:t>
            </a:r>
          </a:p>
          <a:p>
            <a:r>
              <a:rPr lang="en-US" dirty="0"/>
              <a:t>- Different evaluation methods for different applications</a:t>
            </a:r>
          </a:p>
          <a:p>
            <a:r>
              <a:rPr lang="en-US" dirty="0"/>
              <a:t>- Need for context-specific evaluation approaches</a:t>
            </a:r>
          </a:p>
          <a:p>
            <a:endParaRPr lang="en-US" dirty="0"/>
          </a:p>
          <a:p>
            <a:r>
              <a:rPr lang="en-US" dirty="0"/>
              <a:t>5. Data Quality Requirements</a:t>
            </a:r>
          </a:p>
          <a:p>
            <a:r>
              <a:rPr lang="en-US" dirty="0"/>
              <a:t>- High-quality data essential for meaningful evaluation</a:t>
            </a:r>
          </a:p>
          <a:p>
            <a:r>
              <a:rPr lang="en-US" dirty="0"/>
              <a:t>- Need diverse and representative test cases</a:t>
            </a:r>
          </a:p>
          <a:p>
            <a:r>
              <a:rPr lang="en-US" dirty="0"/>
              <a:t>- Data must cover various use cases and edge cases</a:t>
            </a:r>
          </a:p>
          <a:p>
            <a:endParaRPr lang="en-US" dirty="0"/>
          </a:p>
          <a:p>
            <a:r>
              <a:rPr lang="en-US" dirty="0"/>
              <a:t>6. Computational Constraints</a:t>
            </a:r>
          </a:p>
          <a:p>
            <a:r>
              <a:rPr lang="en-US" dirty="0"/>
              <a:t>- Evaluating large models requires significant computing resources</a:t>
            </a:r>
          </a:p>
          <a:p>
            <a:r>
              <a:rPr lang="en-US" dirty="0"/>
              <a:t>- Time-consuming process to run comprehensive tests</a:t>
            </a:r>
          </a:p>
          <a:p>
            <a:r>
              <a:rPr lang="en-US" dirty="0"/>
              <a:t>- Cost considerations in thorough evaluation</a:t>
            </a:r>
          </a:p>
          <a:p>
            <a:endParaRPr lang="en-US" dirty="0"/>
          </a:p>
          <a:p>
            <a:r>
              <a:rPr lang="en-US" b="1" dirty="0"/>
              <a:t>EDUCATOR NOTES:</a:t>
            </a:r>
          </a:p>
          <a:p>
            <a:endParaRPr lang="en-US" dirty="0"/>
          </a:p>
          <a:p>
            <a:r>
              <a:rPr lang="en-US" dirty="0"/>
              <a:t>First, language evaluation itself is inherently subjective - what one person considers a good response might not satisfy another. This makes it difficult to establish consistent evaluation criteria.</a:t>
            </a:r>
          </a:p>
          <a:p>
            <a:r>
              <a:rPr lang="en-US" dirty="0"/>
              <a:t>LLMs are incredibly versatile tools that can perform many different tasks - from writing and analysis to coding and creative work. This versatility makes it challenging to create comprehensive evaluation methods that work across all use cases.</a:t>
            </a:r>
          </a:p>
          <a:p>
            <a:r>
              <a:rPr lang="en-US" dirty="0"/>
              <a:t>Currently, there's no single, universal framework that we can use to evaluate all aspects of LLM performance. Different organizations and researchers use various approaches, making standardization difficult.</a:t>
            </a:r>
          </a:p>
          <a:p>
            <a:r>
              <a:rPr lang="en-US" dirty="0"/>
              <a:t>Quality data is crucial for proper evaluation. We need diverse, high-quality datasets that can effectively test different capabilities of these models.</a:t>
            </a:r>
          </a:p>
          <a:p>
            <a:r>
              <a:rPr lang="en-US" dirty="0"/>
              <a:t>Finally, these models are computationally intensive to evaluate thoroughly. Running comprehensive tests requires significant computing resources and time, which can be costly and impractical for many organizations.</a:t>
            </a:r>
          </a:p>
          <a:p>
            <a:r>
              <a:rPr lang="en-US" dirty="0"/>
              <a:t>All these factors combined make it particularly challenging to conduct thorough, reliable evaluations of LLM performance and capabilities."</a:t>
            </a:r>
          </a:p>
          <a:p>
            <a:r>
              <a:rPr lang="en-US" dirty="0"/>
              <a:t>These notes expand on each bullet point while maintaining a clear, presentational flow that a speaker could naturally deliver.</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13</a:t>
            </a:fld>
            <a:endParaRPr lang="en-US"/>
          </a:p>
        </p:txBody>
      </p:sp>
    </p:spTree>
    <p:extLst>
      <p:ext uri="{BB962C8B-B14F-4D97-AF65-F5344CB8AC3E}">
        <p14:creationId xmlns:p14="http://schemas.microsoft.com/office/powerpoint/2010/main" val="3961614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b="1" dirty="0"/>
          </a:p>
          <a:p>
            <a:r>
              <a:rPr lang="en-US" dirty="0"/>
              <a:t>1. Mathematical Limitations</a:t>
            </a:r>
          </a:p>
          <a:p>
            <a:r>
              <a:rPr lang="en-US" dirty="0"/>
              <a:t>- LLMs struggle with complex arithmetic operations</a:t>
            </a:r>
          </a:p>
          <a:p>
            <a:r>
              <a:rPr lang="en-US" dirty="0"/>
              <a:t>- Have difficulty with advanced analytical reasoning tasks</a:t>
            </a:r>
          </a:p>
          <a:p>
            <a:r>
              <a:rPr lang="en-US" dirty="0"/>
              <a:t>- May provide incorrect calculations or inconsistent mathematical logic</a:t>
            </a:r>
          </a:p>
          <a:p>
            <a:endParaRPr lang="en-US" dirty="0"/>
          </a:p>
          <a:p>
            <a:r>
              <a:rPr lang="en-US" dirty="0"/>
              <a:t>2. Knowledge Reliability</a:t>
            </a:r>
          </a:p>
          <a:p>
            <a:r>
              <a:rPr lang="en-US" dirty="0"/>
              <a:t>- Cannot always serve as a dependable source for specialized topics</a:t>
            </a:r>
          </a:p>
          <a:p>
            <a:r>
              <a:rPr lang="en-US" dirty="0"/>
              <a:t>- Information may be outdated or incomplete</a:t>
            </a:r>
          </a:p>
          <a:p>
            <a:r>
              <a:rPr lang="en-US" dirty="0"/>
              <a:t>- Requires verification from authoritative your source documents. Bias Issues</a:t>
            </a:r>
          </a:p>
          <a:p>
            <a:r>
              <a:rPr lang="en-US" dirty="0"/>
              <a:t>- May reflect training data biases</a:t>
            </a:r>
          </a:p>
          <a:p>
            <a:r>
              <a:rPr lang="en-US" dirty="0"/>
              <a:t>- Limited ability to recognize and correct inherent biases</a:t>
            </a:r>
          </a:p>
          <a:p>
            <a:r>
              <a:rPr lang="en-US" dirty="0"/>
              <a:t>- Can perpetuate existing prejudices or misconceptions</a:t>
            </a:r>
          </a:p>
          <a:p>
            <a:endParaRPr lang="en-US" dirty="0"/>
          </a:p>
          <a:p>
            <a:r>
              <a:rPr lang="en-US" dirty="0"/>
              <a:t>4. Content Accuracy</a:t>
            </a:r>
          </a:p>
          <a:p>
            <a:r>
              <a:rPr lang="en-US" dirty="0"/>
              <a:t>- Risk of generating false or inaccurate information</a:t>
            </a:r>
          </a:p>
          <a:p>
            <a:r>
              <a:rPr lang="en-US" dirty="0"/>
              <a:t>- Potential for misleading responses</a:t>
            </a:r>
          </a:p>
          <a:p>
            <a:r>
              <a:rPr lang="en-US" dirty="0"/>
              <a:t>- May produce manipulative content without intent</a:t>
            </a:r>
          </a:p>
          <a:p>
            <a:endParaRPr lang="en-US" dirty="0"/>
          </a:p>
          <a:p>
            <a:r>
              <a:rPr lang="en-US" dirty="0"/>
              <a:t>5. Hallucinations</a:t>
            </a:r>
          </a:p>
          <a:p>
            <a:r>
              <a:rPr lang="en-US" dirty="0"/>
              <a:t>- Can generate fictional or non-existent information</a:t>
            </a:r>
          </a:p>
          <a:p>
            <a:r>
              <a:rPr lang="en-US" dirty="0"/>
              <a:t>- May confidently present incorrect facts</a:t>
            </a:r>
          </a:p>
          <a:p>
            <a:r>
              <a:rPr lang="en-US" dirty="0"/>
              <a:t>- Tendency to fill in gaps with fabricated details</a:t>
            </a:r>
          </a:p>
          <a:p>
            <a:endParaRPr lang="en-US" dirty="0"/>
          </a:p>
          <a:p>
            <a:r>
              <a:rPr lang="en-US" dirty="0"/>
              <a:t>6. Structured Data Handling</a:t>
            </a:r>
          </a:p>
          <a:p>
            <a:r>
              <a:rPr lang="en-US" dirty="0"/>
              <a:t>- Limited capability in processing complex databases</a:t>
            </a:r>
          </a:p>
          <a:p>
            <a:r>
              <a:rPr lang="en-US" dirty="0"/>
              <a:t>- May struggle with large spreadsheet analysis</a:t>
            </a:r>
          </a:p>
          <a:p>
            <a:r>
              <a:rPr lang="en-US" dirty="0"/>
              <a:t>- Difficulty in maintaining data integrity across formats</a:t>
            </a:r>
          </a:p>
          <a:p>
            <a:endParaRPr lang="en-US" dirty="0"/>
          </a:p>
          <a:p>
            <a:r>
              <a:rPr lang="en-US" dirty="0"/>
              <a:t>7. Compliance Challenges</a:t>
            </a:r>
          </a:p>
          <a:p>
            <a:r>
              <a:rPr lang="en-US" dirty="0"/>
              <a:t>- Cannot guarantee full compliance with all rules</a:t>
            </a:r>
          </a:p>
          <a:p>
            <a:r>
              <a:rPr lang="en-US" dirty="0"/>
              <a:t>- May miss important regulatory requirements</a:t>
            </a:r>
          </a:p>
          <a:p>
            <a:r>
              <a:rPr lang="en-US" dirty="0"/>
              <a:t>- Needs human oversight for protocol adherence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EDUCATOR NOTES:</a:t>
            </a:r>
          </a:p>
          <a:p>
            <a:endParaRPr lang="en-US" dirty="0"/>
          </a:p>
          <a:p>
            <a:r>
              <a:rPr lang="en-US" dirty="0"/>
              <a:t>”Let’s explore the key limitations of Large Language Models. While these AI systems have revolutionary capabilities, it's crucial to understand their shortcomings. They particularly struggle with complex mathematics, reliable knowledge provision, and bias management. A significant concern is their tendency towards hallucinations - generating plausible but false information. They also face challenges with structured data analysis and maintaining perfect compliance with protocols. Understanding these limitations is essential for responsible AI implementation and setting realistic expectations for LLM applications. Remember, these systems are tools to augment human capabilities, not replace human judgment."</a:t>
            </a:r>
          </a:p>
        </p:txBody>
      </p:sp>
      <p:sp>
        <p:nvSpPr>
          <p:cNvPr id="4" name="Slide Number Placeholder 3"/>
          <p:cNvSpPr>
            <a:spLocks noGrp="1"/>
          </p:cNvSpPr>
          <p:nvPr>
            <p:ph type="sldNum" sz="quarter" idx="5"/>
          </p:nvPr>
        </p:nvSpPr>
        <p:spPr/>
        <p:txBody>
          <a:bodyPr/>
          <a:lstStyle/>
          <a:p>
            <a:fld id="{688EF870-5850-6643-A228-25AFAA8E2BB1}" type="slidenum">
              <a:rPr lang="en-US" smtClean="0"/>
              <a:t>14</a:t>
            </a:fld>
            <a:endParaRPr lang="en-US"/>
          </a:p>
        </p:txBody>
      </p:sp>
    </p:spTree>
    <p:extLst>
      <p:ext uri="{BB962C8B-B14F-4D97-AF65-F5344CB8AC3E}">
        <p14:creationId xmlns:p14="http://schemas.microsoft.com/office/powerpoint/2010/main" val="1719023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Evaluation Spectrum: Objective to Subjective</a:t>
            </a:r>
          </a:p>
          <a:p>
            <a:r>
              <a:rPr lang="en-US" dirty="0"/>
              <a:t>- The slide shows a gradient from objective (left/purple) to subjective (right/pink) evaluation methods</a:t>
            </a:r>
          </a:p>
          <a:p>
            <a:r>
              <a:rPr lang="en-US" dirty="0"/>
              <a:t>- Demonstrates the range of approaches available for assessing LLM performance</a:t>
            </a:r>
          </a:p>
          <a:p>
            <a:endParaRPr lang="en-US" dirty="0"/>
          </a:p>
          <a:p>
            <a:r>
              <a:rPr lang="en-US" dirty="0"/>
              <a:t>2. Objective Metrics:</a:t>
            </a:r>
          </a:p>
          <a:p>
            <a:r>
              <a:rPr lang="en-US" dirty="0"/>
              <a:t>- Accuracy: Measures correctness of model outputs</a:t>
            </a:r>
          </a:p>
          <a:p>
            <a:r>
              <a:rPr lang="en-US" dirty="0"/>
              <a:t>- Precision: Evaluates exactness of results</a:t>
            </a:r>
          </a:p>
          <a:p>
            <a:r>
              <a:rPr lang="en-US" dirty="0"/>
              <a:t>- BLEU: Scoring method for machine translation</a:t>
            </a:r>
          </a:p>
          <a:p>
            <a:r>
              <a:rPr lang="en-US" dirty="0"/>
              <a:t>- Perplexity: Measures how well model predicts sample</a:t>
            </a:r>
          </a:p>
          <a:p>
            <a:endParaRPr lang="en-US" dirty="0"/>
          </a:p>
          <a:p>
            <a:r>
              <a:rPr lang="en-US" dirty="0"/>
              <a:t>3. Evaluation Methods (Middle Ground):</a:t>
            </a:r>
          </a:p>
          <a:p>
            <a:r>
              <a:rPr lang="en-US" dirty="0"/>
              <a:t>- Evaluation Datasets (Benchmarking): Standardized datasets to compare models</a:t>
            </a:r>
          </a:p>
          <a:p>
            <a:r>
              <a:rPr lang="en-US" dirty="0"/>
              <a:t>- LLM Evaluators: Using other language models to evaluate outputs</a:t>
            </a:r>
          </a:p>
          <a:p>
            <a:endParaRPr lang="en-US" dirty="0"/>
          </a:p>
          <a:p>
            <a:r>
              <a:rPr lang="en-US" dirty="0"/>
              <a:t>4. Subjective Methods:</a:t>
            </a:r>
          </a:p>
          <a:p>
            <a:r>
              <a:rPr lang="en-US" dirty="0"/>
              <a:t>- Feedback-based (A/B Testing): Comparing different versions through user feedback</a:t>
            </a:r>
          </a:p>
          <a:p>
            <a:r>
              <a:rPr lang="en-US" dirty="0"/>
              <a:t>- Manual Human Evaluation: Direct assessment by human reviewers</a:t>
            </a:r>
          </a:p>
          <a:p>
            <a:endParaRPr lang="en-US" dirty="0"/>
          </a:p>
          <a:p>
            <a:r>
              <a:rPr lang="en-US" b="1" dirty="0"/>
              <a:t>EDUCATOR NOTES:</a:t>
            </a:r>
          </a:p>
          <a:p>
            <a:endParaRPr lang="en-US" dirty="0"/>
          </a:p>
          <a:p>
            <a:r>
              <a:rPr lang="en-US" dirty="0"/>
              <a:t>”Let’s look at the spectrum of LLM evaluation methods. On the left, we have our objective metrics - these are quantifiable measures like accuracy and BLEU scores that give us concrete numbers to work with. Moving towards the center, we use evaluation datasets and LLM evaluators as more structured assessment tools. On the right side, we have our subjective methods, including A/B testing and manual human evaluation, which provide valuable qualitative insights but are more resource-intensive and less scalable. The key is finding the right balance of these methods for your specific use case.</a:t>
            </a:r>
          </a:p>
          <a:p>
            <a:endParaRPr lang="en-US" dirty="0"/>
          </a:p>
          <a:p>
            <a:r>
              <a:rPr lang="en-US" dirty="0"/>
              <a:t>Remember that while objective metrics are easier to implement and compare, they don't always capture the nuanced aspects of language understanding and generation that subjective evaluations can reveal. A comprehensive evaluation strategy typically involves multiple methods across this spectrum."</a:t>
            </a:r>
          </a:p>
        </p:txBody>
      </p:sp>
      <p:sp>
        <p:nvSpPr>
          <p:cNvPr id="4" name="Slide Number Placeholder 3"/>
          <p:cNvSpPr>
            <a:spLocks noGrp="1"/>
          </p:cNvSpPr>
          <p:nvPr>
            <p:ph type="sldNum" sz="quarter" idx="5"/>
          </p:nvPr>
        </p:nvSpPr>
        <p:spPr/>
        <p:txBody>
          <a:bodyPr/>
          <a:lstStyle/>
          <a:p>
            <a:fld id="{688EF870-5850-6643-A228-25AFAA8E2BB1}" type="slidenum">
              <a:rPr lang="en-US" smtClean="0"/>
              <a:t>15</a:t>
            </a:fld>
            <a:endParaRPr lang="en-US"/>
          </a:p>
        </p:txBody>
      </p:sp>
    </p:spTree>
    <p:extLst>
      <p:ext uri="{BB962C8B-B14F-4D97-AF65-F5344CB8AC3E}">
        <p14:creationId xmlns:p14="http://schemas.microsoft.com/office/powerpoint/2010/main" val="3013771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Metric-based Evaluation Overview:</a:t>
            </a:r>
          </a:p>
          <a:p>
            <a:r>
              <a:rPr lang="en-US" dirty="0"/>
              <a:t>- Forms part of the objective end of the evaluation spectrum</a:t>
            </a:r>
          </a:p>
          <a:p>
            <a:r>
              <a:rPr lang="en-US" dirty="0"/>
              <a:t>- Uses quantifiable measurements for LLM performance assessment</a:t>
            </a:r>
          </a:p>
          <a:p>
            <a:r>
              <a:rPr lang="en-US" dirty="0"/>
              <a:t>- Has inherent limitations with complex traits</a:t>
            </a:r>
          </a:p>
          <a:p>
            <a:endParaRPr lang="en-US" dirty="0"/>
          </a:p>
          <a:p>
            <a:r>
              <a:rPr lang="en-US" dirty="0"/>
              <a:t>2. Key Metrics Explained:</a:t>
            </a:r>
          </a:p>
          <a:p>
            <a:r>
              <a:rPr lang="en-US" dirty="0"/>
              <a:t>- Accuracy: Measures the ratio of correct predictions to total predictions</a:t>
            </a:r>
          </a:p>
          <a:p>
            <a:r>
              <a:rPr lang="en-US" dirty="0"/>
              <a:t>- Perplexity: Evaluates how well the model predicts the next text sequence</a:t>
            </a:r>
          </a:p>
          <a:p>
            <a:r>
              <a:rPr lang="en-US" dirty="0"/>
              <a:t>- BLEU (Bilingual Evaluation Understudy): Focuses on precision in text comparison</a:t>
            </a:r>
          </a:p>
          <a:p>
            <a:r>
              <a:rPr lang="en-US" dirty="0"/>
              <a:t>- ROUGE (Recall-Oriented Understudy for </a:t>
            </a:r>
            <a:r>
              <a:rPr lang="en-US" dirty="0" err="1"/>
              <a:t>Gisting</a:t>
            </a:r>
            <a:r>
              <a:rPr lang="en-US" dirty="0"/>
              <a:t> Evaluation): Emphasizes recall in text evaluation</a:t>
            </a:r>
          </a:p>
          <a:p>
            <a:endParaRPr lang="en-US" dirty="0"/>
          </a:p>
          <a:p>
            <a:endParaRPr lang="en-US" dirty="0"/>
          </a:p>
          <a:p>
            <a:r>
              <a:rPr lang="en-US" b="1" dirty="0"/>
              <a:t>EDUCATOR NOTES:</a:t>
            </a:r>
          </a:p>
          <a:p>
            <a:endParaRPr lang="en-US" b="1" dirty="0"/>
          </a:p>
          <a:p>
            <a:r>
              <a:rPr lang="en-US" dirty="0"/>
              <a:t>"In this discussion of LLM evaluation methods, we're focusing on metric-based evaluation, which represents the most objective end of our evaluation spectrum. While these metrics give us concrete numbers to work with - like accuracy percentages and BLEU scores - it's crucial to understand their limitations. For instance, while we can easily measure how often a model makes correct predictions, it's much harder to quantitatively assess its reasoning capabilities.</a:t>
            </a:r>
          </a:p>
          <a:p>
            <a:endParaRPr lang="en-US" dirty="0"/>
          </a:p>
          <a:p>
            <a:r>
              <a:rPr lang="en-US" dirty="0"/>
              <a:t>The metrics we've covered - Accuracy, Perplexity, BLEU, and ROUGE - each serve specific purposes. Accuracy gives us straightforward correctness measures, Perplexity helps us understand prediction capabilities, while BLEU and ROUGE offer different perspectives on text comparison and evaluation. However, remember that these metrics are just one part of a comprehensive evaluation strategy. For a complete assessment, we need to combine these objective metrics with more subjective methods like human evaluation and A/B testing.</a:t>
            </a:r>
          </a:p>
          <a:p>
            <a:endParaRPr lang="en-US" dirty="0"/>
          </a:p>
          <a:p>
            <a:r>
              <a:rPr lang="en-US" dirty="0"/>
              <a:t>The key takeaway is that while metric-based evaluation is essential for quantifiable comparisons, it shouldn't be your only evaluation tool. A balanced approach using multiple methods across the objective-subjective spectrum will give you the most comprehensive understanding of your LLM's performance."</a:t>
            </a:r>
          </a:p>
        </p:txBody>
      </p:sp>
      <p:sp>
        <p:nvSpPr>
          <p:cNvPr id="4" name="Slide Number Placeholder 3"/>
          <p:cNvSpPr>
            <a:spLocks noGrp="1"/>
          </p:cNvSpPr>
          <p:nvPr>
            <p:ph type="sldNum" sz="quarter" idx="5"/>
          </p:nvPr>
        </p:nvSpPr>
        <p:spPr/>
        <p:txBody>
          <a:bodyPr/>
          <a:lstStyle/>
          <a:p>
            <a:fld id="{688EF870-5850-6643-A228-25AFAA8E2BB1}" type="slidenum">
              <a:rPr lang="en-US" smtClean="0"/>
              <a:t>16</a:t>
            </a:fld>
            <a:endParaRPr lang="en-US"/>
          </a:p>
        </p:txBody>
      </p:sp>
    </p:spTree>
    <p:extLst>
      <p:ext uri="{BB962C8B-B14F-4D97-AF65-F5344CB8AC3E}">
        <p14:creationId xmlns:p14="http://schemas.microsoft.com/office/powerpoint/2010/main" val="1358856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Evaluation Datasets Overview</a:t>
            </a:r>
          </a:p>
          <a:p>
            <a:r>
              <a:rPr lang="en-US" dirty="0"/>
              <a:t>- Primary focus on utilizing high-quality benchmarking datasets for testing</a:t>
            </a:r>
          </a:p>
          <a:p>
            <a:r>
              <a:rPr lang="en-US" dirty="0"/>
              <a:t>- Emphasis on comprehensive evaluation through complex traits assessment</a:t>
            </a:r>
          </a:p>
          <a:p>
            <a:endParaRPr lang="en-US" dirty="0"/>
          </a:p>
          <a:p>
            <a:r>
              <a:rPr lang="en-US" dirty="0"/>
              <a:t>2. Key Testing Areas</a:t>
            </a:r>
          </a:p>
          <a:p>
            <a:r>
              <a:rPr lang="en-US" dirty="0"/>
              <a:t>a) Core Reasoning Abilities</a:t>
            </a:r>
          </a:p>
          <a:p>
            <a:r>
              <a:rPr lang="en-US" dirty="0"/>
              <a:t>   - Common sense reasoning capabilities</a:t>
            </a:r>
          </a:p>
          <a:p>
            <a:r>
              <a:rPr lang="en-US" dirty="0"/>
              <a:t>   - Arithmetic reasoning skills</a:t>
            </a:r>
          </a:p>
          <a:p>
            <a:r>
              <a:rPr lang="en-US" dirty="0"/>
              <a:t>   - General knowledge assessment</a:t>
            </a:r>
          </a:p>
          <a:p>
            <a:endParaRPr lang="en-US" dirty="0"/>
          </a:p>
          <a:p>
            <a:r>
              <a:rPr lang="en-US" dirty="0"/>
              <a:t>b) Technical Competencies</a:t>
            </a:r>
          </a:p>
          <a:p>
            <a:r>
              <a:rPr lang="en-US" dirty="0"/>
              <a:t>   - Software development evaluation</a:t>
            </a:r>
          </a:p>
          <a:p>
            <a:r>
              <a:rPr lang="en-US" dirty="0"/>
              <a:t>   - Implementation of objective metrics</a:t>
            </a:r>
          </a:p>
          <a:p>
            <a:endParaRPr lang="en-US" dirty="0"/>
          </a:p>
          <a:p>
            <a:r>
              <a:rPr lang="en-US" dirty="0"/>
              <a:t>c) Safety &amp; Ethics Evaluation</a:t>
            </a:r>
          </a:p>
          <a:p>
            <a:r>
              <a:rPr lang="en-US" dirty="0"/>
              <a:t>   - Bias detection and measurement</a:t>
            </a:r>
          </a:p>
          <a:p>
            <a:r>
              <a:rPr lang="en-US" dirty="0"/>
              <a:t>   - Toxicity assessment</a:t>
            </a:r>
          </a:p>
          <a:p>
            <a:endParaRPr lang="en-US" dirty="0"/>
          </a:p>
          <a:p>
            <a:r>
              <a:rPr lang="en-US" dirty="0"/>
              <a:t>3. Methodology Highlights</a:t>
            </a:r>
          </a:p>
          <a:p>
            <a:r>
              <a:rPr lang="en-US" dirty="0"/>
              <a:t>- Leverages objective metrics for accurate measurement</a:t>
            </a:r>
          </a:p>
          <a:p>
            <a:r>
              <a:rPr lang="en-US" dirty="0"/>
              <a:t>- Uses standardized benchmarking approaches</a:t>
            </a:r>
          </a:p>
          <a:p>
            <a:r>
              <a:rPr lang="en-US" dirty="0"/>
              <a:t>- Focuses on comprehensive trait evaluation</a:t>
            </a:r>
          </a:p>
          <a:p>
            <a:endParaRPr lang="en-US" dirty="0"/>
          </a:p>
          <a:p>
            <a:r>
              <a:rPr lang="en-US" b="1" dirty="0"/>
              <a:t>EDUCATOR NOTES:</a:t>
            </a:r>
          </a:p>
          <a:p>
            <a:endParaRPr lang="en-US" dirty="0"/>
          </a:p>
          <a:p>
            <a:r>
              <a:rPr lang="en-US" dirty="0"/>
              <a:t>”Let’s explore how we utilize high-quality benchmarking datasets to evaluate various aspects of our systems. Our evaluation framework covers both fundamental capabilities like common sense and arithmetic reasoning, as well as complex traits such as software development skills. We pay special attention to critical areas like bias and toxicity to ensure responsible AI development. Through objective metrics, we can measure and validate performance across all these dimensions systematically. This comprehensive approach helps us maintain high standards and identify areas for improvement."</a:t>
            </a:r>
          </a:p>
        </p:txBody>
      </p:sp>
      <p:sp>
        <p:nvSpPr>
          <p:cNvPr id="4" name="Slide Number Placeholder 3"/>
          <p:cNvSpPr>
            <a:spLocks noGrp="1"/>
          </p:cNvSpPr>
          <p:nvPr>
            <p:ph type="sldNum" sz="quarter" idx="5"/>
          </p:nvPr>
        </p:nvSpPr>
        <p:spPr/>
        <p:txBody>
          <a:bodyPr/>
          <a:lstStyle/>
          <a:p>
            <a:fld id="{688EF870-5850-6643-A228-25AFAA8E2BB1}" type="slidenum">
              <a:rPr lang="en-US" smtClean="0"/>
              <a:t>17</a:t>
            </a:fld>
            <a:endParaRPr lang="en-US"/>
          </a:p>
        </p:txBody>
      </p:sp>
    </p:spTree>
    <p:extLst>
      <p:ext uri="{BB962C8B-B14F-4D97-AF65-F5344CB8AC3E}">
        <p14:creationId xmlns:p14="http://schemas.microsoft.com/office/powerpoint/2010/main" val="828780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MMLU (Massive Multitask Language Understanding)</a:t>
            </a:r>
          </a:p>
          <a:p>
            <a:r>
              <a:rPr lang="en-US" dirty="0"/>
              <a:t>- Primary purpose: Evaluates general knowledge breadth</a:t>
            </a:r>
          </a:p>
          <a:p>
            <a:r>
              <a:rPr lang="en-US" dirty="0"/>
              <a:t>- Covers 57 distinct subject areas</a:t>
            </a:r>
          </a:p>
          <a:p>
            <a:r>
              <a:rPr lang="en-US" dirty="0"/>
              <a:t>- Range spans from STEM fields to social sciences</a:t>
            </a:r>
          </a:p>
          <a:p>
            <a:r>
              <a:rPr lang="en-US" dirty="0"/>
              <a:t>- Comprehensive assessment of knowledge across disciplines</a:t>
            </a:r>
          </a:p>
          <a:p>
            <a:endParaRPr lang="en-US" dirty="0"/>
          </a:p>
          <a:p>
            <a:r>
              <a:rPr lang="en-US" dirty="0"/>
              <a:t>2. </a:t>
            </a:r>
            <a:r>
              <a:rPr lang="en-US" dirty="0" err="1"/>
              <a:t>HellaSwag</a:t>
            </a:r>
            <a:endParaRPr lang="en-US" dirty="0"/>
          </a:p>
          <a:p>
            <a:r>
              <a:rPr lang="en-US" dirty="0"/>
              <a:t>- Focus: Natural language inference testing</a:t>
            </a:r>
          </a:p>
          <a:p>
            <a:r>
              <a:rPr lang="en-US" dirty="0"/>
              <a:t>- Evaluates understanding of intricate details</a:t>
            </a:r>
          </a:p>
          <a:p>
            <a:r>
              <a:rPr lang="en-US" dirty="0"/>
              <a:t>- Tests ability to comprehend and process complex language patterns</a:t>
            </a:r>
          </a:p>
          <a:p>
            <a:endParaRPr lang="en-US" dirty="0"/>
          </a:p>
          <a:p>
            <a:r>
              <a:rPr lang="en-US" dirty="0"/>
              <a:t>3. GSM8K</a:t>
            </a:r>
          </a:p>
          <a:p>
            <a:r>
              <a:rPr lang="en-US" dirty="0"/>
              <a:t>- Type: Mathematical evaluation dataset</a:t>
            </a:r>
          </a:p>
          <a:p>
            <a:r>
              <a:rPr lang="en-US" dirty="0"/>
              <a:t>- Target level: Grade-school mathematics (8.5K problems)</a:t>
            </a:r>
          </a:p>
          <a:p>
            <a:r>
              <a:rPr lang="en-US" dirty="0"/>
              <a:t>- Tests: Basic to intermediate mathematical operations</a:t>
            </a:r>
          </a:p>
          <a:p>
            <a:r>
              <a:rPr lang="en-US" dirty="0"/>
              <a:t>- Assesses computational and problem-solving abilities</a:t>
            </a:r>
          </a:p>
          <a:p>
            <a:endParaRPr lang="en-US" dirty="0"/>
          </a:p>
          <a:p>
            <a:r>
              <a:rPr lang="en-US" dirty="0"/>
              <a:t>4. </a:t>
            </a:r>
            <a:r>
              <a:rPr lang="en-US" dirty="0" err="1"/>
              <a:t>AGIEval</a:t>
            </a:r>
            <a:endParaRPr lang="en-US" dirty="0"/>
          </a:p>
          <a:p>
            <a:r>
              <a:rPr lang="en-US" dirty="0"/>
              <a:t>- Comprehensive standardized testing framework</a:t>
            </a:r>
          </a:p>
          <a:p>
            <a:r>
              <a:rPr lang="en-US" dirty="0"/>
              <a:t>- Includes multiple exam types:</a:t>
            </a:r>
          </a:p>
          <a:p>
            <a:r>
              <a:rPr lang="en-US" dirty="0"/>
              <a:t>  * GRE</a:t>
            </a:r>
          </a:p>
          <a:p>
            <a:r>
              <a:rPr lang="en-US" dirty="0"/>
              <a:t>  * GMAT</a:t>
            </a:r>
          </a:p>
          <a:p>
            <a:r>
              <a:rPr lang="en-US" dirty="0"/>
              <a:t>  * SAT</a:t>
            </a:r>
          </a:p>
          <a:p>
            <a:r>
              <a:rPr lang="en-US" dirty="0"/>
              <a:t>  * LSAT</a:t>
            </a:r>
          </a:p>
          <a:p>
            <a:r>
              <a:rPr lang="en-US" dirty="0"/>
              <a:t>  * Civil service exams</a:t>
            </a:r>
          </a:p>
          <a:p>
            <a:r>
              <a:rPr lang="en-US" dirty="0"/>
              <a:t>- Broad spectrum of academic and professional assessment</a:t>
            </a:r>
          </a:p>
          <a:p>
            <a:endParaRPr lang="en-US" dirty="0"/>
          </a:p>
          <a:p>
            <a:r>
              <a:rPr lang="en-US" dirty="0"/>
              <a:t>5. RAI (Responsible AI)</a:t>
            </a:r>
          </a:p>
          <a:p>
            <a:r>
              <a:rPr lang="en-US" dirty="0"/>
              <a:t>- Purpose: Safety evaluation framework</a:t>
            </a:r>
          </a:p>
          <a:p>
            <a:r>
              <a:rPr lang="en-US" dirty="0"/>
              <a:t>- Specific focus: Chat-optimized models</a:t>
            </a:r>
          </a:p>
          <a:p>
            <a:r>
              <a:rPr lang="en-US" dirty="0"/>
              <a:t>- Application: Conversational settings</a:t>
            </a:r>
          </a:p>
          <a:p>
            <a:r>
              <a:rPr lang="en-US" dirty="0"/>
              <a:t>- Emphasis on responsible AI deployment</a:t>
            </a:r>
          </a:p>
          <a:p>
            <a:endParaRPr lang="en-US" dirty="0"/>
          </a:p>
          <a:p>
            <a:r>
              <a:rPr lang="en-US" b="1" dirty="0"/>
              <a:t>EDUCATOR NOTES:</a:t>
            </a:r>
          </a:p>
          <a:p>
            <a:endParaRPr lang="en-US" b="1" dirty="0"/>
          </a:p>
          <a:p>
            <a:r>
              <a:rPr lang="en-US" dirty="0"/>
              <a:t>”Let’s discuss now various evaluation datasets used in AI testing and assessment. These datasets represent different aspects of AI capability testing, from broad knowledge to specific skills. The MMLU gives us a comprehensive view of general knowledge, while </a:t>
            </a:r>
            <a:r>
              <a:rPr lang="en-US" dirty="0" err="1"/>
              <a:t>HellaSwag</a:t>
            </a:r>
            <a:r>
              <a:rPr lang="en-US" dirty="0"/>
              <a:t> tests natural language understanding at a deeper level. GSM8K focuses specifically on mathematical capability, and </a:t>
            </a:r>
            <a:r>
              <a:rPr lang="en-US" dirty="0" err="1"/>
              <a:t>AGIEval</a:t>
            </a:r>
            <a:r>
              <a:rPr lang="en-US" dirty="0"/>
              <a:t> provides a standardized testing approach. Finally, RAI addresses the crucial aspect of responsible AI deployment. Each dataset serves a unique purpose in ensuring robust AI system evaluation. Remember to emphasize the importance of using multiple evaluation methods for comprehensive assessment of AI systems."</a:t>
            </a:r>
          </a:p>
        </p:txBody>
      </p:sp>
      <p:sp>
        <p:nvSpPr>
          <p:cNvPr id="4" name="Slide Number Placeholder 3"/>
          <p:cNvSpPr>
            <a:spLocks noGrp="1"/>
          </p:cNvSpPr>
          <p:nvPr>
            <p:ph type="sldNum" sz="quarter" idx="5"/>
          </p:nvPr>
        </p:nvSpPr>
        <p:spPr/>
        <p:txBody>
          <a:bodyPr/>
          <a:lstStyle/>
          <a:p>
            <a:fld id="{688EF870-5850-6643-A228-25AFAA8E2BB1}" type="slidenum">
              <a:rPr lang="en-US" smtClean="0"/>
              <a:t>18</a:t>
            </a:fld>
            <a:endParaRPr lang="en-US"/>
          </a:p>
        </p:txBody>
      </p:sp>
    </p:spTree>
    <p:extLst>
      <p:ext uri="{BB962C8B-B14F-4D97-AF65-F5344CB8AC3E}">
        <p14:creationId xmlns:p14="http://schemas.microsoft.com/office/powerpoint/2010/main" val="3471772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In this example, the model tries to inference the right answer. The correctness of the answers can be considered the labels to evaluate the model capacity for inferencing the right answers.</a:t>
            </a:r>
          </a:p>
          <a:p>
            <a:endParaRPr lang="en-US" dirty="0"/>
          </a:p>
          <a:p>
            <a:r>
              <a:rPr lang="en-US" dirty="0"/>
              <a:t>For this example, the correct answer is D</a:t>
            </a:r>
          </a:p>
          <a:p>
            <a:r>
              <a:rPr lang="en-US" dirty="0"/>
              <a:t>"If the intersection has a white strip in your lane, stop before crossing this line. Wait until all traffic has cleared before crossing the intersection"</a:t>
            </a:r>
          </a:p>
          <a:p>
            <a:endParaRPr lang="en-US" dirty="0"/>
          </a:p>
          <a:p>
            <a:r>
              <a:rPr lang="en-US" dirty="0"/>
              <a:t>Why other options are incorrect:</a:t>
            </a:r>
          </a:p>
          <a:p>
            <a:r>
              <a:rPr lang="en-US" dirty="0"/>
              <a:t>- Option A: Incorrect about yellow light timing</a:t>
            </a:r>
          </a:p>
          <a:p>
            <a:r>
              <a:rPr lang="en-US" dirty="0"/>
              <a:t>- Option B: Irrelevant information about turn signals and sidewalks</a:t>
            </a:r>
          </a:p>
          <a:p>
            <a:r>
              <a:rPr lang="en-US" dirty="0"/>
              <a:t>- Option C: Incomplete/incorrect guidance about traffic flow</a:t>
            </a:r>
          </a:p>
          <a:p>
            <a:endParaRPr lang="en-US" dirty="0"/>
          </a:p>
          <a:p>
            <a:r>
              <a:rPr lang="en-US" b="1" dirty="0"/>
              <a:t>EDUCATOR NOTES:</a:t>
            </a:r>
          </a:p>
          <a:p>
            <a:endParaRPr lang="en-US" dirty="0"/>
          </a:p>
          <a:p>
            <a:r>
              <a:rPr lang="en-US" dirty="0"/>
              <a:t>"This slide demonstrates the use of the </a:t>
            </a:r>
            <a:r>
              <a:rPr lang="en-US" dirty="0" err="1"/>
              <a:t>HellaSwag</a:t>
            </a:r>
            <a:r>
              <a:rPr lang="en-US" dirty="0"/>
              <a:t> dataset, which is a powerful tool for evaluating AI language models' common sense reasoning abilities. Let me break down why this example is particularly interesting:</a:t>
            </a:r>
          </a:p>
          <a:p>
            <a:endParaRPr lang="en-US" dirty="0"/>
          </a:p>
          <a:p>
            <a:r>
              <a:rPr lang="en-US" dirty="0"/>
              <a:t>1. Format Demonstration</a:t>
            </a:r>
          </a:p>
          <a:p>
            <a:r>
              <a:rPr lang="en-US" dirty="0"/>
              <a:t>- Notice how the question presents a scenario about traffic rules</a:t>
            </a:r>
          </a:p>
          <a:p>
            <a:r>
              <a:rPr lang="en-US" dirty="0"/>
              <a:t>- Followed by four possible continuations/completions</a:t>
            </a:r>
          </a:p>
          <a:p>
            <a:r>
              <a:rPr lang="en-US" dirty="0"/>
              <a:t>- Only one logically follows from the given context</a:t>
            </a:r>
          </a:p>
          <a:p>
            <a:endParaRPr lang="en-US" dirty="0"/>
          </a:p>
          <a:p>
            <a:r>
              <a:rPr lang="en-US" dirty="0"/>
              <a:t>2. </a:t>
            </a:r>
            <a:r>
              <a:rPr lang="en-US" dirty="0" err="1"/>
              <a:t>HellaSwag</a:t>
            </a:r>
            <a:r>
              <a:rPr lang="en-US" dirty="0"/>
              <a:t> Characteristics</a:t>
            </a:r>
          </a:p>
          <a:p>
            <a:r>
              <a:rPr lang="en-US" dirty="0"/>
              <a:t>- The incorrect answers (A, B, C) are plausible-sounding but contain subtle inconsistencies</a:t>
            </a:r>
          </a:p>
          <a:p>
            <a:r>
              <a:rPr lang="en-US" dirty="0"/>
              <a:t>- They're generated to be challenging distractors that test natural language understanding</a:t>
            </a:r>
          </a:p>
          <a:p>
            <a:r>
              <a:rPr lang="en-US" dirty="0"/>
              <a:t>- The correct answer (D) requires both traffic knowledge and logical reasoning</a:t>
            </a:r>
          </a:p>
          <a:p>
            <a:endParaRPr lang="en-US" dirty="0"/>
          </a:p>
          <a:p>
            <a:r>
              <a:rPr lang="en-US" dirty="0"/>
              <a:t>3. Model Evaluation Purpose</a:t>
            </a:r>
          </a:p>
          <a:p>
            <a:r>
              <a:rPr lang="en-US" dirty="0"/>
              <a:t>- This type of question tests whether AI models can:</a:t>
            </a:r>
          </a:p>
          <a:p>
            <a:r>
              <a:rPr lang="en-US" dirty="0"/>
              <a:t>  * Understand real-world scenarios</a:t>
            </a:r>
          </a:p>
          <a:p>
            <a:r>
              <a:rPr lang="en-US" dirty="0"/>
              <a:t>  * Apply common sense reasoning</a:t>
            </a:r>
          </a:p>
          <a:p>
            <a:r>
              <a:rPr lang="en-US" dirty="0"/>
              <a:t>  * Identify subtle contextual inconsistencies</a:t>
            </a:r>
          </a:p>
          <a:p>
            <a:r>
              <a:rPr lang="en-US" dirty="0"/>
              <a:t>  * Choose the most logical continuation</a:t>
            </a:r>
          </a:p>
          <a:p>
            <a:endParaRPr lang="en-US" dirty="0"/>
          </a:p>
          <a:p>
            <a:r>
              <a:rPr lang="en-US" dirty="0"/>
              <a:t>4. Teaching Point</a:t>
            </a:r>
          </a:p>
          <a:p>
            <a:r>
              <a:rPr lang="en-US" dirty="0"/>
              <a:t>- This example shows how </a:t>
            </a:r>
            <a:r>
              <a:rPr lang="en-US" dirty="0" err="1"/>
              <a:t>HellaSwag</a:t>
            </a:r>
            <a:r>
              <a:rPr lang="en-US" dirty="0"/>
              <a:t> creates challenging multiple-choice questions</a:t>
            </a:r>
          </a:p>
          <a:p>
            <a:r>
              <a:rPr lang="en-US" dirty="0"/>
              <a:t>- The wrong answers aren't obviously incorrect, making it a good test of true understanding</a:t>
            </a:r>
          </a:p>
          <a:p>
            <a:r>
              <a:rPr lang="en-US" dirty="0"/>
              <a:t>- It mimics real-world scenarios where subtle differences matter</a:t>
            </a:r>
          </a:p>
          <a:p>
            <a:endParaRPr lang="en-US" dirty="0"/>
          </a:p>
          <a:p>
            <a:r>
              <a:rPr lang="en-US" dirty="0"/>
              <a:t>Remember, </a:t>
            </a:r>
            <a:r>
              <a:rPr lang="en-US" dirty="0" err="1"/>
              <a:t>HellaSwag</a:t>
            </a:r>
            <a:r>
              <a:rPr lang="en-US" dirty="0"/>
              <a:t> is designed to be challenging even for advanced AI models, making it an excellent benchmark for testing natural language understanding and common sense reasoning capabilities."</a:t>
            </a:r>
          </a:p>
        </p:txBody>
      </p:sp>
      <p:sp>
        <p:nvSpPr>
          <p:cNvPr id="4" name="Slide Number Placeholder 3"/>
          <p:cNvSpPr>
            <a:spLocks noGrp="1"/>
          </p:cNvSpPr>
          <p:nvPr>
            <p:ph type="sldNum" sz="quarter" idx="5"/>
          </p:nvPr>
        </p:nvSpPr>
        <p:spPr/>
        <p:txBody>
          <a:bodyPr/>
          <a:lstStyle/>
          <a:p>
            <a:fld id="{688EF870-5850-6643-A228-25AFAA8E2BB1}" type="slidenum">
              <a:rPr lang="en-US" smtClean="0"/>
              <a:t>19</a:t>
            </a:fld>
            <a:endParaRPr lang="en-US"/>
          </a:p>
        </p:txBody>
      </p:sp>
    </p:spTree>
    <p:extLst>
      <p:ext uri="{BB962C8B-B14F-4D97-AF65-F5344CB8AC3E}">
        <p14:creationId xmlns:p14="http://schemas.microsoft.com/office/powerpoint/2010/main" val="32180252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Notes:</a:t>
            </a:r>
          </a:p>
          <a:p>
            <a:endParaRPr lang="en-US" dirty="0"/>
          </a:p>
          <a:p>
            <a:r>
              <a:rPr lang="en-US" dirty="0"/>
              <a:t>1. Key Principle: Evaluation is Essential</a:t>
            </a:r>
          </a:p>
          <a:p>
            <a:r>
              <a:rPr lang="en-US" dirty="0"/>
              <a:t>- Critical warning: Never implement AI-generated solutions without proper evaluation</a:t>
            </a:r>
          </a:p>
          <a:p>
            <a:r>
              <a:rPr lang="en-US" dirty="0"/>
              <a:t>- This is a fundamental safety and quality control measure</a:t>
            </a:r>
          </a:p>
          <a:p>
            <a:endParaRPr lang="en-US" dirty="0"/>
          </a:p>
          <a:p>
            <a:r>
              <a:rPr lang="en-US" dirty="0"/>
              <a:t>2. LLM Output Evaluation Challenges</a:t>
            </a:r>
          </a:p>
          <a:p>
            <a:r>
              <a:rPr lang="en-US" dirty="0"/>
              <a:t>- Evaluating Large Language Model outputs presents significant difficulties</a:t>
            </a:r>
          </a:p>
          <a:p>
            <a:r>
              <a:rPr lang="en-US" dirty="0"/>
              <a:t>- Requires systematic and thorough approach</a:t>
            </a:r>
          </a:p>
          <a:p>
            <a:endParaRPr lang="en-US" dirty="0"/>
          </a:p>
          <a:p>
            <a:r>
              <a:rPr lang="en-US" dirty="0"/>
              <a:t>3. Evaluation Strategy Components</a:t>
            </a:r>
          </a:p>
          <a:p>
            <a:r>
              <a:rPr lang="en-US" dirty="0"/>
              <a:t>a) Metrics and Benchmarks</a:t>
            </a:r>
          </a:p>
          <a:p>
            <a:r>
              <a:rPr lang="en-US" dirty="0"/>
              <a:t>- Select metrics specific to your use case</a:t>
            </a:r>
          </a:p>
          <a:p>
            <a:r>
              <a:rPr lang="en-US" dirty="0"/>
              <a:t>- Focus on relevant benchmarks that align with objectives</a:t>
            </a:r>
          </a:p>
          <a:p>
            <a:endParaRPr lang="en-US" dirty="0"/>
          </a:p>
          <a:p>
            <a:r>
              <a:rPr lang="en-US" dirty="0"/>
              <a:t>b) Custom Benchmark Dataset</a:t>
            </a:r>
          </a:p>
          <a:p>
            <a:r>
              <a:rPr lang="en-US" dirty="0"/>
              <a:t>- Creating your own annotated benchmark dataset is often necessary</a:t>
            </a:r>
          </a:p>
          <a:p>
            <a:r>
              <a:rPr lang="en-US" dirty="0"/>
              <a:t>- Helps in testing specific use case scenarios</a:t>
            </a:r>
          </a:p>
          <a:p>
            <a:endParaRPr lang="en-US" dirty="0"/>
          </a:p>
          <a:p>
            <a:r>
              <a:rPr lang="en-US" dirty="0"/>
              <a:t>c) Automated Evaluation</a:t>
            </a:r>
          </a:p>
          <a:p>
            <a:r>
              <a:rPr lang="en-US" dirty="0"/>
              <a:t>- Metrics like accuracy and perplexity can be useful</a:t>
            </a:r>
          </a:p>
          <a:p>
            <a:r>
              <a:rPr lang="en-US" dirty="0"/>
              <a:t>- Automated evaluation may suffice in certain scenarios</a:t>
            </a:r>
          </a:p>
          <a:p>
            <a:endParaRPr lang="en-US" dirty="0"/>
          </a:p>
          <a:p>
            <a:r>
              <a:rPr lang="en-US" dirty="0"/>
              <a:t>d) Human Evaluation</a:t>
            </a:r>
          </a:p>
          <a:p>
            <a:r>
              <a:rPr lang="en-US" dirty="0"/>
              <a:t>- Human-In-Loop (HIL) evaluation through Amazon Bedrock</a:t>
            </a:r>
          </a:p>
          <a:p>
            <a:r>
              <a:rPr lang="en-US" dirty="0"/>
              <a:t>- Essential for complex assessments and validation</a:t>
            </a:r>
          </a:p>
          <a:p>
            <a:endParaRPr lang="en-US" b="1" dirty="0"/>
          </a:p>
          <a:p>
            <a:r>
              <a:rPr lang="en-US" b="1" dirty="0"/>
              <a:t>EDUCATOR NOTES:</a:t>
            </a:r>
          </a:p>
          <a:p>
            <a:endParaRPr lang="en-US" b="1" dirty="0"/>
          </a:p>
          <a:p>
            <a:r>
              <a:rPr lang="en-US" dirty="0"/>
              <a:t>"In this session, I want to emphasize the critical importance of evaluating AI-generated solutions. While AI tools are powerful, they require careful validation before implementation. The evaluation process can be challenging, especially with LLMs, but it's non-negotiable for ensuring quality and reliability.</a:t>
            </a:r>
          </a:p>
          <a:p>
            <a:endParaRPr lang="en-US" dirty="0"/>
          </a:p>
          <a:p>
            <a:r>
              <a:rPr lang="en-US" dirty="0"/>
              <a:t>I recommend a multi-faceted approach: start with clear metrics aligned to your specific use case, develop your own benchmark dataset if needed, and utilize automated metrics where appropriate. However, don't underestimate the value of human evaluation – Amazon Bedrock's HIL capabilities provide an excellent framework for this.</a:t>
            </a:r>
          </a:p>
          <a:p>
            <a:endParaRPr lang="en-US" dirty="0"/>
          </a:p>
          <a:p>
            <a:r>
              <a:rPr lang="en-US" dirty="0"/>
              <a:t>Remember, the goal isn't just to implement AI solutions, but to implement them responsibly and effectively. Taking the time to evaluate thoroughly will save you from potential issues down the line and ensure better outcomes for your projects."</a:t>
            </a:r>
          </a:p>
        </p:txBody>
      </p:sp>
      <p:sp>
        <p:nvSpPr>
          <p:cNvPr id="4" name="Slide Number Placeholder 3"/>
          <p:cNvSpPr>
            <a:spLocks noGrp="1"/>
          </p:cNvSpPr>
          <p:nvPr>
            <p:ph type="sldNum" sz="quarter" idx="5"/>
          </p:nvPr>
        </p:nvSpPr>
        <p:spPr/>
        <p:txBody>
          <a:bodyPr/>
          <a:lstStyle/>
          <a:p>
            <a:fld id="{688EF870-5850-6643-A228-25AFAA8E2BB1}" type="slidenum">
              <a:rPr lang="en-US" smtClean="0"/>
              <a:t>20</a:t>
            </a:fld>
            <a:endParaRPr lang="en-US"/>
          </a:p>
        </p:txBody>
      </p:sp>
    </p:spTree>
    <p:extLst>
      <p:ext uri="{BB962C8B-B14F-4D97-AF65-F5344CB8AC3E}">
        <p14:creationId xmlns:p14="http://schemas.microsoft.com/office/powerpoint/2010/main" val="23067908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5901502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Notes:</a:t>
            </a:r>
          </a:p>
          <a:p>
            <a:endParaRPr lang="en-US" dirty="0"/>
          </a:p>
          <a:p>
            <a:r>
              <a:rPr lang="en-US" dirty="0"/>
              <a:t>2. Core Components:</a:t>
            </a:r>
          </a:p>
          <a:p>
            <a:r>
              <a:rPr lang="en-US" dirty="0"/>
              <a:t>   - Amazon Bedrock (central element)</a:t>
            </a:r>
          </a:p>
          <a:p>
            <a:r>
              <a:rPr lang="en-US" dirty="0"/>
              <a:t>   - Two main evaluation approaches:</a:t>
            </a:r>
          </a:p>
          <a:p>
            <a:r>
              <a:rPr lang="en-US" dirty="0"/>
              <a:t>     * Programmatic Evaluation</a:t>
            </a:r>
          </a:p>
          <a:p>
            <a:r>
              <a:rPr lang="en-US" dirty="0"/>
              <a:t>     * Human Evaluation</a:t>
            </a:r>
          </a:p>
          <a:p>
            <a:endParaRPr lang="en-US" dirty="0"/>
          </a:p>
          <a:p>
            <a:r>
              <a:rPr lang="en-US" dirty="0"/>
              <a:t>3. Team Implementation Options:</a:t>
            </a:r>
          </a:p>
          <a:p>
            <a:r>
              <a:rPr lang="en-US" dirty="0"/>
              <a:t>   For each evaluation type, there are two team structures:</a:t>
            </a:r>
          </a:p>
          <a:p>
            <a:r>
              <a:rPr lang="en-US" dirty="0"/>
              <a:t>   - AWS Managed Team</a:t>
            </a:r>
          </a:p>
          <a:p>
            <a:r>
              <a:rPr lang="en-US" dirty="0"/>
              <a:t>   - Bring Your Own Team (BYOT)</a:t>
            </a:r>
          </a:p>
          <a:p>
            <a:endParaRPr lang="en-US" dirty="0"/>
          </a:p>
          <a:p>
            <a:r>
              <a:rPr lang="en-US" dirty="0"/>
              <a:t>4. Structure:</a:t>
            </a:r>
          </a:p>
          <a:p>
            <a:r>
              <a:rPr lang="en-US" dirty="0"/>
              <a:t>   - Hierarchical organization showing evaluation methods branching into team options</a:t>
            </a:r>
          </a:p>
          <a:p>
            <a:r>
              <a:rPr lang="en-US" dirty="0"/>
              <a:t>   - Clear distinction between evaluation types (shown in red) and team options (shown in blue)</a:t>
            </a:r>
          </a:p>
          <a:p>
            <a:endParaRPr lang="en-US" dirty="0"/>
          </a:p>
          <a:p>
            <a:r>
              <a:rPr lang="en-US" b="1" dirty="0"/>
              <a:t>EDUCATOR NOTES:</a:t>
            </a:r>
          </a:p>
          <a:p>
            <a:endParaRPr lang="en-US" dirty="0"/>
          </a:p>
          <a:p>
            <a:r>
              <a:rPr lang="en-US" dirty="0"/>
              <a:t>”Let’s discuss the evaluation framework for Amazon Bedrock. We have two primary approaches to evaluation: programmatic and human evaluation. Each of these can be implemented either with an AWS managed team or your own team, giving you flexibility in how you approach quality assurance.</a:t>
            </a:r>
          </a:p>
          <a:p>
            <a:endParaRPr lang="en-US" dirty="0"/>
          </a:p>
          <a:p>
            <a:r>
              <a:rPr lang="en-US" dirty="0"/>
              <a:t>For programmatic evaluation, you can either leverage AWS's expertise through our managed team or implement it with your internal resources. Similarly, for human evaluation, you can choose between AWS-provided evaluators or your own team members.</a:t>
            </a:r>
          </a:p>
          <a:p>
            <a:endParaRPr lang="en-US" dirty="0"/>
          </a:p>
          <a:p>
            <a:r>
              <a:rPr lang="en-US" dirty="0"/>
              <a:t>This flexible structure ensures that regardless of your organization's resources and preferences, you can implement robust evaluation processes for your Bedrock applications. The choice between AWS managed and bring-your-own teams allows you to balance factors like control, expertise, and resource availability according to your specific needs."</a:t>
            </a:r>
          </a:p>
          <a:p>
            <a:endParaRPr lang="en-US" dirty="0"/>
          </a:p>
          <a:p>
            <a:r>
              <a:rPr lang="en-US" dirty="0"/>
              <a:t>END OF NOTES</a:t>
            </a:r>
          </a:p>
        </p:txBody>
      </p:sp>
      <p:sp>
        <p:nvSpPr>
          <p:cNvPr id="4" name="Slide Number Placeholder 3"/>
          <p:cNvSpPr>
            <a:spLocks noGrp="1"/>
          </p:cNvSpPr>
          <p:nvPr>
            <p:ph type="sldNum" sz="quarter" idx="5"/>
          </p:nvPr>
        </p:nvSpPr>
        <p:spPr/>
        <p:txBody>
          <a:bodyPr/>
          <a:lstStyle/>
          <a:p>
            <a:fld id="{688EF870-5850-6643-A228-25AFAA8E2BB1}" type="slidenum">
              <a:rPr lang="en-US" smtClean="0"/>
              <a:t>22</a:t>
            </a:fld>
            <a:endParaRPr lang="en-US"/>
          </a:p>
        </p:txBody>
      </p:sp>
    </p:spTree>
    <p:extLst>
      <p:ext uri="{BB962C8B-B14F-4D97-AF65-F5344CB8AC3E}">
        <p14:creationId xmlns:p14="http://schemas.microsoft.com/office/powerpoint/2010/main" val="246520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Main Focus: Amazon Bedrock Foundation Model Evaluation Process</a:t>
            </a:r>
          </a:p>
          <a:p>
            <a:endParaRPr lang="en-US" dirty="0"/>
          </a:p>
          <a:p>
            <a:r>
              <a:rPr lang="en-US" dirty="0"/>
              <a:t>Key Steps:</a:t>
            </a:r>
          </a:p>
          <a:p>
            <a:r>
              <a:rPr lang="en-US" dirty="0"/>
              <a:t>1. Foundation Model Selection</a:t>
            </a:r>
          </a:p>
          <a:p>
            <a:r>
              <a:rPr lang="en-US" dirty="0"/>
              <a:t>- Choose from available Amazon Bedrock foundation models</a:t>
            </a:r>
          </a:p>
          <a:p>
            <a:r>
              <a:rPr lang="en-US" dirty="0"/>
              <a:t>- Consider model capabilities and use case requirements</a:t>
            </a:r>
          </a:p>
          <a:p>
            <a:endParaRPr lang="en-US" dirty="0"/>
          </a:p>
          <a:p>
            <a:r>
              <a:rPr lang="en-US" dirty="0"/>
              <a:t>2. Task Type Selection</a:t>
            </a:r>
          </a:p>
          <a:p>
            <a:r>
              <a:rPr lang="en-US" dirty="0"/>
              <a:t>- Options include:</a:t>
            </a:r>
          </a:p>
          <a:p>
            <a:r>
              <a:rPr lang="en-US" dirty="0"/>
              <a:t>  * Text generation</a:t>
            </a:r>
          </a:p>
          <a:p>
            <a:r>
              <a:rPr lang="en-US" dirty="0"/>
              <a:t>  * Classification</a:t>
            </a:r>
          </a:p>
          <a:p>
            <a:r>
              <a:rPr lang="en-US" dirty="0"/>
              <a:t>  * Question &amp; Answer (Q&amp;A)</a:t>
            </a:r>
          </a:p>
          <a:p>
            <a:r>
              <a:rPr lang="en-US" dirty="0"/>
              <a:t>  * Other task types based on requirements</a:t>
            </a:r>
          </a:p>
          <a:p>
            <a:endParaRPr lang="en-US" dirty="0"/>
          </a:p>
          <a:p>
            <a:r>
              <a:rPr lang="en-US" dirty="0"/>
              <a:t>3. Metrics Selection</a:t>
            </a:r>
          </a:p>
          <a:p>
            <a:r>
              <a:rPr lang="en-US" dirty="0"/>
              <a:t>- Key evaluation metrics include:</a:t>
            </a:r>
          </a:p>
          <a:p>
            <a:r>
              <a:rPr lang="en-US" dirty="0"/>
              <a:t>  * Accuracy</a:t>
            </a:r>
          </a:p>
          <a:p>
            <a:r>
              <a:rPr lang="en-US" dirty="0"/>
              <a:t>  * Robustness</a:t>
            </a:r>
          </a:p>
          <a:p>
            <a:r>
              <a:rPr lang="en-US" dirty="0"/>
              <a:t>  * Toxicity</a:t>
            </a:r>
          </a:p>
          <a:p>
            <a:r>
              <a:rPr lang="en-US" dirty="0"/>
              <a:t>  * Other relevant performance metrics</a:t>
            </a:r>
          </a:p>
          <a:p>
            <a:endParaRPr lang="en-US" dirty="0"/>
          </a:p>
          <a:p>
            <a:r>
              <a:rPr lang="en-US" dirty="0"/>
              <a:t>4. Dataset Selection</a:t>
            </a:r>
          </a:p>
          <a:p>
            <a:r>
              <a:rPr lang="en-US" dirty="0"/>
              <a:t>- Two options available:</a:t>
            </a:r>
          </a:p>
          <a:p>
            <a:r>
              <a:rPr lang="en-US" dirty="0"/>
              <a:t>  * Select from pre-existing datasets</a:t>
            </a:r>
          </a:p>
          <a:p>
            <a:r>
              <a:rPr lang="en-US" dirty="0"/>
              <a:t>  * Upload custom prompt dataset</a:t>
            </a:r>
          </a:p>
          <a:p>
            <a:endParaRPr lang="en-US" dirty="0"/>
          </a:p>
          <a:p>
            <a:r>
              <a:rPr lang="en-US" b="1" dirty="0"/>
              <a:t>EDUCATOR NOTES:</a:t>
            </a:r>
          </a:p>
          <a:p>
            <a:endParaRPr lang="en-US" b="1" dirty="0"/>
          </a:p>
          <a:p>
            <a:r>
              <a:rPr lang="en-US" dirty="0"/>
              <a:t>”Let’s walk through the programmatic evaluation process for Amazon Bedrock foundation models. This four-step approach ensures systematic and thorough model assessment.</a:t>
            </a:r>
          </a:p>
          <a:p>
            <a:endParaRPr lang="en-US" dirty="0"/>
          </a:p>
          <a:p>
            <a:r>
              <a:rPr lang="en-US" dirty="0"/>
              <a:t>Start by selecting an appropriate foundation model from Amazon Bedrock that aligns with your use case. Then, specify the type of task you want to evaluate - whether it's text generation, classification, or Q&amp;A capabilities.</a:t>
            </a:r>
          </a:p>
          <a:p>
            <a:endParaRPr lang="en-US" dirty="0"/>
          </a:p>
          <a:p>
            <a:r>
              <a:rPr lang="en-US" dirty="0"/>
              <a:t>The third step is crucial - choosing the right metrics. We'll measure aspects like accuracy, robustness, and toxicity to ensure the model meets your quality standards. Finally, you can either use our available datasets or bring your own prompt dataset for testing.</a:t>
            </a:r>
          </a:p>
          <a:p>
            <a:endParaRPr lang="en-US" dirty="0"/>
          </a:p>
          <a:p>
            <a:r>
              <a:rPr lang="en-US" dirty="0"/>
              <a:t>Remember, this evaluation process is designed to help you make informed decisions about which model best suits your specific needs and requirements. Let's dive deeper into each step...”</a:t>
            </a:r>
          </a:p>
          <a:p>
            <a:endParaRPr lang="en-US" dirty="0"/>
          </a:p>
          <a:p>
            <a:r>
              <a:rPr lang="en-US" dirty="0"/>
              <a:t>1. Choose a Foundation Model (FM) from Amazon Bedrock:</a:t>
            </a:r>
          </a:p>
          <a:p>
            <a:r>
              <a:rPr lang="en-US" dirty="0"/>
              <a:t>- This is the first crucial step where you select an appropriate foundation model from Amazon Bedrock's offerings</a:t>
            </a:r>
          </a:p>
          <a:p>
            <a:r>
              <a:rPr lang="en-US" dirty="0"/>
              <a:t>- Different models have different strengths and specializations</a:t>
            </a:r>
          </a:p>
          <a:p>
            <a:r>
              <a:rPr lang="en-US" dirty="0"/>
              <a:t>- Selection should be based on:</a:t>
            </a:r>
          </a:p>
          <a:p>
            <a:r>
              <a:rPr lang="en-US" dirty="0"/>
              <a:t>  * Your specific use case requirements</a:t>
            </a:r>
          </a:p>
          <a:p>
            <a:r>
              <a:rPr lang="en-US" dirty="0"/>
              <a:t>  * Model capabilities</a:t>
            </a:r>
          </a:p>
          <a:p>
            <a:r>
              <a:rPr lang="en-US" dirty="0"/>
              <a:t>  * Language support needs</a:t>
            </a:r>
          </a:p>
          <a:p>
            <a:r>
              <a:rPr lang="en-US" dirty="0"/>
              <a:t>  * Performance requirements</a:t>
            </a:r>
          </a:p>
          <a:p>
            <a:r>
              <a:rPr lang="en-US" dirty="0"/>
              <a:t>  * Cost considerations</a:t>
            </a:r>
          </a:p>
          <a:p>
            <a:endParaRPr lang="en-US" dirty="0"/>
          </a:p>
          <a:p>
            <a:r>
              <a:rPr lang="en-US" dirty="0"/>
              <a:t>2. Select Task Type for Evaluation:</a:t>
            </a:r>
          </a:p>
          <a:p>
            <a:r>
              <a:rPr lang="en-US" dirty="0"/>
              <a:t>- Choose the specific task you want to evaluate the model on:</a:t>
            </a:r>
          </a:p>
          <a:p>
            <a:r>
              <a:rPr lang="en-US" dirty="0"/>
              <a:t>  * Text Generation: Creating coherent and contextually relevant text</a:t>
            </a:r>
          </a:p>
          <a:p>
            <a:r>
              <a:rPr lang="en-US" dirty="0"/>
              <a:t>  * Classification: Categorizing input into predefined classes</a:t>
            </a:r>
          </a:p>
          <a:p>
            <a:r>
              <a:rPr lang="en-US" dirty="0"/>
              <a:t>  * Q&amp;A: Answering questions based on given context</a:t>
            </a:r>
          </a:p>
          <a:p>
            <a:r>
              <a:rPr lang="en-US" dirty="0"/>
              <a:t>  * Other specialized tasks like summarization, translation, etc.</a:t>
            </a:r>
          </a:p>
          <a:p>
            <a:r>
              <a:rPr lang="en-US" dirty="0"/>
              <a:t>- The task type should align with your intended production use case</a:t>
            </a:r>
          </a:p>
          <a:p>
            <a:endParaRPr lang="en-US" dirty="0"/>
          </a:p>
          <a:p>
            <a:r>
              <a:rPr lang="en-US" dirty="0"/>
              <a:t>3. Choose Set of Metrics:</a:t>
            </a:r>
          </a:p>
          <a:p>
            <a:r>
              <a:rPr lang="en-US" dirty="0"/>
              <a:t>- Select appropriate evaluation metrics to measure model performance:</a:t>
            </a:r>
          </a:p>
          <a:p>
            <a:r>
              <a:rPr lang="en-US" dirty="0"/>
              <a:t>  * Accuracy: How correct are the model's outputs</a:t>
            </a:r>
          </a:p>
          <a:p>
            <a:r>
              <a:rPr lang="en-US" dirty="0"/>
              <a:t>  * Robustness: How well the model handles varying inputs</a:t>
            </a:r>
          </a:p>
          <a:p>
            <a:r>
              <a:rPr lang="en-US" dirty="0"/>
              <a:t>  * Toxicity: Measuring inappropriate or harmful content</a:t>
            </a:r>
          </a:p>
          <a:p>
            <a:r>
              <a:rPr lang="en-US" dirty="0"/>
              <a:t>  * Other possible metrics:</a:t>
            </a:r>
          </a:p>
          <a:p>
            <a:r>
              <a:rPr lang="en-US" dirty="0"/>
              <a:t>    - Response time</a:t>
            </a:r>
          </a:p>
          <a:p>
            <a:r>
              <a:rPr lang="en-US" dirty="0"/>
              <a:t>    - Token efficiency</a:t>
            </a:r>
          </a:p>
          <a:p>
            <a:r>
              <a:rPr lang="en-US" dirty="0"/>
              <a:t>    - Consistency</a:t>
            </a:r>
          </a:p>
          <a:p>
            <a:r>
              <a:rPr lang="en-US" dirty="0"/>
              <a:t>    - Relevance</a:t>
            </a:r>
          </a:p>
          <a:p>
            <a:r>
              <a:rPr lang="en-US" dirty="0"/>
              <a:t>    - Hallucination rate</a:t>
            </a:r>
          </a:p>
          <a:p>
            <a:endParaRPr lang="en-US" dirty="0"/>
          </a:p>
          <a:p>
            <a:r>
              <a:rPr lang="en-US" dirty="0"/>
              <a:t>4. Dataset Selection:</a:t>
            </a:r>
          </a:p>
          <a:p>
            <a:r>
              <a:rPr lang="en-US" dirty="0"/>
              <a:t>- Two options available:</a:t>
            </a:r>
          </a:p>
          <a:p>
            <a:r>
              <a:rPr lang="en-US" dirty="0"/>
              <a:t>  * Use pre-existing datasets:</a:t>
            </a:r>
          </a:p>
          <a:p>
            <a:r>
              <a:rPr lang="en-US" dirty="0"/>
              <a:t>    - Validated datasets suitable for your task</a:t>
            </a:r>
          </a:p>
          <a:p>
            <a:r>
              <a:rPr lang="en-US" dirty="0"/>
              <a:t>    - Industry-standard benchmarks</a:t>
            </a:r>
          </a:p>
          <a:p>
            <a:r>
              <a:rPr lang="en-US" dirty="0"/>
              <a:t>  * Upload custom prompt dataset:</a:t>
            </a:r>
          </a:p>
          <a:p>
            <a:r>
              <a:rPr lang="en-US" dirty="0"/>
              <a:t>    - Your own specific use case data</a:t>
            </a:r>
          </a:p>
          <a:p>
            <a:r>
              <a:rPr lang="en-US" dirty="0"/>
              <a:t>    - Real-world examples from your domain</a:t>
            </a:r>
          </a:p>
          <a:p>
            <a:r>
              <a:rPr lang="en-US" dirty="0"/>
              <a:t>    - Custom test cases</a:t>
            </a:r>
          </a:p>
          <a:p>
            <a:r>
              <a:rPr lang="en-US" dirty="0"/>
              <a:t>- The dataset should be representative of the actual data the model will encounter in production</a:t>
            </a:r>
          </a:p>
          <a:p>
            <a:endParaRPr lang="en-US" dirty="0"/>
          </a:p>
          <a:p>
            <a:r>
              <a:rPr lang="en-US" dirty="0"/>
              <a:t>Each step builds upon the previous one to create a comprehensive evaluation framework that helps in:</a:t>
            </a:r>
          </a:p>
          <a:p>
            <a:r>
              <a:rPr lang="en-US" dirty="0"/>
              <a:t>- Making informed decisions about model selection</a:t>
            </a:r>
          </a:p>
          <a:p>
            <a:r>
              <a:rPr lang="en-US" dirty="0"/>
              <a:t>- Understanding model performance characteristics</a:t>
            </a:r>
          </a:p>
          <a:p>
            <a:r>
              <a:rPr lang="en-US" dirty="0"/>
              <a:t>- Identifying potential issues before deployment</a:t>
            </a:r>
          </a:p>
          <a:p>
            <a:r>
              <a:rPr lang="en-US" dirty="0"/>
              <a:t>- Ensuring the model meets your specific requirements</a:t>
            </a:r>
          </a:p>
          <a:p>
            <a:r>
              <a:rPr lang="en-US" dirty="0"/>
              <a:t>- Creating reproducible evaluation processes</a:t>
            </a:r>
          </a:p>
          <a:p>
            <a:endParaRPr lang="en-US" dirty="0"/>
          </a:p>
          <a:p>
            <a:r>
              <a:rPr lang="en-US" dirty="0"/>
              <a:t>This systematic approach ensures that the selected model is thoroughly tested and validated before being implemented in a production environment.</a:t>
            </a:r>
          </a:p>
          <a:p>
            <a:endParaRPr lang="en-US" dirty="0"/>
          </a:p>
        </p:txBody>
      </p:sp>
      <p:sp>
        <p:nvSpPr>
          <p:cNvPr id="4" name="Slide Number Placeholder 3"/>
          <p:cNvSpPr>
            <a:spLocks noGrp="1"/>
          </p:cNvSpPr>
          <p:nvPr>
            <p:ph type="sldNum" sz="quarter" idx="5"/>
          </p:nvPr>
        </p:nvSpPr>
        <p:spPr/>
        <p:txBody>
          <a:bodyPr/>
          <a:lstStyle/>
          <a:p>
            <a:fld id="{688EF870-5850-6643-A228-25AFAA8E2BB1}" type="slidenum">
              <a:rPr lang="en-US" smtClean="0"/>
              <a:t>23</a:t>
            </a:fld>
            <a:endParaRPr lang="en-US"/>
          </a:p>
        </p:txBody>
      </p:sp>
    </p:spTree>
    <p:extLst>
      <p:ext uri="{BB962C8B-B14F-4D97-AF65-F5344CB8AC3E}">
        <p14:creationId xmlns:p14="http://schemas.microsoft.com/office/powerpoint/2010/main" val="897214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points:</a:t>
            </a:r>
          </a:p>
          <a:p>
            <a:endParaRPr lang="en-US" dirty="0"/>
          </a:p>
          <a:p>
            <a:r>
              <a:rPr lang="en-US" dirty="0"/>
              <a:t>1. Manual Evaluation Overview</a:t>
            </a:r>
          </a:p>
          <a:p>
            <a:r>
              <a:rPr lang="en-US" dirty="0"/>
              <a:t>- Amazon Bedrock provides support for human-based evaluations</a:t>
            </a:r>
          </a:p>
          <a:p>
            <a:r>
              <a:rPr lang="en-US" dirty="0"/>
              <a:t>- Capability to evaluate and compare responses from maximum two models</a:t>
            </a:r>
          </a:p>
          <a:p>
            <a:r>
              <a:rPr lang="en-US" dirty="0"/>
              <a:t>- Focuses on qualitative assessment by human evaluators</a:t>
            </a:r>
          </a:p>
          <a:p>
            <a:endParaRPr lang="en-US" dirty="0"/>
          </a:p>
          <a:p>
            <a:r>
              <a:rPr lang="en-US" dirty="0"/>
              <a:t>2. Evaluation Team Options</a:t>
            </a:r>
          </a:p>
          <a:p>
            <a:r>
              <a:rPr lang="en-US" dirty="0"/>
              <a:t>a) Bring Your Own Team (BYOT)</a:t>
            </a:r>
          </a:p>
          <a:p>
            <a:r>
              <a:rPr lang="en-US" dirty="0"/>
              <a:t>- Organizations can use their internal evaluators</a:t>
            </a:r>
          </a:p>
          <a:p>
            <a:r>
              <a:rPr lang="en-US" dirty="0"/>
              <a:t>- Allows for domain expertise and familiar context</a:t>
            </a:r>
          </a:p>
          <a:p>
            <a:r>
              <a:rPr lang="en-US" dirty="0"/>
              <a:t>- Provides control over evaluation process</a:t>
            </a:r>
          </a:p>
          <a:p>
            <a:endParaRPr lang="en-US" dirty="0"/>
          </a:p>
          <a:p>
            <a:r>
              <a:rPr lang="en-US" dirty="0"/>
              <a:t>b) AWS Managed Work Team</a:t>
            </a:r>
          </a:p>
          <a:p>
            <a:r>
              <a:rPr lang="en-US" dirty="0"/>
              <a:t>- Pre-vetted evaluators provided by AWS</a:t>
            </a:r>
          </a:p>
          <a:p>
            <a:r>
              <a:rPr lang="en-US" dirty="0"/>
              <a:t>- Professional evaluation service</a:t>
            </a:r>
          </a:p>
          <a:p>
            <a:r>
              <a:rPr lang="en-US" dirty="0"/>
              <a:t>- Standardized evaluation approach</a:t>
            </a:r>
          </a:p>
          <a:p>
            <a:endParaRPr lang="en-US" dirty="0"/>
          </a:p>
          <a:p>
            <a:r>
              <a:rPr lang="en-US" b="1" dirty="0"/>
              <a:t>EDUCATOR NOTES:</a:t>
            </a:r>
          </a:p>
          <a:p>
            <a:endParaRPr lang="en-US" b="1" dirty="0"/>
          </a:p>
          <a:p>
            <a:r>
              <a:rPr lang="en-US" dirty="0"/>
              <a:t>"In this slide, we're discussing the manual evaluation capabilities supported by Amazon Bedrock. This is a crucial feature that allows organizations to conduct human-based assessments of model responses. You can compare up to two different models side by side, which is particularly useful for model selection and quality assurance.</a:t>
            </a:r>
          </a:p>
          <a:p>
            <a:endParaRPr lang="en-US" dirty="0"/>
          </a:p>
          <a:p>
            <a:r>
              <a:rPr lang="en-US" dirty="0"/>
              <a:t>Bedrock offers two flexible options for conducting these evaluations. You can either bring your own team of evaluators, which is ideal if you have specific domain expertise requirements or want to maintain internal control. Alternatively, you can leverage our AWS Managed work team, which provides access to professional evaluators who are already familiar with the evaluation process.</a:t>
            </a:r>
          </a:p>
          <a:p>
            <a:endParaRPr lang="en-US" dirty="0"/>
          </a:p>
          <a:p>
            <a:r>
              <a:rPr lang="en-US" dirty="0"/>
              <a:t>Remember, human evaluation is essential for ensuring model outputs align with your business requirements and quality standards."</a:t>
            </a:r>
          </a:p>
        </p:txBody>
      </p:sp>
      <p:sp>
        <p:nvSpPr>
          <p:cNvPr id="4" name="Slide Number Placeholder 3"/>
          <p:cNvSpPr>
            <a:spLocks noGrp="1"/>
          </p:cNvSpPr>
          <p:nvPr>
            <p:ph type="sldNum" sz="quarter" idx="5"/>
          </p:nvPr>
        </p:nvSpPr>
        <p:spPr/>
        <p:txBody>
          <a:bodyPr/>
          <a:lstStyle/>
          <a:p>
            <a:fld id="{688EF870-5850-6643-A228-25AFAA8E2BB1}" type="slidenum">
              <a:rPr lang="en-US" smtClean="0"/>
              <a:t>24</a:t>
            </a:fld>
            <a:endParaRPr lang="en-US"/>
          </a:p>
        </p:txBody>
      </p:sp>
    </p:spTree>
    <p:extLst>
      <p:ext uri="{BB962C8B-B14F-4D97-AF65-F5344CB8AC3E}">
        <p14:creationId xmlns:p14="http://schemas.microsoft.com/office/powerpoint/2010/main" val="26042765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notes:</a:t>
            </a:r>
          </a:p>
          <a:p>
            <a:endParaRPr lang="en-US" dirty="0"/>
          </a:p>
          <a:p>
            <a:r>
              <a:rPr lang="en-US" dirty="0"/>
              <a:t>1. Process Overview</a:t>
            </a:r>
          </a:p>
          <a:p>
            <a:r>
              <a:rPr lang="en-US" dirty="0"/>
              <a:t>The image shows an 8-step workflow for conducting human evaluation, designed for teams to implement and execute evaluations effectively.</a:t>
            </a:r>
          </a:p>
          <a:p>
            <a:endParaRPr lang="en-US" dirty="0"/>
          </a:p>
          <a:p>
            <a:r>
              <a:rPr lang="en-US" dirty="0"/>
              <a:t>2. Key Steps (in order):</a:t>
            </a:r>
          </a:p>
          <a:p>
            <a:r>
              <a:rPr lang="en-US" dirty="0"/>
              <a:t>- Choose 1 or 2 models to evaluate</a:t>
            </a:r>
          </a:p>
          <a:p>
            <a:r>
              <a:rPr lang="en-US" dirty="0"/>
              <a:t>- Choose task type</a:t>
            </a:r>
          </a:p>
          <a:p>
            <a:r>
              <a:rPr lang="en-US" dirty="0"/>
              <a:t>- Use recommended metrics or define custom ones</a:t>
            </a:r>
          </a:p>
          <a:p>
            <a:r>
              <a:rPr lang="en-US" dirty="0"/>
              <a:t>- Upload dataset</a:t>
            </a:r>
          </a:p>
          <a:p>
            <a:r>
              <a:rPr lang="en-US" dirty="0"/>
              <a:t>- Add people to work team</a:t>
            </a:r>
          </a:p>
          <a:p>
            <a:r>
              <a:rPr lang="en-US" dirty="0"/>
              <a:t>- Run inference</a:t>
            </a:r>
          </a:p>
          <a:p>
            <a:r>
              <a:rPr lang="en-US" dirty="0"/>
              <a:t>- Conduct human evaluation</a:t>
            </a:r>
          </a:p>
          <a:p>
            <a:r>
              <a:rPr lang="en-US" dirty="0"/>
              <a:t>- View results</a:t>
            </a:r>
          </a:p>
          <a:p>
            <a:endParaRPr lang="en-US" dirty="0"/>
          </a:p>
          <a:p>
            <a:r>
              <a:rPr lang="en-US" dirty="0"/>
              <a:t>3. Important Considerations:</a:t>
            </a:r>
          </a:p>
          <a:p>
            <a:r>
              <a:rPr lang="en-US" dirty="0"/>
              <a:t>- The process emphasizes bringing your own team ("Bring your own team" subtitle)</a:t>
            </a:r>
          </a:p>
          <a:p>
            <a:r>
              <a:rPr lang="en-US" dirty="0"/>
              <a:t>- Follows a logical progression from model selection to results analysis</a:t>
            </a:r>
          </a:p>
          <a:p>
            <a:r>
              <a:rPr lang="en-US" dirty="0"/>
              <a:t>- Incorporates both automated (inference) and human elements</a:t>
            </a:r>
          </a:p>
          <a:p>
            <a:r>
              <a:rPr lang="en-US" dirty="0"/>
              <a:t>- Structured approach to evaluation</a:t>
            </a:r>
          </a:p>
          <a:p>
            <a:endParaRPr lang="en-US" dirty="0"/>
          </a:p>
          <a:p>
            <a:r>
              <a:rPr lang="en-US" b="1" dirty="0"/>
              <a:t>EDUCATOR NOTES:</a:t>
            </a:r>
          </a:p>
          <a:p>
            <a:endParaRPr lang="en-US" dirty="0"/>
          </a:p>
          <a:p>
            <a:r>
              <a:rPr lang="en-US" dirty="0"/>
              <a:t>"Let’s walk through the human evaluation workflow, which is essential for assessing model performance. This is a comprehensive 8-step process that combines both technical and human elements.</a:t>
            </a:r>
          </a:p>
          <a:p>
            <a:endParaRPr lang="en-US" dirty="0"/>
          </a:p>
          <a:p>
            <a:r>
              <a:rPr lang="en-US" dirty="0"/>
              <a:t>Key points to emphasize:</a:t>
            </a:r>
          </a:p>
          <a:p>
            <a:r>
              <a:rPr lang="en-US" dirty="0"/>
              <a:t>- Start by carefully selecting your models - you can evaluate one or two at a time</a:t>
            </a:r>
          </a:p>
          <a:p>
            <a:r>
              <a:rPr lang="en-US" dirty="0"/>
              <a:t>- The choice of task type will influence your evaluation metrics</a:t>
            </a:r>
          </a:p>
          <a:p>
            <a:r>
              <a:rPr lang="en-US" dirty="0"/>
              <a:t>- You have flexibility in metric selection - use recommended ones or create custom metrics</a:t>
            </a:r>
          </a:p>
          <a:p>
            <a:r>
              <a:rPr lang="en-US" dirty="0"/>
              <a:t>- Team selection is crucial - ensure your evaluators understand the objectives</a:t>
            </a:r>
          </a:p>
          <a:p>
            <a:r>
              <a:rPr lang="en-US" dirty="0"/>
              <a:t>- The process combines automated inference with human judgment</a:t>
            </a:r>
          </a:p>
          <a:p>
            <a:r>
              <a:rPr lang="en-US" dirty="0"/>
              <a:t>- Results viewing is the final step, but insights gained should inform future iterations</a:t>
            </a:r>
          </a:p>
          <a:p>
            <a:endParaRPr lang="en-US" dirty="0"/>
          </a:p>
          <a:p>
            <a:r>
              <a:rPr lang="en-US" dirty="0"/>
              <a:t>Remember, the quality of your evaluation depends heavily on both the process design and the team executing it. Take time to set up each step properly.</a:t>
            </a:r>
          </a:p>
          <a:p>
            <a:r>
              <a:rPr lang="en-US" dirty="0"/>
              <a:t>This structured approach ensures consistent and reliable human evaluation of model performance while maintaining flexibility for different use cases and requirements.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FEB175-7AE1-4B66-A823-55E80A74AF1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03674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notes: </a:t>
            </a:r>
          </a:p>
          <a:p>
            <a:endParaRPr lang="en-US" dirty="0"/>
          </a:p>
          <a:p>
            <a:r>
              <a:rPr lang="en-US" dirty="0"/>
              <a:t>"Analyze Results" Slide</a:t>
            </a:r>
          </a:p>
          <a:p>
            <a:r>
              <a:rPr lang="en-US" dirty="0"/>
              <a:t>- Main title slide introducing the evaluation report section</a:t>
            </a:r>
          </a:p>
          <a:p>
            <a:r>
              <a:rPr lang="en-US" dirty="0"/>
              <a:t>- Highlights three key features:</a:t>
            </a:r>
          </a:p>
          <a:p>
            <a:r>
              <a:rPr lang="en-US" dirty="0"/>
              <a:t>  1. Track ratings from team</a:t>
            </a:r>
          </a:p>
          <a:p>
            <a:r>
              <a:rPr lang="en-US" dirty="0"/>
              <a:t>  2. Visual distribution analysis</a:t>
            </a:r>
          </a:p>
          <a:p>
            <a:r>
              <a:rPr lang="en-US" dirty="0"/>
              <a:t>  3. Simple metric explanations</a:t>
            </a:r>
          </a:p>
          <a:p>
            <a:endParaRPr lang="en-US" dirty="0"/>
          </a:p>
          <a:p>
            <a:r>
              <a:rPr lang="en-US" dirty="0"/>
              <a:t>Evaluation Report Details:</a:t>
            </a:r>
          </a:p>
          <a:p>
            <a:r>
              <a:rPr lang="en-US" dirty="0"/>
              <a:t>- Evaluation Type: Individual</a:t>
            </a:r>
          </a:p>
          <a:p>
            <a:r>
              <a:rPr lang="en-US" dirty="0"/>
              <a:t>- Rating Mechanism: Likert scale (Individual)</a:t>
            </a:r>
          </a:p>
          <a:p>
            <a:r>
              <a:rPr lang="en-US" dirty="0"/>
              <a:t>- Metric Type: Approval strength using 5-point Likert scale</a:t>
            </a:r>
          </a:p>
          <a:p>
            <a:r>
              <a:rPr lang="en-US" dirty="0"/>
              <a:t>  * Scale ranges from 1 (strongly disagree) to 5 (strongly agree)</a:t>
            </a:r>
          </a:p>
          <a:p>
            <a:r>
              <a:rPr lang="en-US" dirty="0"/>
              <a:t>- Shows comparison between Model A and Model B responses</a:t>
            </a:r>
          </a:p>
          <a:p>
            <a:r>
              <a:rPr lang="en-US" dirty="0"/>
              <a:t>- Both graphs display distribution of ratings across the scale</a:t>
            </a:r>
          </a:p>
          <a:p>
            <a:endParaRPr lang="en-US" dirty="0"/>
          </a:p>
          <a:p>
            <a:r>
              <a:rPr lang="en-US" dirty="0"/>
              <a:t>Graph Analysis:</a:t>
            </a:r>
          </a:p>
          <a:p>
            <a:r>
              <a:rPr lang="en-US" dirty="0"/>
              <a:t>Model A:</a:t>
            </a:r>
          </a:p>
          <a:p>
            <a:r>
              <a:rPr lang="en-US" dirty="0"/>
              <a:t>- Shows skew towards positive ratings</a:t>
            </a:r>
          </a:p>
          <a:p>
            <a:r>
              <a:rPr lang="en-US" dirty="0"/>
              <a:t>- Highest concentration in "Slightly agree"</a:t>
            </a:r>
          </a:p>
          <a:p>
            <a:r>
              <a:rPr lang="en-US" dirty="0"/>
              <a:t>- Lower numbers in "Strongly disagree" and "Slightly disagree"</a:t>
            </a:r>
          </a:p>
          <a:p>
            <a:r>
              <a:rPr lang="en-US" dirty="0"/>
              <a:t>- Moderate neutral responses</a:t>
            </a:r>
          </a:p>
          <a:p>
            <a:endParaRPr lang="en-US" dirty="0"/>
          </a:p>
          <a:p>
            <a:r>
              <a:rPr lang="en-US" dirty="0"/>
              <a:t>Model B:</a:t>
            </a:r>
          </a:p>
          <a:p>
            <a:r>
              <a:rPr lang="en-US" dirty="0"/>
              <a:t>- Stronger positive skew</a:t>
            </a:r>
          </a:p>
          <a:p>
            <a:r>
              <a:rPr lang="en-US" dirty="0"/>
              <a:t>- Highest concentration in "Strongly agree"</a:t>
            </a:r>
          </a:p>
          <a:p>
            <a:r>
              <a:rPr lang="en-US" dirty="0"/>
              <a:t>- Lower representation in negative ratings</a:t>
            </a:r>
          </a:p>
          <a:p>
            <a:r>
              <a:rPr lang="en-US" dirty="0"/>
              <a:t>- Consistent pattern of increasing agreement</a:t>
            </a:r>
          </a:p>
          <a:p>
            <a:endParaRPr lang="en-US" dirty="0"/>
          </a:p>
          <a:p>
            <a:r>
              <a:rPr lang="en-US" b="1" dirty="0"/>
              <a:t>EDUCATOR NOTES:</a:t>
            </a:r>
          </a:p>
          <a:p>
            <a:endParaRPr lang="en-US" dirty="0"/>
          </a:p>
          <a:p>
            <a:r>
              <a:rPr lang="en-US" dirty="0"/>
              <a:t>”Let’s analyze our evaluation results comparing Models A and B. The data represents individual ratings using a 5-point Likert scale measuring approval strength.</a:t>
            </a:r>
          </a:p>
          <a:p>
            <a:r>
              <a:rPr lang="en-US" dirty="0"/>
              <a:t>Looking at the distributions, we can observe that both models received generally positive feedback, but with some notable differences:</a:t>
            </a:r>
          </a:p>
          <a:p>
            <a:r>
              <a:rPr lang="en-US" dirty="0"/>
              <a:t>Model A shows a moderate positive skew with most responses clustering around 'Slightly agree.' This suggests general approval but with some room for improvement.</a:t>
            </a:r>
          </a:p>
          <a:p>
            <a:r>
              <a:rPr lang="en-US" dirty="0"/>
              <a:t>Model B demonstrates stronger performance with a clear shift toward 'Strongly agree' responses, indicating higher overall approval rates.</a:t>
            </a:r>
          </a:p>
          <a:p>
            <a:r>
              <a:rPr lang="en-US" dirty="0"/>
              <a:t>The key takeaway is that while both models are performing adequately, Model B appears to be generating more consistently favorable responses from our evaluation team.”</a:t>
            </a:r>
          </a:p>
        </p:txBody>
      </p:sp>
      <p:sp>
        <p:nvSpPr>
          <p:cNvPr id="4" name="Slide Number Placeholder 3"/>
          <p:cNvSpPr>
            <a:spLocks noGrp="1"/>
          </p:cNvSpPr>
          <p:nvPr>
            <p:ph type="sldNum" sz="quarter" idx="5"/>
          </p:nvPr>
        </p:nvSpPr>
        <p:spPr/>
        <p:txBody>
          <a:bodyPr/>
          <a:lstStyle/>
          <a:p>
            <a:fld id="{688EF870-5850-6643-A228-25AFAA8E2BB1}" type="slidenum">
              <a:rPr lang="en-US" smtClean="0"/>
              <a:t>26</a:t>
            </a:fld>
            <a:endParaRPr lang="en-US"/>
          </a:p>
        </p:txBody>
      </p:sp>
    </p:spTree>
    <p:extLst>
      <p:ext uri="{BB962C8B-B14F-4D97-AF65-F5344CB8AC3E}">
        <p14:creationId xmlns:p14="http://schemas.microsoft.com/office/powerpoint/2010/main" val="2447231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extLst>
      <p:ext uri="{BB962C8B-B14F-4D97-AF65-F5344CB8AC3E}">
        <p14:creationId xmlns:p14="http://schemas.microsoft.com/office/powerpoint/2010/main" val="3030284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participation in this course! We appreciate your engagement and hope you found the content valuable.</a:t>
            </a:r>
          </a:p>
        </p:txBody>
      </p:sp>
      <p:sp>
        <p:nvSpPr>
          <p:cNvPr id="4" name="Slide Number Placeholder 3"/>
          <p:cNvSpPr>
            <a:spLocks noGrp="1"/>
          </p:cNvSpPr>
          <p:nvPr>
            <p:ph type="sldNum" sz="quarter" idx="5"/>
          </p:nvPr>
        </p:nvSpPr>
        <p:spPr/>
        <p:txBody>
          <a:bodyPr/>
          <a:lstStyle/>
          <a:p>
            <a:fld id="{688EF870-5850-6643-A228-25AFAA8E2BB1}" type="slidenum">
              <a:rPr lang="en-US" smtClean="0"/>
              <a:t>28</a:t>
            </a:fld>
            <a:endParaRPr lang="en-US"/>
          </a:p>
        </p:txBody>
      </p:sp>
    </p:spTree>
    <p:extLst>
      <p:ext uri="{BB962C8B-B14F-4D97-AF65-F5344CB8AC3E}">
        <p14:creationId xmlns:p14="http://schemas.microsoft.com/office/powerpoint/2010/main" val="32382994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7D4F-D14F-9F31-01D5-161DF06DF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A9DFE-869A-17C2-26FA-C966E66A74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7C207-46A7-38AB-94CD-9D309ACB82C5}"/>
              </a:ext>
            </a:extLst>
          </p:cNvPr>
          <p:cNvSpPr>
            <a:spLocks noGrp="1"/>
          </p:cNvSpPr>
          <p:nvPr>
            <p:ph type="body" idx="1"/>
          </p:nvPr>
        </p:nvSpPr>
        <p:spPr/>
        <p:txBody>
          <a:bodyPr/>
          <a:lstStyle/>
          <a:p>
            <a:r>
              <a:rPr lang="en-US" dirty="0"/>
              <a:t>This is the original slide before its components were combined into a single  image, for accessibility purposes, in this slide deck. Use this slide to update content and then recreate the image for the associated slide in the lesson.</a:t>
            </a:r>
          </a:p>
        </p:txBody>
      </p:sp>
      <p:sp>
        <p:nvSpPr>
          <p:cNvPr id="4" name="Slide Number Placeholder 3">
            <a:extLst>
              <a:ext uri="{FF2B5EF4-FFF2-40B4-BE49-F238E27FC236}">
                <a16:creationId xmlns:a16="http://schemas.microsoft.com/office/drawing/2014/main" id="{A7D10C77-099B-791E-C43E-930B93313E7B}"/>
              </a:ext>
            </a:extLst>
          </p:cNvPr>
          <p:cNvSpPr>
            <a:spLocks noGrp="1"/>
          </p:cNvSpPr>
          <p:nvPr>
            <p:ph type="sldNum" sz="quarter" idx="5"/>
          </p:nvPr>
        </p:nvSpPr>
        <p:spPr/>
        <p:txBody>
          <a:bodyPr/>
          <a:lstStyle/>
          <a:p>
            <a:fld id="{688EF870-5850-6643-A228-25AFAA8E2BB1}" type="slidenum">
              <a:rPr lang="en-US" smtClean="0"/>
              <a:t>29</a:t>
            </a:fld>
            <a:endParaRPr lang="en-US"/>
          </a:p>
        </p:txBody>
      </p:sp>
    </p:spTree>
    <p:extLst>
      <p:ext uri="{BB962C8B-B14F-4D97-AF65-F5344CB8AC3E}">
        <p14:creationId xmlns:p14="http://schemas.microsoft.com/office/powerpoint/2010/main" val="10075633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344FF-24EA-BA44-D97F-C6FF5780CA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548A3-4189-3CC3-C072-09F1FB4015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B782F-96CA-9824-2939-9BEB668D07DE}"/>
              </a:ext>
            </a:extLst>
          </p:cNvPr>
          <p:cNvSpPr>
            <a:spLocks noGrp="1"/>
          </p:cNvSpPr>
          <p:nvPr>
            <p:ph type="body" idx="1"/>
          </p:nvPr>
        </p:nvSpPr>
        <p:spPr/>
        <p:txBody>
          <a:bodyPr/>
          <a:lstStyle/>
          <a:p>
            <a:r>
              <a:rPr lang="en-US" dirty="0"/>
              <a:t>This is the original slide before its components were combined into a single  image, for accessibility purposes, in this slide deck. </a:t>
            </a:r>
            <a:r>
              <a:rPr lang="en-US"/>
              <a:t>Use this slide to update content and then recreate the image for the associated slide in the lesson.</a:t>
            </a:r>
            <a:endParaRPr lang="en-US" dirty="0"/>
          </a:p>
        </p:txBody>
      </p:sp>
      <p:sp>
        <p:nvSpPr>
          <p:cNvPr id="4" name="Slide Number Placeholder 3">
            <a:extLst>
              <a:ext uri="{FF2B5EF4-FFF2-40B4-BE49-F238E27FC236}">
                <a16:creationId xmlns:a16="http://schemas.microsoft.com/office/drawing/2014/main" id="{4BD866EA-505D-913F-7716-B7413169352B}"/>
              </a:ext>
            </a:extLst>
          </p:cNvPr>
          <p:cNvSpPr>
            <a:spLocks noGrp="1"/>
          </p:cNvSpPr>
          <p:nvPr>
            <p:ph type="sldNum" sz="quarter" idx="5"/>
          </p:nvPr>
        </p:nvSpPr>
        <p:spPr/>
        <p:txBody>
          <a:bodyPr/>
          <a:lstStyle/>
          <a:p>
            <a:fld id="{688EF870-5850-6643-A228-25AFAA8E2BB1}" type="slidenum">
              <a:rPr lang="en-US" smtClean="0"/>
              <a:t>30</a:t>
            </a:fld>
            <a:endParaRPr lang="en-US"/>
          </a:p>
        </p:txBody>
      </p:sp>
    </p:spTree>
    <p:extLst>
      <p:ext uri="{BB962C8B-B14F-4D97-AF65-F5344CB8AC3E}">
        <p14:creationId xmlns:p14="http://schemas.microsoft.com/office/powerpoint/2010/main" val="2555701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gradFill flip="none" rotWithShape="1">
          <a:gsLst>
            <a:gs pos="40000">
              <a:srgbClr val="330066"/>
            </a:gs>
            <a:gs pos="0">
              <a:srgbClr val="2C2C2C"/>
            </a:gs>
            <a:gs pos="100000">
              <a:srgbClr val="2C2C2C"/>
            </a:gs>
            <a:gs pos="75000">
              <a:srgbClr val="0070C0"/>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5" name="Title 4">
            <a:extLst>
              <a:ext uri="{FF2B5EF4-FFF2-40B4-BE49-F238E27FC236}">
                <a16:creationId xmlns:a16="http://schemas.microsoft.com/office/drawing/2014/main" id="{08D269A5-D107-2782-1600-9CFF8B439252}"/>
              </a:ext>
            </a:extLst>
          </p:cNvPr>
          <p:cNvSpPr>
            <a:spLocks noGrp="1"/>
          </p:cNvSpPr>
          <p:nvPr>
            <p:ph type="title" idx="1" hasCustomPrompt="1"/>
          </p:nvPr>
        </p:nvSpPr>
        <p:spPr>
          <a:xfrm>
            <a:off x="401652" y="1565366"/>
            <a:ext cx="11430684" cy="2194560"/>
          </a:xfrm>
        </p:spPr>
        <p:txBody>
          <a:bodyPr anchor="b">
            <a:normAutofit/>
          </a:bodyPr>
          <a:lstStyle>
            <a:lvl1pPr>
              <a:defRPr sz="4800" b="1" i="0">
                <a:solidFill>
                  <a:srgbClr val="F1F3F3"/>
                </a:solidFill>
                <a:latin typeface="Amazon Ember Heavy" panose="020B0603020204020204" pitchFamily="34" charset="0"/>
                <a:ea typeface="Amazon Ember Heavy" panose="020B0603020204020204" pitchFamily="34" charset="0"/>
                <a:cs typeface="Amazon Ember Heavy" panose="020B0603020204020204" pitchFamily="34" charset="0"/>
              </a:defRPr>
            </a:lvl1pPr>
          </a:lstStyle>
          <a:p>
            <a:r>
              <a:rPr lang="en-US" dirty="0"/>
              <a:t>Enter lesson title</a:t>
            </a:r>
          </a:p>
        </p:txBody>
      </p:sp>
      <p:sp>
        <p:nvSpPr>
          <p:cNvPr id="6" name="Text Placeholder 5">
            <a:extLst>
              <a:ext uri="{FF2B5EF4-FFF2-40B4-BE49-F238E27FC236}">
                <a16:creationId xmlns:a16="http://schemas.microsoft.com/office/drawing/2014/main" id="{56B61F05-1C18-7A17-A21D-C93186B1401A}"/>
              </a:ext>
            </a:extLst>
          </p:cNvPr>
          <p:cNvSpPr>
            <a:spLocks noGrp="1"/>
          </p:cNvSpPr>
          <p:nvPr>
            <p:ph type="body" idx="2" hasCustomPrompt="1"/>
          </p:nvPr>
        </p:nvSpPr>
        <p:spPr>
          <a:xfrm>
            <a:off x="401652" y="4072344"/>
            <a:ext cx="8412479" cy="548641"/>
          </a:xfrm>
        </p:spPr>
        <p:txBody>
          <a:bodyPr>
            <a:normAutofit/>
          </a:bodyPr>
          <a:lstStyle>
            <a:lvl1pPr marL="0" indent="0">
              <a:buNone/>
              <a:defRPr sz="3200" i="1">
                <a:solidFill>
                  <a:srgbClr val="F1F3F3"/>
                </a:solidFill>
                <a:latin typeface="+mn-lt"/>
              </a:defRPr>
            </a:lvl1pPr>
          </a:lstStyle>
          <a:p>
            <a:r>
              <a:rPr lang="en-US" dirty="0"/>
              <a:t>Enter course name</a:t>
            </a:r>
          </a:p>
        </p:txBody>
      </p:sp>
      <p:sp>
        <p:nvSpPr>
          <p:cNvPr id="8" name="Text Placeholder 5">
            <a:extLst>
              <a:ext uri="{FF2B5EF4-FFF2-40B4-BE49-F238E27FC236}">
                <a16:creationId xmlns:a16="http://schemas.microsoft.com/office/drawing/2014/main" id="{98007F72-4142-F93E-B4D8-E79E478801B1}"/>
              </a:ext>
            </a:extLst>
          </p:cNvPr>
          <p:cNvSpPr>
            <a:spLocks noGrp="1"/>
          </p:cNvSpPr>
          <p:nvPr>
            <p:ph type="body" idx="98" hasCustomPrompt="1"/>
          </p:nvPr>
        </p:nvSpPr>
        <p:spPr>
          <a:xfrm>
            <a:off x="401652" y="4743994"/>
            <a:ext cx="5486400" cy="548640"/>
          </a:xfrm>
        </p:spPr>
        <p:txBody>
          <a:bodyPr>
            <a:normAutofit/>
          </a:bodyPr>
          <a:lstStyle>
            <a:lvl1pPr marL="0" indent="0">
              <a:buNone/>
              <a:defRPr sz="2800">
                <a:solidFill>
                  <a:srgbClr val="F1F3F3"/>
                </a:solidFill>
                <a:latin typeface="+mn-lt"/>
              </a:defRPr>
            </a:lvl1pPr>
          </a:lstStyle>
          <a:p>
            <a:r>
              <a:rPr lang="en-US" dirty="0"/>
              <a:t>Module # - Lesson #</a:t>
            </a:r>
          </a:p>
        </p:txBody>
      </p:sp>
    </p:spTree>
    <p:extLst>
      <p:ext uri="{BB962C8B-B14F-4D97-AF65-F5344CB8AC3E}">
        <p14:creationId xmlns:p14="http://schemas.microsoft.com/office/powerpoint/2010/main" val="32195668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Quote slide">
    <p:bg>
      <p:bgPr>
        <a:gradFill>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50000" t="50000" r="50000" b="50000"/>
          </a:path>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2435469"/>
            <a:ext cx="11472013" cy="1960803"/>
          </a:xfrm>
        </p:spPr>
        <p:txBody>
          <a:bodyPr anchor="ctr">
            <a:normAutofit/>
          </a:bodyPr>
          <a:lstStyle>
            <a:lvl1pPr>
              <a:defRPr sz="4000">
                <a:solidFill>
                  <a:schemeClr val="bg2"/>
                </a:solidFill>
                <a:latin typeface="Amazon Ember Display Heavy"/>
              </a:defRPr>
            </a:lvl1pPr>
          </a:lstStyle>
          <a:p>
            <a:r>
              <a:rPr lang="en-US" dirty="0"/>
              <a:t>“Enter quote here”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6096000" y="4624991"/>
            <a:ext cx="5741773" cy="770066"/>
          </a:xfrm>
        </p:spPr>
        <p:txBody>
          <a:bodyPr>
            <a:noAutofit/>
          </a:bodyPr>
          <a:lstStyle>
            <a:lvl1pPr marL="0" indent="0">
              <a:buNone/>
              <a:defRPr sz="2800">
                <a:solidFill>
                  <a:schemeClr val="bg2"/>
                </a:solidFill>
              </a:defRPr>
            </a:lvl1pPr>
          </a:lstStyle>
          <a:p>
            <a:r>
              <a:rPr lang="en-US" dirty="0"/>
              <a:t>- Attribution</a:t>
            </a:r>
          </a:p>
        </p:txBody>
      </p:sp>
    </p:spTree>
    <p:extLst>
      <p:ext uri="{BB962C8B-B14F-4D97-AF65-F5344CB8AC3E}">
        <p14:creationId xmlns:p14="http://schemas.microsoft.com/office/powerpoint/2010/main" val="391379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opic Introduction">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8A78E8-6AA2-E26A-BE84-51DCD543A1DF}"/>
              </a:ext>
            </a:extLst>
          </p:cNvPr>
          <p:cNvSpPr/>
          <p:nvPr/>
        </p:nvSpPr>
        <p:spPr>
          <a:xfrm>
            <a:off x="0" y="11648"/>
            <a:ext cx="4434840" cy="6858000"/>
          </a:xfrm>
          <a:prstGeom prst="rect">
            <a:avLst/>
          </a:prstGeom>
          <a:gradFill flip="none" rotWithShape="1">
            <a:gsLst>
              <a:gs pos="0">
                <a:srgbClr val="47008F">
                  <a:lumMod val="90000"/>
                  <a:lumOff val="10000"/>
                </a:srgbClr>
              </a:gs>
              <a:gs pos="23000">
                <a:srgbClr val="47008F">
                  <a:lumMod val="97000"/>
                  <a:lumOff val="3000"/>
                </a:srgbClr>
              </a:gs>
              <a:gs pos="69000">
                <a:srgbClr val="47008F">
                  <a:lumMod val="83000"/>
                </a:srgbClr>
              </a:gs>
              <a:gs pos="97000">
                <a:srgbClr val="47008F">
                  <a:lumMod val="73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lnSpc>
                <a:spcPct val="100000"/>
              </a:lnSpc>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image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buClr>
                <a:schemeClr val="tx2"/>
              </a:buClr>
              <a:defRPr sz="2800">
                <a:solidFill>
                  <a:srgbClr val="232F3E"/>
                </a:solidFill>
                <a:latin typeface="+mn-lt"/>
              </a:defRPr>
            </a:lvl1pPr>
            <a:lvl2pPr marL="461963" indent="-228600">
              <a:lnSpc>
                <a:spcPct val="100000"/>
              </a:lnSpc>
              <a:spcAft>
                <a:spcPts val="600"/>
              </a:spcAft>
              <a:buClr>
                <a:schemeClr val="tx2"/>
              </a:buClr>
              <a:defRPr sz="2400">
                <a:solidFill>
                  <a:srgbClr val="232F3E"/>
                </a:solidFill>
                <a:latin typeface="+mn-lt"/>
              </a:defRPr>
            </a:lvl2pPr>
            <a:lvl3pPr marL="684213" indent="-228600">
              <a:lnSpc>
                <a:spcPct val="100000"/>
              </a:lnSpc>
              <a:spcAft>
                <a:spcPts val="600"/>
              </a:spcAft>
              <a:buClr>
                <a:schemeClr val="tx2"/>
              </a:buClr>
              <a:defRPr sz="2200">
                <a:solidFill>
                  <a:srgbClr val="232F3E"/>
                </a:solidFill>
                <a:latin typeface="+mn-lt"/>
              </a:defRPr>
            </a:lvl3pPr>
            <a:lvl4pPr marL="914400" indent="-228600">
              <a:lnSpc>
                <a:spcPct val="100000"/>
              </a:lnSpc>
              <a:spcAft>
                <a:spcPts val="600"/>
              </a:spcAft>
              <a:buClr>
                <a:schemeClr val="tx2"/>
              </a:buClr>
              <a:defRPr sz="1800">
                <a:solidFill>
                  <a:srgbClr val="232F3E"/>
                </a:solidFill>
                <a:latin typeface="+mn-lt"/>
              </a:defRPr>
            </a:lvl4pPr>
            <a:lvl5pPr marL="1144588" indent="-228600">
              <a:lnSpc>
                <a:spcPct val="100000"/>
              </a:lnSpc>
              <a:spcAft>
                <a:spcPts val="600"/>
              </a:spcAft>
              <a:buClr>
                <a:schemeClr val="tx2"/>
              </a:buClr>
              <a:defRPr sz="1800">
                <a:solidFill>
                  <a:srgbClr val="232F3E"/>
                </a:solidFill>
                <a:latin typeface="+mn-lt"/>
              </a:defRPr>
            </a:lvl5pPr>
            <a:lvl7pPr marL="2743200" indent="0">
              <a:buNone/>
              <a:defRPr/>
            </a:lvl7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17426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00880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183340"/>
            <a:ext cx="11466576" cy="5244891"/>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Import libraries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from </a:t>
            </a:r>
            <a:r>
              <a:rPr lang="en-US" dirty="0" err="1"/>
              <a:t>autogluon.tabular</a:t>
            </a:r>
            <a:r>
              <a:rPr lang="en-US" dirty="0"/>
              <a:t> import </a:t>
            </a:r>
            <a:r>
              <a:rPr lang="en-US" dirty="0" err="1"/>
              <a:t>TabularPredictor</a:t>
            </a: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Create the model</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predictor = </a:t>
            </a:r>
            <a:r>
              <a:rPr lang="en-US" dirty="0" err="1"/>
              <a:t>TabularPredictor</a:t>
            </a:r>
            <a:r>
              <a:rPr lang="en-US" dirty="0"/>
              <a:t>(label="Price").fit("</a:t>
            </a:r>
            <a:r>
              <a:rPr lang="en-US" dirty="0" err="1"/>
              <a:t>train.csv</a:t>
            </a:r>
            <a:r>
              <a:rPr lang="en-US" dirty="0"/>
              <a:t>")</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endParaRPr lang="en-US" dirty="0"/>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 Get predictions</a:t>
            </a:r>
          </a:p>
          <a:p>
            <a:pPr marL="0" marR="0" lvl="0" indent="0" algn="l" defTabSz="914400" rtl="0" eaLnBrk="1" fontAlgn="auto" latinLnBrk="0" hangingPunct="1">
              <a:lnSpc>
                <a:spcPct val="90000"/>
              </a:lnSpc>
              <a:spcBef>
                <a:spcPts val="0"/>
              </a:spcBef>
              <a:spcAft>
                <a:spcPts val="0"/>
              </a:spcAft>
              <a:buClrTx/>
              <a:buSzTx/>
              <a:buFont typeface="Amazon Ember Display"/>
              <a:buNone/>
              <a:tabLst/>
              <a:defRPr/>
            </a:pPr>
            <a:r>
              <a:rPr lang="en-US" dirty="0"/>
              <a:t>predictions = </a:t>
            </a:r>
            <a:r>
              <a:rPr lang="en-US" dirty="0" err="1"/>
              <a:t>predictor.predict</a:t>
            </a:r>
            <a:r>
              <a:rPr lang="en-US" dirty="0"/>
              <a:t>("</a:t>
            </a:r>
            <a:r>
              <a:rPr lang="en-US" dirty="0" err="1"/>
              <a:t>test.csv</a:t>
            </a:r>
            <a:r>
              <a:rPr lang="en-US" dirty="0"/>
              <a:t>")</a:t>
            </a:r>
          </a:p>
        </p:txBody>
      </p:sp>
    </p:spTree>
    <p:custDataLst>
      <p:tags r:id="rId1"/>
    </p:custDataLst>
    <p:extLst>
      <p:ext uri="{BB962C8B-B14F-4D97-AF65-F5344CB8AC3E}">
        <p14:creationId xmlns:p14="http://schemas.microsoft.com/office/powerpoint/2010/main" val="410025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Title, Text,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buClr>
                <a:schemeClr val="tx2"/>
              </a:buClr>
              <a:defRPr>
                <a:solidFill>
                  <a:srgbClr val="232F3E"/>
                </a:solidFill>
              </a:defRPr>
            </a:lvl1pPr>
            <a:lvl2pPr marL="461963" indent="-228600">
              <a:lnSpc>
                <a:spcPct val="100000"/>
              </a:lnSpc>
              <a:spcBef>
                <a:spcPts val="500"/>
              </a:spcBef>
              <a:spcAft>
                <a:spcPts val="600"/>
              </a:spcAft>
              <a:buClr>
                <a:schemeClr val="tx2"/>
              </a:buClr>
              <a:defRPr>
                <a:solidFill>
                  <a:srgbClr val="232F3E"/>
                </a:solidFill>
              </a:defRPr>
            </a:lvl2pPr>
            <a:lvl3pPr marL="682625" indent="-228600">
              <a:lnSpc>
                <a:spcPct val="100000"/>
              </a:lnSpc>
              <a:spcBef>
                <a:spcPts val="500"/>
              </a:spcBef>
              <a:spcAft>
                <a:spcPts val="600"/>
              </a:spcAft>
              <a:buClr>
                <a:schemeClr val="tx2"/>
              </a:buClr>
              <a:defRPr sz="2200">
                <a:solidFill>
                  <a:srgbClr val="232F3E"/>
                </a:solidFill>
              </a:defRPr>
            </a:lvl3pPr>
            <a:lvl4pPr marL="914400" indent="-228600">
              <a:lnSpc>
                <a:spcPct val="100000"/>
              </a:lnSpc>
              <a:spcBef>
                <a:spcPts val="500"/>
              </a:spcBef>
              <a:spcAft>
                <a:spcPts val="600"/>
              </a:spcAft>
              <a:buClr>
                <a:schemeClr val="tx2"/>
              </a:buClr>
              <a:defRPr sz="2000">
                <a:solidFill>
                  <a:srgbClr val="232F3E"/>
                </a:solidFill>
              </a:defRPr>
            </a:lvl4pPr>
            <a:lvl5pPr marL="1146175" indent="-228600">
              <a:lnSpc>
                <a:spcPct val="100000"/>
              </a:lnSpc>
              <a:spcBef>
                <a:spcPts val="500"/>
              </a:spcBef>
              <a:spcAft>
                <a:spcPts val="600"/>
              </a:spcAft>
              <a:buClr>
                <a:schemeClr val="tx2"/>
              </a:buClr>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971729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defRPr>
            </a:lvl1pPr>
          </a:lstStyle>
          <a:p>
            <a:r>
              <a:rPr lang="en-US" dirty="0">
                <a:latin typeface="Amazon Ember Display Heavy" panose="04020705040A02060702" pitchFamily="82" charset="0"/>
              </a:rPr>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defRPr>
            </a:lvl1pPr>
            <a:lvl2pPr marL="461963"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1907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only</a:t>
            </a:r>
          </a:p>
        </p:txBody>
      </p:sp>
    </p:spTree>
    <p:custDataLst>
      <p:tags r:id="rId1"/>
    </p:custDataLst>
    <p:extLst>
      <p:ext uri="{BB962C8B-B14F-4D97-AF65-F5344CB8AC3E}">
        <p14:creationId xmlns:p14="http://schemas.microsoft.com/office/powerpoint/2010/main" val="323259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ptional">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lIns="91440" tIns="45720" rIns="91440" bIns="45720"/>
          <a:lstStyle>
            <a:lvl1pPr>
              <a:lnSpc>
                <a:spcPct val="100000"/>
              </a:lnSpc>
              <a:defRPr>
                <a:solidFill>
                  <a:srgbClr val="232F3E"/>
                </a:solidFill>
                <a:latin typeface="Amazon Ember Display Heavy"/>
              </a:defRPr>
            </a:lvl1pPr>
          </a:lstStyle>
          <a:p>
            <a:r>
              <a:rPr lang="en-US" dirty="0"/>
              <a:t>Title optional</a:t>
            </a:r>
          </a:p>
        </p:txBody>
      </p:sp>
    </p:spTree>
    <p:custDataLst>
      <p:tags r:id="rId1"/>
    </p:custDataLst>
    <p:extLst>
      <p:ext uri="{BB962C8B-B14F-4D97-AF65-F5344CB8AC3E}">
        <p14:creationId xmlns:p14="http://schemas.microsoft.com/office/powerpoint/2010/main" val="1999876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p:bg>
      <p:bgPr>
        <a:gradFill flip="none" rotWithShape="1">
          <a:gsLst>
            <a:gs pos="0">
              <a:srgbClr val="2C2C2C"/>
            </a:gs>
            <a:gs pos="40000">
              <a:srgbClr val="330066"/>
            </a:gs>
            <a:gs pos="75000">
              <a:srgbClr val="0070C0"/>
            </a:gs>
            <a:gs pos="97000">
              <a:srgbClr val="2C2C2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86A8BF56-6CB3-514C-9A64-F39D95C9E25B}" type="slidenum">
              <a:rPr lang="en-US" smtClean="0"/>
              <a:t>‹#›</a:t>
            </a:fld>
            <a:endParaRPr lang="en-US"/>
          </a:p>
        </p:txBody>
      </p:sp>
      <p:sp>
        <p:nvSpPr>
          <p:cNvPr id="4" name="TextBox 3">
            <a:extLst>
              <a:ext uri="{FF2B5EF4-FFF2-40B4-BE49-F238E27FC236}">
                <a16:creationId xmlns:a16="http://schemas.microsoft.com/office/drawing/2014/main" id="{D71A17E9-D485-4DA4-B2AE-3F2D6BBB097D}"/>
              </a:ext>
            </a:extLst>
          </p:cNvPr>
          <p:cNvSpPr txBox="1"/>
          <p:nvPr/>
        </p:nvSpPr>
        <p:spPr>
          <a:xfrm>
            <a:off x="6671462" y="5121212"/>
            <a:ext cx="4415246" cy="769441"/>
          </a:xfrm>
          <a:prstGeom prst="rect">
            <a:avLst/>
          </a:prstGeom>
          <a:noFill/>
        </p:spPr>
        <p:txBody>
          <a:bodyPr wrap="square" rtlCol="0">
            <a:spAutoFit/>
          </a:bodyPr>
          <a:lstStyle/>
          <a:p>
            <a:pPr algn="ctr"/>
            <a:r>
              <a:rPr lang="en-US" sz="4400" dirty="0">
                <a:solidFill>
                  <a:schemeClr val="bg1"/>
                </a:solidFill>
              </a:rPr>
              <a:t>Thank you!</a:t>
            </a:r>
          </a:p>
        </p:txBody>
      </p:sp>
      <p:grpSp>
        <p:nvGrpSpPr>
          <p:cNvPr id="5" name="Group 4">
            <a:extLst>
              <a:ext uri="{FF2B5EF4-FFF2-40B4-BE49-F238E27FC236}">
                <a16:creationId xmlns:a16="http://schemas.microsoft.com/office/drawing/2014/main" id="{3603BAED-C218-4493-92DB-15D5FF4C08C1}"/>
              </a:ext>
            </a:extLst>
          </p:cNvPr>
          <p:cNvGrpSpPr/>
          <p:nvPr/>
        </p:nvGrpSpPr>
        <p:grpSpPr>
          <a:xfrm>
            <a:off x="7405848" y="2400065"/>
            <a:ext cx="2946474" cy="2615329"/>
            <a:chOff x="3288681" y="1271382"/>
            <a:chExt cx="3657600" cy="3246535"/>
          </a:xfrm>
        </p:grpSpPr>
        <p:grpSp>
          <p:nvGrpSpPr>
            <p:cNvPr id="8" name="Group 7">
              <a:extLst>
                <a:ext uri="{FF2B5EF4-FFF2-40B4-BE49-F238E27FC236}">
                  <a16:creationId xmlns:a16="http://schemas.microsoft.com/office/drawing/2014/main" id="{97EE457E-20AD-45C7-9922-9F6A90981CF3}"/>
                </a:ext>
              </a:extLst>
            </p:cNvPr>
            <p:cNvGrpSpPr/>
            <p:nvPr/>
          </p:nvGrpSpPr>
          <p:grpSpPr>
            <a:xfrm>
              <a:off x="4520584" y="2134033"/>
              <a:ext cx="1206148" cy="365126"/>
              <a:chOff x="5424840" y="3468510"/>
              <a:chExt cx="1206148" cy="365126"/>
            </a:xfrm>
            <a:solidFill>
              <a:schemeClr val="bg1"/>
            </a:solidFill>
          </p:grpSpPr>
          <p:sp>
            <p:nvSpPr>
              <p:cNvPr id="9" name="Oval 8">
                <a:extLst>
                  <a:ext uri="{FF2B5EF4-FFF2-40B4-BE49-F238E27FC236}">
                    <a16:creationId xmlns:a16="http://schemas.microsoft.com/office/drawing/2014/main" id="{7C872F8E-C191-47BD-A5D0-340D828994BF}"/>
                  </a:ext>
                </a:extLst>
              </p:cNvPr>
              <p:cNvSpPr/>
              <p:nvPr/>
            </p:nvSpPr>
            <p:spPr>
              <a:xfrm>
                <a:off x="5424840"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DE3F5C2-97FE-480F-B861-BCDAD2A408AC}"/>
                  </a:ext>
                </a:extLst>
              </p:cNvPr>
              <p:cNvSpPr/>
              <p:nvPr/>
            </p:nvSpPr>
            <p:spPr>
              <a:xfrm>
                <a:off x="6265862" y="3468510"/>
                <a:ext cx="365126" cy="365126"/>
              </a:xfrm>
              <a:prstGeom prst="ellipse">
                <a:avLst/>
              </a:prstGeom>
              <a:grpFill/>
              <a:ln w="1174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AAF6B964-0C6D-4A72-AAB3-59AF6B7E5AC7}"/>
                </a:ext>
              </a:extLst>
            </p:cNvPr>
            <p:cNvSpPr/>
            <p:nvPr/>
          </p:nvSpPr>
          <p:spPr>
            <a:xfrm>
              <a:off x="4026378" y="1729398"/>
              <a:ext cx="2194560" cy="118872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E6825AB-CA44-4652-9932-F35604DBDEC4}"/>
                </a:ext>
              </a:extLst>
            </p:cNvPr>
            <p:cNvSpPr/>
            <p:nvPr/>
          </p:nvSpPr>
          <p:spPr>
            <a:xfrm>
              <a:off x="4026378" y="1272198"/>
              <a:ext cx="2194560" cy="45720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2B4B5E-1650-4605-B6D3-AD8004E2324E}"/>
                </a:ext>
              </a:extLst>
            </p:cNvPr>
            <p:cNvCxnSpPr>
              <a:cxnSpLocks/>
            </p:cNvCxnSpPr>
            <p:nvPr/>
          </p:nvCxnSpPr>
          <p:spPr>
            <a:xfrm>
              <a:off x="3288681" y="1271382"/>
              <a:ext cx="3657600" cy="0"/>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D723D12-12B1-494E-BB81-55C2CC9CF193}"/>
                </a:ext>
              </a:extLst>
            </p:cNvPr>
            <p:cNvCxnSpPr>
              <a:cxnSpLocks/>
            </p:cNvCxnSpPr>
            <p:nvPr/>
          </p:nvCxnSpPr>
          <p:spPr>
            <a:xfrm>
              <a:off x="3621747" y="1325147"/>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08C2E83B-9A5C-4B09-8EF1-304F16F06266}"/>
                </a:ext>
              </a:extLst>
            </p:cNvPr>
            <p:cNvSpPr/>
            <p:nvPr/>
          </p:nvSpPr>
          <p:spPr>
            <a:xfrm>
              <a:off x="4575018" y="2917332"/>
              <a:ext cx="1097280" cy="1021580"/>
            </a:xfrm>
            <a:prstGeom prst="rect">
              <a:avLst/>
            </a:prstGeom>
            <a:noFill/>
            <a:ln w="11747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0F5C88A-DF5B-4449-97AC-74904B4DF3B6}"/>
                </a:ext>
              </a:extLst>
            </p:cNvPr>
            <p:cNvGrpSpPr/>
            <p:nvPr/>
          </p:nvGrpSpPr>
          <p:grpSpPr>
            <a:xfrm>
              <a:off x="4297506" y="3097059"/>
              <a:ext cx="1652305" cy="567544"/>
              <a:chOff x="5175577" y="4431536"/>
              <a:chExt cx="1652305" cy="567544"/>
            </a:xfrm>
          </p:grpSpPr>
          <p:cxnSp>
            <p:nvCxnSpPr>
              <p:cNvPr id="17" name="Straight Connector 16">
                <a:extLst>
                  <a:ext uri="{FF2B5EF4-FFF2-40B4-BE49-F238E27FC236}">
                    <a16:creationId xmlns:a16="http://schemas.microsoft.com/office/drawing/2014/main" id="{556C72D9-DCFF-4844-905D-A1FA40AF318A}"/>
                  </a:ext>
                </a:extLst>
              </p:cNvPr>
              <p:cNvCxnSpPr>
                <a:cxnSpLocks/>
              </p:cNvCxnSpPr>
              <p:nvPr/>
            </p:nvCxnSpPr>
            <p:spPr>
              <a:xfrm>
                <a:off x="5175577"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CD66E4-DCDC-423C-92F8-A6BCB7C9F7F1}"/>
                  </a:ext>
                </a:extLst>
              </p:cNvPr>
              <p:cNvCxnSpPr>
                <a:cxnSpLocks/>
              </p:cNvCxnSpPr>
              <p:nvPr/>
            </p:nvCxnSpPr>
            <p:spPr>
              <a:xfrm>
                <a:off x="6827882" y="4431536"/>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D45858A7-4589-4E1D-A7C8-6D1EF02FDDEF}"/>
                </a:ext>
              </a:extLst>
            </p:cNvPr>
            <p:cNvGrpSpPr/>
            <p:nvPr/>
          </p:nvGrpSpPr>
          <p:grpSpPr>
            <a:xfrm>
              <a:off x="4881204" y="3949770"/>
              <a:ext cx="484909" cy="568147"/>
              <a:chOff x="5768311" y="5309299"/>
              <a:chExt cx="484909" cy="568147"/>
            </a:xfrm>
          </p:grpSpPr>
          <p:cxnSp>
            <p:nvCxnSpPr>
              <p:cNvPr id="20" name="Straight Connector 19">
                <a:extLst>
                  <a:ext uri="{FF2B5EF4-FFF2-40B4-BE49-F238E27FC236}">
                    <a16:creationId xmlns:a16="http://schemas.microsoft.com/office/drawing/2014/main" id="{C54C8AC8-EC33-4E49-8D93-3DE13BFC98D8}"/>
                  </a:ext>
                </a:extLst>
              </p:cNvPr>
              <p:cNvCxnSpPr>
                <a:cxnSpLocks/>
              </p:cNvCxnSpPr>
              <p:nvPr/>
            </p:nvCxnSpPr>
            <p:spPr>
              <a:xfrm>
                <a:off x="5768311" y="5309299"/>
                <a:ext cx="0" cy="567545"/>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A20822B-432B-4785-8E1A-968761BFE9C2}"/>
                  </a:ext>
                </a:extLst>
              </p:cNvPr>
              <p:cNvCxnSpPr>
                <a:cxnSpLocks/>
              </p:cNvCxnSpPr>
              <p:nvPr/>
            </p:nvCxnSpPr>
            <p:spPr>
              <a:xfrm>
                <a:off x="6253220" y="5309902"/>
                <a:ext cx="0" cy="567544"/>
              </a:xfrm>
              <a:prstGeom prst="line">
                <a:avLst/>
              </a:prstGeom>
              <a:ln w="1174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1066275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xt Slide">
    <p:bg>
      <p:bgPr>
        <a:solidFill>
          <a:srgbClr val="F4F4F4"/>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0982A3-A8A9-4567-8879-123E743C8675}"/>
              </a:ext>
            </a:extLst>
          </p:cNvPr>
          <p:cNvSpPr/>
          <p:nvPr userDrawn="1"/>
        </p:nvSpPr>
        <p:spPr>
          <a:xfrm>
            <a:off x="0" y="-3273"/>
            <a:ext cx="12192000" cy="1384301"/>
          </a:xfrm>
          <a:prstGeom prst="rect">
            <a:avLst/>
          </a:prstGeom>
          <a:gradFill flip="none" rotWithShape="1">
            <a:gsLst>
              <a:gs pos="45000">
                <a:schemeClr val="tx2"/>
              </a:gs>
              <a:gs pos="0">
                <a:schemeClr val="tx1"/>
              </a:gs>
              <a:gs pos="79000">
                <a:schemeClr val="accent1"/>
              </a:gs>
              <a:gs pos="100000">
                <a:srgbClr val="7CE8F4"/>
              </a:gs>
            </a:gsLst>
            <a:lin ang="195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13" name="Slide Number Placeholder 5">
            <a:extLst>
              <a:ext uri="{FF2B5EF4-FFF2-40B4-BE49-F238E27FC236}">
                <a16:creationId xmlns:a16="http://schemas.microsoft.com/office/drawing/2014/main" id="{6C283E9D-F50D-439E-8A38-69DC0A8D8C07}"/>
              </a:ext>
            </a:extLst>
          </p:cNvPr>
          <p:cNvSpPr>
            <a:spLocks noGrp="1"/>
          </p:cNvSpPr>
          <p:nvPr>
            <p:ph type="sldNum" sz="quarter" idx="12"/>
          </p:nvPr>
        </p:nvSpPr>
        <p:spPr>
          <a:xfrm>
            <a:off x="7428974" y="6356866"/>
            <a:ext cx="4032605" cy="365125"/>
          </a:xfrm>
          <a:prstGeom prst="rect">
            <a:avLst/>
          </a:prstGeom>
        </p:spPr>
        <p:txBody>
          <a:bodyPr/>
          <a:lstStyle>
            <a:lvl1pPr algn="r">
              <a:defRPr sz="14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1" name="Title 1">
            <a:extLst>
              <a:ext uri="{FF2B5EF4-FFF2-40B4-BE49-F238E27FC236}">
                <a16:creationId xmlns:a16="http://schemas.microsoft.com/office/drawing/2014/main" id="{9BC1588F-094F-4A81-B38F-FA160FF57D64}"/>
              </a:ext>
            </a:extLst>
          </p:cNvPr>
          <p:cNvSpPr>
            <a:spLocks noGrp="1"/>
          </p:cNvSpPr>
          <p:nvPr>
            <p:ph type="title" hasCustomPrompt="1"/>
          </p:nvPr>
        </p:nvSpPr>
        <p:spPr bwMode="white">
          <a:xfrm>
            <a:off x="648227" y="154945"/>
            <a:ext cx="10928422" cy="1061238"/>
          </a:xfrm>
          <a:prstGeom prst="rect">
            <a:avLst/>
          </a:prstGeom>
        </p:spPr>
        <p:txBody>
          <a:bodyPr>
            <a:normAutofit/>
          </a:bodyPr>
          <a:lstStyle>
            <a:lvl1pPr fontAlgn="t">
              <a:defRPr sz="4400" baseline="0">
                <a:solidFill>
                  <a:schemeClr val="bg1"/>
                </a:solidFill>
                <a:latin typeface="Amazon Ember Medium" panose="020B0603020204030204" pitchFamily="34" charset="0"/>
                <a:ea typeface="Amazon Ember Medium" panose="020B0603020204030204" pitchFamily="34" charset="0"/>
                <a:cs typeface="Amazon Ember Medium" panose="020B0603020204030204" pitchFamily="34" charset="0"/>
              </a:defRPr>
            </a:lvl1pPr>
          </a:lstStyle>
          <a:p>
            <a:r>
              <a:rPr lang="en-US" dirty="0"/>
              <a:t>[Text Slide Style]</a:t>
            </a:r>
          </a:p>
        </p:txBody>
      </p:sp>
      <p:sp>
        <p:nvSpPr>
          <p:cNvPr id="22" name="Text Placeholder 2">
            <a:extLst>
              <a:ext uri="{FF2B5EF4-FFF2-40B4-BE49-F238E27FC236}">
                <a16:creationId xmlns:a16="http://schemas.microsoft.com/office/drawing/2014/main" id="{532D1030-B066-460B-B596-5FF45CA1F896}"/>
              </a:ext>
            </a:extLst>
          </p:cNvPr>
          <p:cNvSpPr>
            <a:spLocks noGrp="1"/>
          </p:cNvSpPr>
          <p:nvPr>
            <p:ph idx="1" hasCustomPrompt="1"/>
          </p:nvPr>
        </p:nvSpPr>
        <p:spPr>
          <a:xfrm>
            <a:off x="648227" y="1673525"/>
            <a:ext cx="10928422" cy="4390845"/>
          </a:xfrm>
          <a:prstGeom prst="rect">
            <a:avLst/>
          </a:prstGeom>
        </p:spPr>
        <p:txBody>
          <a:bodyPr vert="horz" lIns="91440" tIns="45720" rIns="91440" bIns="45720" rtlCol="0">
            <a:noAutofit/>
          </a:bodyPr>
          <a:lstStyle>
            <a:lvl1pPr marL="344488" indent="-344488" defTabSz="91440">
              <a:lnSpc>
                <a:spcPct val="100000"/>
              </a:lnSpc>
              <a:spcBef>
                <a:spcPts val="0"/>
              </a:spcBef>
              <a:spcAft>
                <a:spcPts val="600"/>
              </a:spcAft>
              <a:buClr>
                <a:srgbClr val="1D212E"/>
              </a:buClr>
              <a:buSzPct val="100000"/>
              <a:buFontTx/>
              <a:buBlip>
                <a:blip r:embed="rId2">
                  <a:extLst>
                    <a:ext uri="{96DAC541-7B7A-43D3-8B79-37D633B846F1}">
                      <asvg:svgBlip xmlns:asvg="http://schemas.microsoft.com/office/drawing/2016/SVG/main" r:embed="rId3"/>
                    </a:ext>
                  </a:extLst>
                </a:blip>
              </a:buBlip>
              <a:tabLst>
                <a:tab pos="227013" algn="l"/>
              </a:tabLst>
              <a:defRPr sz="2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indent="-282575" defTabSz="114300">
              <a:lnSpc>
                <a:spcPct val="100000"/>
              </a:lnSpc>
              <a:spcBef>
                <a:spcPts val="0"/>
              </a:spcBef>
              <a:spcAft>
                <a:spcPts val="600"/>
              </a:spcAft>
              <a:buClr>
                <a:srgbClr val="1D212E"/>
              </a:buClr>
              <a:buFont typeface="Amazon Ember Light" panose="020B0403020204020204" pitchFamily="34" charset="0"/>
              <a:buChar char="»"/>
              <a:tabLst/>
              <a:defRPr sz="24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indent="-225425">
              <a:lnSpc>
                <a:spcPct val="100000"/>
              </a:lnSpc>
              <a:spcBef>
                <a:spcPts val="0"/>
              </a:spcBef>
              <a:spcAft>
                <a:spcPts val="600"/>
              </a:spcAft>
              <a:buClr>
                <a:srgbClr val="1D212E"/>
              </a:buClr>
              <a:buFont typeface="Amazon Ember Light" panose="020B0403020204020204" pitchFamily="34" charset="0"/>
              <a:buChar char="»"/>
              <a:tabLst>
                <a:tab pos="91440" algn="l"/>
              </a:tabLst>
              <a:defRPr sz="20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indent="-231775">
              <a:lnSpc>
                <a:spcPct val="100000"/>
              </a:lnSpc>
              <a:spcBef>
                <a:spcPts val="0"/>
              </a:spcBef>
              <a:spcAft>
                <a:spcPts val="400"/>
              </a:spcAft>
              <a:buClr>
                <a:srgbClr val="1D212E"/>
              </a:buClr>
              <a:buFont typeface="Amazon Ember Light" panose="020B0403020204020204" pitchFamily="34" charset="0"/>
              <a:buChar char="»"/>
              <a:tabLst>
                <a:tab pos="91440" algn="l"/>
              </a:tabLst>
              <a:defRPr sz="18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defTabSz="91440">
              <a:buClr>
                <a:srgbClr val="1D212E"/>
              </a:buClr>
              <a:buFont typeface="System Font Regular"/>
              <a:buNone/>
              <a:tabLst>
                <a:tab pos="91440" algn="l"/>
              </a:tabLst>
              <a:defRPr/>
            </a:lvl5pPr>
          </a:lstStyle>
          <a:p>
            <a:pPr lvl="0"/>
            <a:r>
              <a:rPr lang="en-US" dirty="0"/>
              <a:t>Use bullets sparingly, keep text brief</a:t>
            </a:r>
          </a:p>
          <a:p>
            <a:pPr lvl="1"/>
            <a:r>
              <a:rPr lang="en-US" dirty="0"/>
              <a:t>Second level</a:t>
            </a:r>
          </a:p>
          <a:p>
            <a:pPr lvl="2"/>
            <a:r>
              <a:rPr lang="en-US" dirty="0"/>
              <a:t>Third level</a:t>
            </a:r>
          </a:p>
          <a:p>
            <a:pPr lvl="3"/>
            <a:r>
              <a:rPr lang="en-US" dirty="0"/>
              <a:t>Fourth level</a:t>
            </a:r>
          </a:p>
        </p:txBody>
      </p:sp>
      <p:pic>
        <p:nvPicPr>
          <p:cNvPr id="9" name="Picture 8">
            <a:extLst>
              <a:ext uri="{FF2B5EF4-FFF2-40B4-BE49-F238E27FC236}">
                <a16:creationId xmlns:a16="http://schemas.microsoft.com/office/drawing/2014/main" id="{4C422BB8-0F98-4083-8BAC-3669B47DF864}"/>
              </a:ext>
            </a:extLst>
          </p:cNvPr>
          <p:cNvPicPr>
            <a:picLocks noChangeAspect="1"/>
          </p:cNvPicPr>
          <p:nvPr userDrawn="1"/>
        </p:nvPicPr>
        <p:blipFill>
          <a:blip r:embed="rId4"/>
          <a:stretch>
            <a:fillRect/>
          </a:stretch>
        </p:blipFill>
        <p:spPr>
          <a:xfrm>
            <a:off x="11461580" y="6208593"/>
            <a:ext cx="553221" cy="494462"/>
          </a:xfrm>
          <a:prstGeom prst="rect">
            <a:avLst/>
          </a:prstGeom>
        </p:spPr>
      </p:pic>
    </p:spTree>
    <p:extLst>
      <p:ext uri="{BB962C8B-B14F-4D97-AF65-F5344CB8AC3E}">
        <p14:creationId xmlns:p14="http://schemas.microsoft.com/office/powerpoint/2010/main" val="3459638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86A8BF56-6CB3-514C-9A64-F39D95C9E25B}" type="slidenum">
              <a:rPr lang="en-US" smtClean="0"/>
              <a:t>‹#›</a:t>
            </a:fld>
            <a:endParaRPr lang="en-US"/>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165536"/>
            <a:ext cx="11466576" cy="5262696"/>
          </a:xfrm>
        </p:spPr>
        <p:txBody>
          <a:bodyPr>
            <a:noAutofit/>
          </a:bodyPr>
          <a:lstStyle>
            <a:lvl1pPr>
              <a:lnSpc>
                <a:spcPct val="100000"/>
              </a:lnSpc>
              <a:spcBef>
                <a:spcPts val="1000"/>
              </a:spcBef>
              <a:spcAft>
                <a:spcPts val="600"/>
              </a:spcAft>
              <a:buClr>
                <a:schemeClr val="tx2"/>
              </a:buClr>
              <a:defRPr>
                <a:solidFill>
                  <a:srgbClr val="232F3E"/>
                </a:solidFill>
              </a:defRPr>
            </a:lvl1pPr>
            <a:lvl2pPr marL="457200" indent="-223838">
              <a:lnSpc>
                <a:spcPct val="100000"/>
              </a:lnSpc>
              <a:spcBef>
                <a:spcPts val="500"/>
              </a:spcBef>
              <a:spcAft>
                <a:spcPts val="600"/>
              </a:spcAft>
              <a:buClr>
                <a:schemeClr val="tx2"/>
              </a:buClr>
              <a:tabLst/>
              <a:defRPr>
                <a:solidFill>
                  <a:srgbClr val="232F3E"/>
                </a:solidFill>
              </a:defRPr>
            </a:lvl2pPr>
            <a:lvl3pPr marL="685800" indent="-228600">
              <a:lnSpc>
                <a:spcPct val="100000"/>
              </a:lnSpc>
              <a:spcBef>
                <a:spcPts val="500"/>
              </a:spcBef>
              <a:spcAft>
                <a:spcPts val="600"/>
              </a:spcAft>
              <a:buClr>
                <a:schemeClr val="tx2"/>
              </a:buClr>
              <a:tabLst/>
              <a:defRPr sz="2000">
                <a:solidFill>
                  <a:srgbClr val="232F3E"/>
                </a:solidFill>
              </a:defRPr>
            </a:lvl3pPr>
            <a:lvl4pPr marL="914400" indent="-228600">
              <a:lnSpc>
                <a:spcPct val="100000"/>
              </a:lnSpc>
              <a:spcBef>
                <a:spcPts val="500"/>
              </a:spcBef>
              <a:spcAft>
                <a:spcPts val="600"/>
              </a:spcAft>
              <a:buClr>
                <a:schemeClr val="tx2"/>
              </a:buClr>
              <a:tabLst/>
              <a:defRPr>
                <a:solidFill>
                  <a:srgbClr val="232F3E"/>
                </a:solidFill>
              </a:defRPr>
            </a:lvl4pPr>
            <a:lvl5pPr marL="1147763" indent="-233363">
              <a:lnSpc>
                <a:spcPct val="100000"/>
              </a:lnSpc>
              <a:spcBef>
                <a:spcPts val="500"/>
              </a:spcBef>
              <a:spcAft>
                <a:spcPts val="600"/>
              </a:spcAft>
              <a:buClr>
                <a:schemeClr val="tx2"/>
              </a:buClr>
              <a:buFont typeface="Arial" panose="020B0604020202020204" pitchFamily="34" charset="0"/>
              <a:buChar char="•"/>
              <a:tabLs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Title 5">
            <a:extLst>
              <a:ext uri="{FF2B5EF4-FFF2-40B4-BE49-F238E27FC236}">
                <a16:creationId xmlns:a16="http://schemas.microsoft.com/office/drawing/2014/main" id="{0B7FC618-B925-14FB-209E-96992C563DC0}"/>
              </a:ext>
            </a:extLst>
          </p:cNvPr>
          <p:cNvSpPr>
            <a:spLocks noGrp="1"/>
          </p:cNvSpPr>
          <p:nvPr>
            <p:ph type="title"/>
          </p:nvPr>
        </p:nvSpPr>
        <p:spPr/>
        <p:txBody>
          <a:bodyPr/>
          <a:lstStyle/>
          <a:p>
            <a:r>
              <a:rPr lang="en-US"/>
              <a:t>Click to edit Master title style</a:t>
            </a:r>
          </a:p>
        </p:txBody>
      </p:sp>
    </p:spTree>
    <p:custDataLst>
      <p:tags r:id="rId1"/>
    </p:custDataLst>
    <p:extLst>
      <p:ext uri="{BB962C8B-B14F-4D97-AF65-F5344CB8AC3E}">
        <p14:creationId xmlns:p14="http://schemas.microsoft.com/office/powerpoint/2010/main" val="1062909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a:latin typeface="Amazon Ember Display Heavy" panose="04020705040A02060702" pitchFamily="82" charset="0"/>
              </a:rPr>
              <a:t>Click to edit Master title style</a:t>
            </a:r>
            <a:endParaRPr lang="en-US" dirty="0"/>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a:t>Click to edit Master text styles</a:t>
            </a:r>
          </a:p>
          <a:p>
            <a:pPr marL="230188" lvl="1" indent="-230188" defTabSz="228600">
              <a:lnSpc>
                <a:spcPct val="100000"/>
              </a:lnSpc>
              <a:spcBef>
                <a:spcPts val="500"/>
              </a:spcBef>
              <a:spcAft>
                <a:spcPts val="600"/>
              </a:spcAft>
              <a:buFont typeface="Amazon Ember Display"/>
            </a:pPr>
            <a:r>
              <a:rPr lang="en-US"/>
              <a:t>Second level</a:t>
            </a:r>
          </a:p>
          <a:p>
            <a:pPr marL="230188" lvl="2" indent="-230188" defTabSz="228600">
              <a:lnSpc>
                <a:spcPct val="100000"/>
              </a:lnSpc>
              <a:spcBef>
                <a:spcPts val="500"/>
              </a:spcBef>
              <a:spcAft>
                <a:spcPts val="600"/>
              </a:spcAft>
              <a:buFont typeface="Amazon Ember Display"/>
            </a:pPr>
            <a:r>
              <a:rPr lang="en-US"/>
              <a:t>Third level</a:t>
            </a:r>
          </a:p>
          <a:p>
            <a:pPr marL="230188" lvl="3" indent="-230188" defTabSz="228600">
              <a:lnSpc>
                <a:spcPct val="100000"/>
              </a:lnSpc>
              <a:spcBef>
                <a:spcPts val="500"/>
              </a:spcBef>
              <a:spcAft>
                <a:spcPts val="600"/>
              </a:spcAft>
              <a:buFont typeface="Amazon Ember Display"/>
            </a:pPr>
            <a:r>
              <a:rPr lang="en-US"/>
              <a:t>Fourth level</a:t>
            </a:r>
          </a:p>
          <a:p>
            <a:pPr marL="230188" lvl="4" indent="-230188" defTabSz="228600">
              <a:lnSpc>
                <a:spcPct val="100000"/>
              </a:lnSpc>
              <a:spcBef>
                <a:spcPts val="500"/>
              </a:spcBef>
              <a:spcAft>
                <a:spcPts val="600"/>
              </a:spcAft>
              <a:buFont typeface="Amazon Ember Display"/>
            </a:pPr>
            <a:r>
              <a:rPr lang="en-US"/>
              <a:t>Fifth level</a:t>
            </a:r>
            <a:endParaRPr lang="en-US" dirty="0"/>
          </a:p>
        </p:txBody>
      </p:sp>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86A8BF56-6CB3-514C-9A64-F39D95C9E25B}" type="slidenum">
              <a:rPr lang="en-US" smtClean="0"/>
              <a:t>‹#›</a:t>
            </a:fld>
            <a:endParaRPr lang="en-US"/>
          </a:p>
        </p:txBody>
      </p:sp>
    </p:spTree>
    <p:extLst>
      <p:ext uri="{BB962C8B-B14F-4D97-AF65-F5344CB8AC3E}">
        <p14:creationId xmlns:p14="http://schemas.microsoft.com/office/powerpoint/2010/main" val="225261371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1000"/>
        </a:spcBef>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500"/>
        </a:spcBef>
        <a:buFont typeface="Amazon Ember Display"/>
        <a:buChar char="•"/>
        <a:defRPr lang="en-US" sz="2400" kern="1200" dirty="0">
          <a:solidFill>
            <a:srgbClr val="232F3E"/>
          </a:solidFill>
          <a:latin typeface="Amazon Ember Display"/>
        </a:defRPr>
      </a:lvl3pPr>
      <a:lvl4pPr marL="1600200" indent="-228600" algn="l" defTabSz="914400" rtl="0" eaLnBrk="1" latinLnBrk="0" hangingPunct="1">
        <a:lnSpc>
          <a:spcPct val="90000"/>
        </a:lnSpc>
        <a:spcBef>
          <a:spcPts val="500"/>
        </a:spcBef>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500"/>
        </a:spcBef>
        <a:buFont typeface="Amazon Ember Display"/>
        <a:buChar char="•"/>
        <a:defRPr lang="en-US" sz="20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1.xml"/><Relationship Id="rId5" Type="http://schemas.openxmlformats.org/officeDocument/2006/relationships/image" Target="../media/image21.sv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F1F73E-D2C7-4E1E-3A62-9E4B2709DE46}"/>
              </a:ext>
            </a:extLst>
          </p:cNvPr>
          <p:cNvSpPr>
            <a:spLocks noGrp="1"/>
          </p:cNvSpPr>
          <p:nvPr>
            <p:ph type="sldNum" idx="97"/>
          </p:nvPr>
        </p:nvSpPr>
        <p:spPr/>
        <p:txBody>
          <a:bodyPr/>
          <a:lstStyle/>
          <a:p>
            <a:fld id="{86A8BF56-6CB3-514C-9A64-F39D95C9E25B}" type="slidenum">
              <a:rPr lang="en-US" smtClean="0"/>
              <a:t>1</a:t>
            </a:fld>
            <a:endParaRPr lang="en-US"/>
          </a:p>
        </p:txBody>
      </p:sp>
      <p:sp>
        <p:nvSpPr>
          <p:cNvPr id="4" name="Title 3">
            <a:extLst>
              <a:ext uri="{FF2B5EF4-FFF2-40B4-BE49-F238E27FC236}">
                <a16:creationId xmlns:a16="http://schemas.microsoft.com/office/drawing/2014/main" id="{B8280F18-C51C-09D1-32D4-15F8BDE9C811}"/>
              </a:ext>
            </a:extLst>
          </p:cNvPr>
          <p:cNvSpPr>
            <a:spLocks noGrp="1"/>
          </p:cNvSpPr>
          <p:nvPr>
            <p:ph type="title" idx="1"/>
          </p:nvPr>
        </p:nvSpPr>
        <p:spPr>
          <a:xfrm>
            <a:off x="457200" y="1554163"/>
            <a:ext cx="8080131" cy="2195512"/>
          </a:xfrm>
        </p:spPr>
        <p:txBody>
          <a:bodyPr/>
          <a:lstStyle/>
          <a:p>
            <a:r>
              <a:rPr lang="en-US" dirty="0"/>
              <a:t>Evaluating LLMs</a:t>
            </a:r>
          </a:p>
        </p:txBody>
      </p:sp>
      <p:sp>
        <p:nvSpPr>
          <p:cNvPr id="3" name="Text Placeholder 2">
            <a:extLst>
              <a:ext uri="{FF2B5EF4-FFF2-40B4-BE49-F238E27FC236}">
                <a16:creationId xmlns:a16="http://schemas.microsoft.com/office/drawing/2014/main" id="{F26F2F8D-DD81-7F1D-BB15-F73AC3486DCF}"/>
              </a:ext>
            </a:extLst>
          </p:cNvPr>
          <p:cNvSpPr>
            <a:spLocks noGrp="1"/>
          </p:cNvSpPr>
          <p:nvPr>
            <p:ph type="body" idx="2"/>
          </p:nvPr>
        </p:nvSpPr>
        <p:spPr/>
        <p:txBody>
          <a:bodyPr/>
          <a:lstStyle/>
          <a:p>
            <a:r>
              <a:rPr lang="en-US" dirty="0"/>
              <a:t>Generative AI</a:t>
            </a:r>
          </a:p>
        </p:txBody>
      </p:sp>
      <p:sp>
        <p:nvSpPr>
          <p:cNvPr id="6" name="Text Placeholder 5">
            <a:extLst>
              <a:ext uri="{FF2B5EF4-FFF2-40B4-BE49-F238E27FC236}">
                <a16:creationId xmlns:a16="http://schemas.microsoft.com/office/drawing/2014/main" id="{5E84E6F1-2BAF-2DDC-6136-75863B99AC93}"/>
              </a:ext>
            </a:extLst>
          </p:cNvPr>
          <p:cNvSpPr>
            <a:spLocks noGrp="1"/>
          </p:cNvSpPr>
          <p:nvPr>
            <p:ph type="body" idx="98"/>
          </p:nvPr>
        </p:nvSpPr>
        <p:spPr/>
        <p:txBody>
          <a:bodyPr/>
          <a:lstStyle/>
          <a:p>
            <a:r>
              <a:rPr lang="en-US" dirty="0"/>
              <a:t>Module 2 – Lesson 1</a:t>
            </a:r>
          </a:p>
        </p:txBody>
      </p:sp>
    </p:spTree>
    <p:extLst>
      <p:ext uri="{BB962C8B-B14F-4D97-AF65-F5344CB8AC3E}">
        <p14:creationId xmlns:p14="http://schemas.microsoft.com/office/powerpoint/2010/main" val="3507483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C7811CD-26D7-E907-3201-CD5EDB64B447}"/>
              </a:ext>
            </a:extLst>
          </p:cNvPr>
          <p:cNvSpPr>
            <a:spLocks noGrp="1"/>
          </p:cNvSpPr>
          <p:nvPr>
            <p:ph type="sldNum" idx="97"/>
          </p:nvPr>
        </p:nvSpPr>
        <p:spPr/>
        <p:txBody>
          <a:bodyPr/>
          <a:lstStyle/>
          <a:p>
            <a:fld id="{86A8BF56-6CB3-514C-9A64-F39D95C9E25B}" type="slidenum">
              <a:rPr lang="en-US" smtClean="0"/>
              <a:t>2</a:t>
            </a:fld>
            <a:endParaRPr lang="en-US"/>
          </a:p>
        </p:txBody>
      </p:sp>
      <p:sp>
        <p:nvSpPr>
          <p:cNvPr id="2" name="Title 1">
            <a:extLst>
              <a:ext uri="{FF2B5EF4-FFF2-40B4-BE49-F238E27FC236}">
                <a16:creationId xmlns:a16="http://schemas.microsoft.com/office/drawing/2014/main" id="{3C3EF600-126B-961F-2078-65133C5C20C8}"/>
              </a:ext>
            </a:extLst>
          </p:cNvPr>
          <p:cNvSpPr>
            <a:spLocks noGrp="1"/>
          </p:cNvSpPr>
          <p:nvPr>
            <p:ph type="title" idx="1"/>
          </p:nvPr>
        </p:nvSpPr>
        <p:spPr/>
        <p:txBody>
          <a:bodyPr/>
          <a:lstStyle/>
          <a:p>
            <a:r>
              <a:rPr lang="en-US" dirty="0"/>
              <a:t>Today’s activities</a:t>
            </a:r>
          </a:p>
        </p:txBody>
      </p:sp>
      <p:sp>
        <p:nvSpPr>
          <p:cNvPr id="4" name="Text Placeholder 3">
            <a:extLst>
              <a:ext uri="{FF2B5EF4-FFF2-40B4-BE49-F238E27FC236}">
                <a16:creationId xmlns:a16="http://schemas.microsoft.com/office/drawing/2014/main" id="{426F30B1-5C59-1BDF-5D0A-1A71D24ADC14}"/>
              </a:ext>
            </a:extLst>
          </p:cNvPr>
          <p:cNvSpPr>
            <a:spLocks noGrp="1"/>
          </p:cNvSpPr>
          <p:nvPr>
            <p:ph type="body" idx="3"/>
          </p:nvPr>
        </p:nvSpPr>
        <p:spPr>
          <a:xfrm>
            <a:off x="4607859" y="292100"/>
            <a:ext cx="7207623" cy="6142038"/>
          </a:xfrm>
        </p:spPr>
        <p:txBody>
          <a:bodyPr/>
          <a:lstStyle/>
          <a:p>
            <a:r>
              <a:rPr lang="en-US" dirty="0"/>
              <a:t>Review of module 1</a:t>
            </a:r>
          </a:p>
          <a:p>
            <a:r>
              <a:rPr lang="en-US" dirty="0"/>
              <a:t>Why is it important to evaluate LLMs?</a:t>
            </a:r>
          </a:p>
          <a:p>
            <a:r>
              <a:rPr lang="en-US" dirty="0"/>
              <a:t>Evaluating LLMs</a:t>
            </a:r>
          </a:p>
          <a:p>
            <a:r>
              <a:rPr lang="en-US" dirty="0"/>
              <a:t>Performance Evaluation on Amazon Bedrock</a:t>
            </a:r>
          </a:p>
        </p:txBody>
      </p:sp>
      <p:grpSp>
        <p:nvGrpSpPr>
          <p:cNvPr id="3" name="Graphic 250">
            <a:extLst>
              <a:ext uri="{FF2B5EF4-FFF2-40B4-BE49-F238E27FC236}">
                <a16:creationId xmlns:a16="http://schemas.microsoft.com/office/drawing/2014/main" id="{C1E3D88D-E910-0FEA-10DE-609FAEBBFB80}"/>
              </a:ext>
              <a:ext uri="{C183D7F6-B498-43B3-948B-1728B52AA6E4}">
                <adec:decorative xmlns:adec="http://schemas.microsoft.com/office/drawing/2017/decorative" val="1"/>
              </a:ext>
            </a:extLst>
          </p:cNvPr>
          <p:cNvGrpSpPr>
            <a:grpSpLocks noChangeAspect="1"/>
          </p:cNvGrpSpPr>
          <p:nvPr/>
        </p:nvGrpSpPr>
        <p:grpSpPr>
          <a:xfrm>
            <a:off x="794343" y="2732784"/>
            <a:ext cx="2959853" cy="2959853"/>
            <a:chOff x="9704553" y="322847"/>
            <a:chExt cx="643689" cy="643689"/>
          </a:xfrm>
          <a:effectLst>
            <a:outerShdw blurRad="50800" dist="38100" dir="2700000" algn="tl" rotWithShape="0">
              <a:prstClr val="black">
                <a:alpha val="40000"/>
              </a:prstClr>
            </a:outerShdw>
          </a:effectLst>
        </p:grpSpPr>
        <p:sp>
          <p:nvSpPr>
            <p:cNvPr id="5" name="Freeform: Shape 20">
              <a:extLst>
                <a:ext uri="{FF2B5EF4-FFF2-40B4-BE49-F238E27FC236}">
                  <a16:creationId xmlns:a16="http://schemas.microsoft.com/office/drawing/2014/main" id="{2373917E-4A6D-8227-D15D-D1E40A72AE62}"/>
                </a:ext>
              </a:extLst>
            </p:cNvPr>
            <p:cNvSpPr/>
            <p:nvPr/>
          </p:nvSpPr>
          <p:spPr>
            <a:xfrm>
              <a:off x="9831038" y="599633"/>
              <a:ext cx="9655" cy="93335"/>
            </a:xfrm>
            <a:custGeom>
              <a:avLst/>
              <a:gdLst>
                <a:gd name="connsiteX0" fmla="*/ 4828 w 9655"/>
                <a:gd name="connsiteY0" fmla="*/ 89473 h 93334"/>
                <a:gd name="connsiteX1" fmla="*/ 4828 w 9655"/>
                <a:gd name="connsiteY1" fmla="*/ 46989 h 93334"/>
                <a:gd name="connsiteX2" fmla="*/ 4828 w 9655"/>
                <a:gd name="connsiteY2" fmla="*/ 4828 h 93334"/>
              </a:gdLst>
              <a:ahLst/>
              <a:cxnLst>
                <a:cxn ang="0">
                  <a:pos x="connsiteX0" y="connsiteY0"/>
                </a:cxn>
                <a:cxn ang="0">
                  <a:pos x="connsiteX1" y="connsiteY1"/>
                </a:cxn>
                <a:cxn ang="0">
                  <a:pos x="connsiteX2" y="connsiteY2"/>
                </a:cxn>
              </a:cxnLst>
              <a:rect l="l" t="t" r="r" b="b"/>
              <a:pathLst>
                <a:path w="9655" h="93334">
                  <a:moveTo>
                    <a:pt x="4828" y="89473"/>
                  </a:moveTo>
                  <a:lnTo>
                    <a:pt x="4828" y="46989"/>
                  </a:lnTo>
                  <a:lnTo>
                    <a:pt x="4828" y="4828"/>
                  </a:lnTo>
                  <a:close/>
                </a:path>
              </a:pathLst>
            </a:custGeom>
            <a:noFill/>
            <a:ln w="53975" cap="flat">
              <a:solidFill>
                <a:schemeClr val="bg1"/>
              </a:solidFill>
              <a:prstDash val="solid"/>
              <a:round/>
            </a:ln>
          </p:spPr>
          <p:txBody>
            <a:bodyPr rtlCol="0" anchor="ctr"/>
            <a:lstStyle/>
            <a:p>
              <a:pPr algn="ctr"/>
              <a:endParaRPr lang="en-US" dirty="0"/>
            </a:p>
          </p:txBody>
        </p:sp>
        <p:sp>
          <p:nvSpPr>
            <p:cNvPr id="6" name="Freeform: Shape 21">
              <a:extLst>
                <a:ext uri="{FF2B5EF4-FFF2-40B4-BE49-F238E27FC236}">
                  <a16:creationId xmlns:a16="http://schemas.microsoft.com/office/drawing/2014/main" id="{BEA3466D-A8DE-C974-0119-677E55A7B847}"/>
                </a:ext>
              </a:extLst>
            </p:cNvPr>
            <p:cNvSpPr/>
            <p:nvPr/>
          </p:nvSpPr>
          <p:spPr>
            <a:xfrm>
              <a:off x="9926304" y="520781"/>
              <a:ext cx="54714" cy="128738"/>
            </a:xfrm>
            <a:custGeom>
              <a:avLst/>
              <a:gdLst>
                <a:gd name="connsiteX0" fmla="*/ 4828 w 54713"/>
                <a:gd name="connsiteY0" fmla="*/ 125841 h 128737"/>
                <a:gd name="connsiteX1" fmla="*/ 4828 w 54713"/>
                <a:gd name="connsiteY1" fmla="*/ 76277 h 128737"/>
                <a:gd name="connsiteX2" fmla="*/ 52461 w 54713"/>
                <a:gd name="connsiteY2" fmla="*/ 52461 h 128737"/>
                <a:gd name="connsiteX3" fmla="*/ 52461 w 54713"/>
                <a:gd name="connsiteY3" fmla="*/ 4828 h 128737"/>
              </a:gdLst>
              <a:ahLst/>
              <a:cxnLst>
                <a:cxn ang="0">
                  <a:pos x="connsiteX0" y="connsiteY0"/>
                </a:cxn>
                <a:cxn ang="0">
                  <a:pos x="connsiteX1" y="connsiteY1"/>
                </a:cxn>
                <a:cxn ang="0">
                  <a:pos x="connsiteX2" y="connsiteY2"/>
                </a:cxn>
                <a:cxn ang="0">
                  <a:pos x="connsiteX3" y="connsiteY3"/>
                </a:cxn>
              </a:cxnLst>
              <a:rect l="l" t="t" r="r" b="b"/>
              <a:pathLst>
                <a:path w="54713" h="128737">
                  <a:moveTo>
                    <a:pt x="4828" y="125841"/>
                  </a:moveTo>
                  <a:lnTo>
                    <a:pt x="4828" y="76277"/>
                  </a:lnTo>
                  <a:lnTo>
                    <a:pt x="52461" y="52461"/>
                  </a:lnTo>
                  <a:lnTo>
                    <a:pt x="52461" y="4828"/>
                  </a:lnTo>
                </a:path>
              </a:pathLst>
            </a:custGeom>
            <a:noFill/>
            <a:ln w="53975" cap="flat">
              <a:solidFill>
                <a:schemeClr val="bg1"/>
              </a:solidFill>
              <a:prstDash val="solid"/>
              <a:round/>
            </a:ln>
          </p:spPr>
          <p:txBody>
            <a:bodyPr rtlCol="0" anchor="ctr"/>
            <a:lstStyle/>
            <a:p>
              <a:pPr algn="ctr"/>
              <a:endParaRPr lang="en-US" dirty="0"/>
            </a:p>
          </p:txBody>
        </p:sp>
        <p:sp>
          <p:nvSpPr>
            <p:cNvPr id="8" name="Freeform: Shape 22">
              <a:extLst>
                <a:ext uri="{FF2B5EF4-FFF2-40B4-BE49-F238E27FC236}">
                  <a16:creationId xmlns:a16="http://schemas.microsoft.com/office/drawing/2014/main" id="{8684E791-CDDB-20B1-B39B-C735079EBB1D}"/>
                </a:ext>
              </a:extLst>
            </p:cNvPr>
            <p:cNvSpPr/>
            <p:nvPr/>
          </p:nvSpPr>
          <p:spPr>
            <a:xfrm>
              <a:off x="9878671" y="568414"/>
              <a:ext cx="54714" cy="32184"/>
            </a:xfrm>
            <a:custGeom>
              <a:avLst/>
              <a:gdLst>
                <a:gd name="connsiteX0" fmla="*/ 52461 w 54713"/>
                <a:gd name="connsiteY0" fmla="*/ 28644 h 32184"/>
                <a:gd name="connsiteX1" fmla="*/ 4828 w 54713"/>
                <a:gd name="connsiteY1" fmla="*/ 4828 h 32184"/>
              </a:gdLst>
              <a:ahLst/>
              <a:cxnLst>
                <a:cxn ang="0">
                  <a:pos x="connsiteX0" y="connsiteY0"/>
                </a:cxn>
                <a:cxn ang="0">
                  <a:pos x="connsiteX1" y="connsiteY1"/>
                </a:cxn>
              </a:cxnLst>
              <a:rect l="l" t="t" r="r" b="b"/>
              <a:pathLst>
                <a:path w="54713" h="32184">
                  <a:moveTo>
                    <a:pt x="52461" y="28644"/>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9" name="Freeform: Shape 23">
              <a:extLst>
                <a:ext uri="{FF2B5EF4-FFF2-40B4-BE49-F238E27FC236}">
                  <a16:creationId xmlns:a16="http://schemas.microsoft.com/office/drawing/2014/main" id="{EBDFCB67-8AD3-858E-2A25-EE349137D0CE}"/>
                </a:ext>
              </a:extLst>
            </p:cNvPr>
            <p:cNvSpPr/>
            <p:nvPr/>
          </p:nvSpPr>
          <p:spPr>
            <a:xfrm>
              <a:off x="9926304" y="477976"/>
              <a:ext cx="9655" cy="67587"/>
            </a:xfrm>
            <a:custGeom>
              <a:avLst/>
              <a:gdLst>
                <a:gd name="connsiteX0" fmla="*/ 4828 w 9655"/>
                <a:gd name="connsiteY0" fmla="*/ 63403 h 67587"/>
                <a:gd name="connsiteX1" fmla="*/ 4828 w 9655"/>
                <a:gd name="connsiteY1" fmla="*/ 4828 h 67587"/>
              </a:gdLst>
              <a:ahLst/>
              <a:cxnLst>
                <a:cxn ang="0">
                  <a:pos x="connsiteX0" y="connsiteY0"/>
                </a:cxn>
                <a:cxn ang="0">
                  <a:pos x="connsiteX1" y="connsiteY1"/>
                </a:cxn>
              </a:cxnLst>
              <a:rect l="l" t="t" r="r" b="b"/>
              <a:pathLst>
                <a:path w="9655" h="67587">
                  <a:moveTo>
                    <a:pt x="4828" y="63403"/>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10" name="Freeform: Shape 24">
              <a:extLst>
                <a:ext uri="{FF2B5EF4-FFF2-40B4-BE49-F238E27FC236}">
                  <a16:creationId xmlns:a16="http://schemas.microsoft.com/office/drawing/2014/main" id="{D6E3A5D0-36C2-7B7F-8E3B-C5720986B951}"/>
                </a:ext>
              </a:extLst>
            </p:cNvPr>
            <p:cNvSpPr/>
            <p:nvPr/>
          </p:nvSpPr>
          <p:spPr>
            <a:xfrm>
              <a:off x="9831038" y="615404"/>
              <a:ext cx="54714" cy="35403"/>
            </a:xfrm>
            <a:custGeom>
              <a:avLst/>
              <a:gdLst>
                <a:gd name="connsiteX0" fmla="*/ 4828 w 54713"/>
                <a:gd name="connsiteY0" fmla="*/ 31863 h 35402"/>
                <a:gd name="connsiteX1" fmla="*/ 50530 w 54713"/>
                <a:gd name="connsiteY1" fmla="*/ 4828 h 35402"/>
              </a:gdLst>
              <a:ahLst/>
              <a:cxnLst>
                <a:cxn ang="0">
                  <a:pos x="connsiteX0" y="connsiteY0"/>
                </a:cxn>
                <a:cxn ang="0">
                  <a:pos x="connsiteX1" y="connsiteY1"/>
                </a:cxn>
              </a:cxnLst>
              <a:rect l="l" t="t" r="r" b="b"/>
              <a:pathLst>
                <a:path w="54713" h="35402">
                  <a:moveTo>
                    <a:pt x="4828" y="31863"/>
                  </a:moveTo>
                  <a:lnTo>
                    <a:pt x="50530" y="4828"/>
                  </a:lnTo>
                </a:path>
              </a:pathLst>
            </a:custGeom>
            <a:ln w="53975" cap="flat">
              <a:solidFill>
                <a:schemeClr val="bg1"/>
              </a:solidFill>
              <a:prstDash val="solid"/>
              <a:round/>
            </a:ln>
          </p:spPr>
          <p:txBody>
            <a:bodyPr rtlCol="0" anchor="ctr"/>
            <a:lstStyle/>
            <a:p>
              <a:pPr algn="ctr"/>
              <a:endParaRPr lang="en-US" dirty="0"/>
            </a:p>
          </p:txBody>
        </p:sp>
        <p:sp>
          <p:nvSpPr>
            <p:cNvPr id="11" name="Freeform: Shape 25">
              <a:extLst>
                <a:ext uri="{FF2B5EF4-FFF2-40B4-BE49-F238E27FC236}">
                  <a16:creationId xmlns:a16="http://schemas.microsoft.com/office/drawing/2014/main" id="{E265FFC2-8801-4BB4-D9FC-A421AB315A68}"/>
                </a:ext>
              </a:extLst>
            </p:cNvPr>
            <p:cNvSpPr/>
            <p:nvPr/>
          </p:nvSpPr>
          <p:spPr>
            <a:xfrm>
              <a:off x="9878671" y="687497"/>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2" name="Freeform: Shape 26">
              <a:extLst>
                <a:ext uri="{FF2B5EF4-FFF2-40B4-BE49-F238E27FC236}">
                  <a16:creationId xmlns:a16="http://schemas.microsoft.com/office/drawing/2014/main" id="{C67ADB15-9176-C4EE-43D8-2EE3DDC3F1A3}"/>
                </a:ext>
              </a:extLst>
            </p:cNvPr>
            <p:cNvSpPr/>
            <p:nvPr/>
          </p:nvSpPr>
          <p:spPr>
            <a:xfrm>
              <a:off x="9922120" y="777613"/>
              <a:ext cx="54714" cy="35403"/>
            </a:xfrm>
            <a:custGeom>
              <a:avLst/>
              <a:gdLst>
                <a:gd name="connsiteX0" fmla="*/ 4828 w 54713"/>
                <a:gd name="connsiteY0" fmla="*/ 31863 h 35402"/>
                <a:gd name="connsiteX1" fmla="*/ 50851 w 54713"/>
                <a:gd name="connsiteY1" fmla="*/ 4828 h 35402"/>
              </a:gdLst>
              <a:ahLst/>
              <a:cxnLst>
                <a:cxn ang="0">
                  <a:pos x="connsiteX0" y="connsiteY0"/>
                </a:cxn>
                <a:cxn ang="0">
                  <a:pos x="connsiteX1" y="connsiteY1"/>
                </a:cxn>
              </a:cxnLst>
              <a:rect l="l" t="t" r="r" b="b"/>
              <a:pathLst>
                <a:path w="54713" h="35402">
                  <a:moveTo>
                    <a:pt x="4828" y="31863"/>
                  </a:moveTo>
                  <a:lnTo>
                    <a:pt x="50851" y="4828"/>
                  </a:lnTo>
                </a:path>
              </a:pathLst>
            </a:custGeom>
            <a:ln w="53975" cap="flat">
              <a:solidFill>
                <a:schemeClr val="bg1"/>
              </a:solidFill>
              <a:prstDash val="solid"/>
              <a:round/>
            </a:ln>
          </p:spPr>
          <p:txBody>
            <a:bodyPr rtlCol="0" anchor="ctr"/>
            <a:lstStyle/>
            <a:p>
              <a:pPr algn="ctr"/>
              <a:endParaRPr lang="en-US" dirty="0"/>
            </a:p>
          </p:txBody>
        </p:sp>
        <p:sp>
          <p:nvSpPr>
            <p:cNvPr id="13" name="Freeform: Shape 34">
              <a:extLst>
                <a:ext uri="{FF2B5EF4-FFF2-40B4-BE49-F238E27FC236}">
                  <a16:creationId xmlns:a16="http://schemas.microsoft.com/office/drawing/2014/main" id="{F3777154-9E6D-B317-0FD7-69BC075A72E9}"/>
                </a:ext>
              </a:extLst>
            </p:cNvPr>
            <p:cNvSpPr/>
            <p:nvPr/>
          </p:nvSpPr>
          <p:spPr>
            <a:xfrm>
              <a:off x="9918258" y="687497"/>
              <a:ext cx="112646" cy="64369"/>
            </a:xfrm>
            <a:custGeom>
              <a:avLst/>
              <a:gdLst>
                <a:gd name="connsiteX0" fmla="*/ 4828 w 112645"/>
                <a:gd name="connsiteY0" fmla="*/ 60507 h 64368"/>
                <a:gd name="connsiteX1" fmla="*/ 108140 w 112645"/>
                <a:gd name="connsiteY1" fmla="*/ 4828 h 64368"/>
              </a:gdLst>
              <a:ahLst/>
              <a:cxnLst>
                <a:cxn ang="0">
                  <a:pos x="connsiteX0" y="connsiteY0"/>
                </a:cxn>
                <a:cxn ang="0">
                  <a:pos x="connsiteX1" y="connsiteY1"/>
                </a:cxn>
              </a:cxnLst>
              <a:rect l="l" t="t" r="r" b="b"/>
              <a:pathLst>
                <a:path w="112645" h="64368">
                  <a:moveTo>
                    <a:pt x="4828" y="60507"/>
                  </a:moveTo>
                  <a:lnTo>
                    <a:pt x="108140" y="4828"/>
                  </a:lnTo>
                </a:path>
              </a:pathLst>
            </a:custGeom>
            <a:ln w="53975" cap="flat">
              <a:solidFill>
                <a:schemeClr val="bg1"/>
              </a:solidFill>
              <a:prstDash val="solid"/>
              <a:round/>
            </a:ln>
          </p:spPr>
          <p:txBody>
            <a:bodyPr rtlCol="0" anchor="ctr"/>
            <a:lstStyle/>
            <a:p>
              <a:pPr algn="ctr"/>
              <a:endParaRPr lang="en-US" dirty="0"/>
            </a:p>
          </p:txBody>
        </p:sp>
        <p:sp>
          <p:nvSpPr>
            <p:cNvPr id="14" name="Freeform: Shape 28">
              <a:extLst>
                <a:ext uri="{FF2B5EF4-FFF2-40B4-BE49-F238E27FC236}">
                  <a16:creationId xmlns:a16="http://schemas.microsoft.com/office/drawing/2014/main" id="{8BD8B8E5-9515-86BE-D4C5-D47A838C745D}"/>
                </a:ext>
              </a:extLst>
            </p:cNvPr>
            <p:cNvSpPr/>
            <p:nvPr/>
          </p:nvSpPr>
          <p:spPr>
            <a:xfrm>
              <a:off x="9878671" y="639864"/>
              <a:ext cx="54714" cy="38621"/>
            </a:xfrm>
            <a:custGeom>
              <a:avLst/>
              <a:gdLst>
                <a:gd name="connsiteX0" fmla="*/ 4828 w 54713"/>
                <a:gd name="connsiteY0" fmla="*/ 36690 h 38621"/>
                <a:gd name="connsiteX1" fmla="*/ 52461 w 54713"/>
                <a:gd name="connsiteY1" fmla="*/ 4828 h 38621"/>
              </a:gdLst>
              <a:ahLst/>
              <a:cxnLst>
                <a:cxn ang="0">
                  <a:pos x="connsiteX0" y="connsiteY0"/>
                </a:cxn>
                <a:cxn ang="0">
                  <a:pos x="connsiteX1" y="connsiteY1"/>
                </a:cxn>
              </a:cxnLst>
              <a:rect l="l" t="t" r="r" b="b"/>
              <a:pathLst>
                <a:path w="54713" h="38621">
                  <a:moveTo>
                    <a:pt x="4828" y="36690"/>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15" name="Freeform: Shape 29">
              <a:extLst>
                <a:ext uri="{FF2B5EF4-FFF2-40B4-BE49-F238E27FC236}">
                  <a16:creationId xmlns:a16="http://schemas.microsoft.com/office/drawing/2014/main" id="{1DE11587-8E91-ABC8-43C6-4E6EDBEB294B}"/>
                </a:ext>
              </a:extLst>
            </p:cNvPr>
            <p:cNvSpPr/>
            <p:nvPr/>
          </p:nvSpPr>
          <p:spPr>
            <a:xfrm>
              <a:off x="9831038" y="449332"/>
              <a:ext cx="199544" cy="389432"/>
            </a:xfrm>
            <a:custGeom>
              <a:avLst/>
              <a:gdLst>
                <a:gd name="connsiteX0" fmla="*/ 195360 w 199543"/>
                <a:gd name="connsiteY0" fmla="*/ 36368 h 389431"/>
                <a:gd name="connsiteX1" fmla="*/ 147727 w 199543"/>
                <a:gd name="connsiteY1" fmla="*/ 4828 h 389431"/>
                <a:gd name="connsiteX2" fmla="*/ 52461 w 199543"/>
                <a:gd name="connsiteY2" fmla="*/ 60185 h 389431"/>
                <a:gd name="connsiteX3" fmla="*/ 52461 w 199543"/>
                <a:gd name="connsiteY3" fmla="*/ 123588 h 389431"/>
                <a:gd name="connsiteX4" fmla="*/ 4828 w 199543"/>
                <a:gd name="connsiteY4" fmla="*/ 147727 h 389431"/>
                <a:gd name="connsiteX5" fmla="*/ 4828 w 199543"/>
                <a:gd name="connsiteY5" fmla="*/ 197291 h 389431"/>
                <a:gd name="connsiteX6" fmla="*/ 4828 w 199543"/>
                <a:gd name="connsiteY6" fmla="*/ 242993 h 389431"/>
                <a:gd name="connsiteX7" fmla="*/ 52461 w 199543"/>
                <a:gd name="connsiteY7" fmla="*/ 274855 h 389431"/>
                <a:gd name="connsiteX8" fmla="*/ 52461 w 199543"/>
                <a:gd name="connsiteY8" fmla="*/ 330534 h 389431"/>
                <a:gd name="connsiteX9" fmla="*/ 147727 w 199543"/>
                <a:gd name="connsiteY9" fmla="*/ 385892 h 389431"/>
                <a:gd name="connsiteX10" fmla="*/ 195360 w 199543"/>
                <a:gd name="connsiteY10" fmla="*/ 360466 h 389431"/>
                <a:gd name="connsiteX11" fmla="*/ 195360 w 199543"/>
                <a:gd name="connsiteY11" fmla="*/ 195360 h 389431"/>
                <a:gd name="connsiteX12" fmla="*/ 147727 w 199543"/>
                <a:gd name="connsiteY12" fmla="*/ 171543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543" h="389431">
                  <a:moveTo>
                    <a:pt x="195360" y="36368"/>
                  </a:moveTo>
                  <a:lnTo>
                    <a:pt x="147727" y="4828"/>
                  </a:lnTo>
                  <a:lnTo>
                    <a:pt x="52461" y="60185"/>
                  </a:lnTo>
                  <a:lnTo>
                    <a:pt x="52461" y="123588"/>
                  </a:lnTo>
                  <a:lnTo>
                    <a:pt x="4828" y="147727"/>
                  </a:lnTo>
                  <a:lnTo>
                    <a:pt x="4828" y="197291"/>
                  </a:lnTo>
                  <a:lnTo>
                    <a:pt x="4828" y="242993"/>
                  </a:lnTo>
                  <a:lnTo>
                    <a:pt x="52461" y="274855"/>
                  </a:lnTo>
                  <a:lnTo>
                    <a:pt x="52461" y="330534"/>
                  </a:lnTo>
                  <a:lnTo>
                    <a:pt x="147727" y="385892"/>
                  </a:lnTo>
                  <a:lnTo>
                    <a:pt x="195360" y="360466"/>
                  </a:lnTo>
                  <a:lnTo>
                    <a:pt x="195360" y="195360"/>
                  </a:lnTo>
                  <a:lnTo>
                    <a:pt x="147727" y="171543"/>
                  </a:lnTo>
                </a:path>
              </a:pathLst>
            </a:custGeom>
            <a:noFill/>
            <a:ln w="53975" cap="flat">
              <a:solidFill>
                <a:schemeClr val="bg1"/>
              </a:solidFill>
              <a:prstDash val="solid"/>
              <a:round/>
            </a:ln>
          </p:spPr>
          <p:txBody>
            <a:bodyPr rtlCol="0" anchor="ctr"/>
            <a:lstStyle/>
            <a:p>
              <a:pPr algn="ctr"/>
              <a:endParaRPr lang="en-US" dirty="0"/>
            </a:p>
          </p:txBody>
        </p:sp>
        <p:sp>
          <p:nvSpPr>
            <p:cNvPr id="16" name="Freeform: Shape 30">
              <a:extLst>
                <a:ext uri="{FF2B5EF4-FFF2-40B4-BE49-F238E27FC236}">
                  <a16:creationId xmlns:a16="http://schemas.microsoft.com/office/drawing/2014/main" id="{BADB42FE-1774-3256-F839-CFF881D2AED6}"/>
                </a:ext>
              </a:extLst>
            </p:cNvPr>
            <p:cNvSpPr/>
            <p:nvPr/>
          </p:nvSpPr>
          <p:spPr>
            <a:xfrm>
              <a:off x="9926304" y="639864"/>
              <a:ext cx="54714" cy="80461"/>
            </a:xfrm>
            <a:custGeom>
              <a:avLst/>
              <a:gdLst>
                <a:gd name="connsiteX0" fmla="*/ 52461 w 54713"/>
                <a:gd name="connsiteY0" fmla="*/ 76277 h 80461"/>
                <a:gd name="connsiteX1" fmla="*/ 52461 w 54713"/>
                <a:gd name="connsiteY1" fmla="*/ 36690 h 80461"/>
                <a:gd name="connsiteX2" fmla="*/ 4828 w 54713"/>
                <a:gd name="connsiteY2" fmla="*/ 4828 h 80461"/>
              </a:gdLst>
              <a:ahLst/>
              <a:cxnLst>
                <a:cxn ang="0">
                  <a:pos x="connsiteX0" y="connsiteY0"/>
                </a:cxn>
                <a:cxn ang="0">
                  <a:pos x="connsiteX1" y="connsiteY1"/>
                </a:cxn>
                <a:cxn ang="0">
                  <a:pos x="connsiteX2" y="connsiteY2"/>
                </a:cxn>
              </a:cxnLst>
              <a:rect l="l" t="t" r="r" b="b"/>
              <a:pathLst>
                <a:path w="54713" h="80461">
                  <a:moveTo>
                    <a:pt x="52461" y="76277"/>
                  </a:moveTo>
                  <a:lnTo>
                    <a:pt x="52461" y="36690"/>
                  </a:lnTo>
                  <a:lnTo>
                    <a:pt x="4828" y="4828"/>
                  </a:lnTo>
                </a:path>
              </a:pathLst>
            </a:custGeom>
            <a:noFill/>
            <a:ln w="53975" cap="flat">
              <a:solidFill>
                <a:schemeClr val="bg1"/>
              </a:solidFill>
              <a:prstDash val="solid"/>
              <a:round/>
            </a:ln>
          </p:spPr>
          <p:txBody>
            <a:bodyPr rtlCol="0" anchor="ctr"/>
            <a:lstStyle/>
            <a:p>
              <a:pPr algn="ctr"/>
              <a:endParaRPr lang="en-US" dirty="0"/>
            </a:p>
          </p:txBody>
        </p:sp>
        <p:sp>
          <p:nvSpPr>
            <p:cNvPr id="17" name="Freeform: Shape 31">
              <a:extLst>
                <a:ext uri="{FF2B5EF4-FFF2-40B4-BE49-F238E27FC236}">
                  <a16:creationId xmlns:a16="http://schemas.microsoft.com/office/drawing/2014/main" id="{0E08636D-2D75-3627-315B-68C62A67E6F6}"/>
                </a:ext>
              </a:extLst>
            </p:cNvPr>
            <p:cNvSpPr/>
            <p:nvPr/>
          </p:nvSpPr>
          <p:spPr>
            <a:xfrm>
              <a:off x="10212102" y="599633"/>
              <a:ext cx="9655" cy="93335"/>
            </a:xfrm>
            <a:custGeom>
              <a:avLst/>
              <a:gdLst>
                <a:gd name="connsiteX0" fmla="*/ 4828 w 9655"/>
                <a:gd name="connsiteY0" fmla="*/ 4828 h 93334"/>
                <a:gd name="connsiteX1" fmla="*/ 4828 w 9655"/>
                <a:gd name="connsiteY1" fmla="*/ 46989 h 93334"/>
                <a:gd name="connsiteX2" fmla="*/ 4828 w 9655"/>
                <a:gd name="connsiteY2" fmla="*/ 89473 h 93334"/>
              </a:gdLst>
              <a:ahLst/>
              <a:cxnLst>
                <a:cxn ang="0">
                  <a:pos x="connsiteX0" y="connsiteY0"/>
                </a:cxn>
                <a:cxn ang="0">
                  <a:pos x="connsiteX1" y="connsiteY1"/>
                </a:cxn>
                <a:cxn ang="0">
                  <a:pos x="connsiteX2" y="connsiteY2"/>
                </a:cxn>
              </a:cxnLst>
              <a:rect l="l" t="t" r="r" b="b"/>
              <a:pathLst>
                <a:path w="9655" h="93334">
                  <a:moveTo>
                    <a:pt x="4828" y="4828"/>
                  </a:moveTo>
                  <a:lnTo>
                    <a:pt x="4828" y="46989"/>
                  </a:lnTo>
                  <a:lnTo>
                    <a:pt x="4828" y="89473"/>
                  </a:lnTo>
                  <a:close/>
                </a:path>
              </a:pathLst>
            </a:custGeom>
            <a:noFill/>
            <a:ln w="53975" cap="flat">
              <a:solidFill>
                <a:schemeClr val="bg1"/>
              </a:solidFill>
              <a:prstDash val="solid"/>
              <a:round/>
            </a:ln>
          </p:spPr>
          <p:txBody>
            <a:bodyPr rtlCol="0" anchor="ctr"/>
            <a:lstStyle/>
            <a:p>
              <a:pPr algn="ctr"/>
              <a:endParaRPr lang="en-US" dirty="0"/>
            </a:p>
          </p:txBody>
        </p:sp>
        <p:sp>
          <p:nvSpPr>
            <p:cNvPr id="18" name="Freeform: Shape 32">
              <a:extLst>
                <a:ext uri="{FF2B5EF4-FFF2-40B4-BE49-F238E27FC236}">
                  <a16:creationId xmlns:a16="http://schemas.microsoft.com/office/drawing/2014/main" id="{81FB9901-A4D2-E077-F06A-CC42DFF79E4C}"/>
                </a:ext>
              </a:extLst>
            </p:cNvPr>
            <p:cNvSpPr/>
            <p:nvPr/>
          </p:nvSpPr>
          <p:spPr>
            <a:xfrm>
              <a:off x="10164469" y="663680"/>
              <a:ext cx="54714" cy="32184"/>
            </a:xfrm>
            <a:custGeom>
              <a:avLst/>
              <a:gdLst>
                <a:gd name="connsiteX0" fmla="*/ 4828 w 54713"/>
                <a:gd name="connsiteY0" fmla="*/ 4828 h 32184"/>
                <a:gd name="connsiteX1" fmla="*/ 52461 w 54713"/>
                <a:gd name="connsiteY1" fmla="*/ 28644 h 32184"/>
              </a:gdLst>
              <a:ahLst/>
              <a:cxnLst>
                <a:cxn ang="0">
                  <a:pos x="connsiteX0" y="connsiteY0"/>
                </a:cxn>
                <a:cxn ang="0">
                  <a:pos x="connsiteX1" y="connsiteY1"/>
                </a:cxn>
              </a:cxnLst>
              <a:rect l="l" t="t" r="r" b="b"/>
              <a:pathLst>
                <a:path w="54713" h="32184">
                  <a:moveTo>
                    <a:pt x="4828" y="4828"/>
                  </a:moveTo>
                  <a:lnTo>
                    <a:pt x="52461" y="28644"/>
                  </a:lnTo>
                </a:path>
              </a:pathLst>
            </a:custGeom>
            <a:ln w="53975" cap="flat">
              <a:solidFill>
                <a:schemeClr val="bg1"/>
              </a:solidFill>
              <a:prstDash val="solid"/>
              <a:round/>
            </a:ln>
          </p:spPr>
          <p:txBody>
            <a:bodyPr rtlCol="0" anchor="ctr"/>
            <a:lstStyle/>
            <a:p>
              <a:pPr algn="ctr"/>
              <a:endParaRPr lang="en-US" dirty="0"/>
            </a:p>
          </p:txBody>
        </p:sp>
        <p:sp>
          <p:nvSpPr>
            <p:cNvPr id="19" name="Freeform: Shape 33">
              <a:extLst>
                <a:ext uri="{FF2B5EF4-FFF2-40B4-BE49-F238E27FC236}">
                  <a16:creationId xmlns:a16="http://schemas.microsoft.com/office/drawing/2014/main" id="{772656DD-8F5B-971E-92B1-F281D3B718E1}"/>
                </a:ext>
              </a:extLst>
            </p:cNvPr>
            <p:cNvSpPr/>
            <p:nvPr/>
          </p:nvSpPr>
          <p:spPr>
            <a:xfrm>
              <a:off x="10132928" y="536552"/>
              <a:ext cx="38621" cy="9655"/>
            </a:xfrm>
            <a:custGeom>
              <a:avLst/>
              <a:gdLst>
                <a:gd name="connsiteX0" fmla="*/ 36368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6368" y="4828"/>
                  </a:moveTo>
                  <a:lnTo>
                    <a:pt x="4828" y="4828"/>
                  </a:lnTo>
                </a:path>
              </a:pathLst>
            </a:custGeom>
            <a:ln w="53975" cap="flat">
              <a:solidFill>
                <a:schemeClr val="bg1"/>
              </a:solidFill>
              <a:prstDash val="solid"/>
              <a:round/>
            </a:ln>
          </p:spPr>
          <p:txBody>
            <a:bodyPr rtlCol="0" anchor="ctr"/>
            <a:lstStyle/>
            <a:p>
              <a:pPr algn="ctr"/>
              <a:endParaRPr lang="en-US" dirty="0"/>
            </a:p>
          </p:txBody>
        </p:sp>
        <p:sp>
          <p:nvSpPr>
            <p:cNvPr id="20" name="Freeform: Shape 34">
              <a:extLst>
                <a:ext uri="{FF2B5EF4-FFF2-40B4-BE49-F238E27FC236}">
                  <a16:creationId xmlns:a16="http://schemas.microsoft.com/office/drawing/2014/main" id="{678B85A6-843B-B6B0-ACBF-5CCA3D2F7D3A}"/>
                </a:ext>
              </a:extLst>
            </p:cNvPr>
            <p:cNvSpPr/>
            <p:nvPr/>
          </p:nvSpPr>
          <p:spPr>
            <a:xfrm>
              <a:off x="10021570" y="751222"/>
              <a:ext cx="54714" cy="9655"/>
            </a:xfrm>
            <a:custGeom>
              <a:avLst/>
              <a:gdLst>
                <a:gd name="connsiteX0" fmla="*/ 4828 w 54713"/>
                <a:gd name="connsiteY0" fmla="*/ 4828 h 9655"/>
                <a:gd name="connsiteX1" fmla="*/ 52461 w 54713"/>
                <a:gd name="connsiteY1" fmla="*/ 4828 h 9655"/>
              </a:gdLst>
              <a:ahLst/>
              <a:cxnLst>
                <a:cxn ang="0">
                  <a:pos x="connsiteX0" y="connsiteY0"/>
                </a:cxn>
                <a:cxn ang="0">
                  <a:pos x="connsiteX1" y="connsiteY1"/>
                </a:cxn>
              </a:cxnLst>
              <a:rect l="l" t="t" r="r" b="b"/>
              <a:pathLst>
                <a:path w="54713" h="9655">
                  <a:moveTo>
                    <a:pt x="4828" y="4828"/>
                  </a:moveTo>
                  <a:lnTo>
                    <a:pt x="52461" y="4828"/>
                  </a:lnTo>
                </a:path>
              </a:pathLst>
            </a:custGeom>
            <a:ln w="53975" cap="flat">
              <a:solidFill>
                <a:schemeClr val="bg1"/>
              </a:solidFill>
              <a:prstDash val="solid"/>
              <a:round/>
            </a:ln>
          </p:spPr>
          <p:txBody>
            <a:bodyPr rtlCol="0" anchor="ctr"/>
            <a:lstStyle/>
            <a:p>
              <a:pPr algn="ctr"/>
              <a:endParaRPr lang="en-US" dirty="0"/>
            </a:p>
          </p:txBody>
        </p:sp>
        <p:sp>
          <p:nvSpPr>
            <p:cNvPr id="21" name="Freeform: Shape 35">
              <a:extLst>
                <a:ext uri="{FF2B5EF4-FFF2-40B4-BE49-F238E27FC236}">
                  <a16:creationId xmlns:a16="http://schemas.microsoft.com/office/drawing/2014/main" id="{36A65E3B-1EF8-9C38-9056-CB6FF60A363E}"/>
                </a:ext>
              </a:extLst>
            </p:cNvPr>
            <p:cNvSpPr/>
            <p:nvPr/>
          </p:nvSpPr>
          <p:spPr>
            <a:xfrm>
              <a:off x="10101065" y="520781"/>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2" name="Freeform: Shape 36">
              <a:extLst>
                <a:ext uri="{FF2B5EF4-FFF2-40B4-BE49-F238E27FC236}">
                  <a16:creationId xmlns:a16="http://schemas.microsoft.com/office/drawing/2014/main" id="{6BCDD264-30B3-71DC-E482-5566B5A6839E}"/>
                </a:ext>
              </a:extLst>
            </p:cNvPr>
            <p:cNvSpPr/>
            <p:nvPr/>
          </p:nvSpPr>
          <p:spPr>
            <a:xfrm>
              <a:off x="10132928" y="639864"/>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3" name="Freeform: Shape 37">
              <a:extLst>
                <a:ext uri="{FF2B5EF4-FFF2-40B4-BE49-F238E27FC236}">
                  <a16:creationId xmlns:a16="http://schemas.microsoft.com/office/drawing/2014/main" id="{AFFB09EA-AABF-863A-529C-571D10D1FA3C}"/>
                </a:ext>
              </a:extLst>
            </p:cNvPr>
            <p:cNvSpPr/>
            <p:nvPr/>
          </p:nvSpPr>
          <p:spPr>
            <a:xfrm>
              <a:off x="10069203" y="600277"/>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4" name="Freeform: Shape 38">
              <a:extLst>
                <a:ext uri="{FF2B5EF4-FFF2-40B4-BE49-F238E27FC236}">
                  <a16:creationId xmlns:a16="http://schemas.microsoft.com/office/drawing/2014/main" id="{DEC23D03-819A-F36E-C5DF-E87198BEC109}"/>
                </a:ext>
              </a:extLst>
            </p:cNvPr>
            <p:cNvSpPr/>
            <p:nvPr/>
          </p:nvSpPr>
          <p:spPr>
            <a:xfrm>
              <a:off x="10069203" y="735452"/>
              <a:ext cx="38621" cy="38621"/>
            </a:xfrm>
            <a:custGeom>
              <a:avLst/>
              <a:gdLst>
                <a:gd name="connsiteX0" fmla="*/ 36368 w 38621"/>
                <a:gd name="connsiteY0" fmla="*/ 20598 h 38621"/>
                <a:gd name="connsiteX1" fmla="*/ 20598 w 38621"/>
                <a:gd name="connsiteY1" fmla="*/ 36368 h 38621"/>
                <a:gd name="connsiteX2" fmla="*/ 4828 w 38621"/>
                <a:gd name="connsiteY2" fmla="*/ 20598 h 38621"/>
                <a:gd name="connsiteX3" fmla="*/ 20598 w 38621"/>
                <a:gd name="connsiteY3" fmla="*/ 482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29308"/>
                    <a:pt x="29308" y="36368"/>
                    <a:pt x="20598" y="36368"/>
                  </a:cubicBezTo>
                  <a:cubicBezTo>
                    <a:pt x="11888" y="36368"/>
                    <a:pt x="4828" y="29308"/>
                    <a:pt x="4828" y="20598"/>
                  </a:cubicBezTo>
                  <a:cubicBezTo>
                    <a:pt x="4828" y="11888"/>
                    <a:pt x="11888" y="4828"/>
                    <a:pt x="20598" y="4828"/>
                  </a:cubicBezTo>
                  <a:cubicBezTo>
                    <a:pt x="29308" y="4828"/>
                    <a:pt x="36368" y="11888"/>
                    <a:pt x="36368" y="20598"/>
                  </a:cubicBezTo>
                  <a:close/>
                </a:path>
              </a:pathLst>
            </a:custGeom>
            <a:noFill/>
            <a:ln w="53975" cap="flat">
              <a:solidFill>
                <a:schemeClr val="bg1"/>
              </a:solidFill>
              <a:prstDash val="solid"/>
              <a:round/>
            </a:ln>
          </p:spPr>
          <p:txBody>
            <a:bodyPr rtlCol="0" anchor="ctr"/>
            <a:lstStyle/>
            <a:p>
              <a:pPr algn="ctr"/>
              <a:endParaRPr lang="en-US" dirty="0"/>
            </a:p>
          </p:txBody>
        </p:sp>
        <p:sp>
          <p:nvSpPr>
            <p:cNvPr id="25" name="Freeform: Shape 39">
              <a:extLst>
                <a:ext uri="{FF2B5EF4-FFF2-40B4-BE49-F238E27FC236}">
                  <a16:creationId xmlns:a16="http://schemas.microsoft.com/office/drawing/2014/main" id="{517EC036-A0DC-C7B7-8A04-3868B2A32B4D}"/>
                </a:ext>
              </a:extLst>
            </p:cNvPr>
            <p:cNvSpPr/>
            <p:nvPr/>
          </p:nvSpPr>
          <p:spPr>
            <a:xfrm>
              <a:off x="10021570" y="449332"/>
              <a:ext cx="199544" cy="389432"/>
            </a:xfrm>
            <a:custGeom>
              <a:avLst/>
              <a:gdLst>
                <a:gd name="connsiteX0" fmla="*/ 52461 w 199543"/>
                <a:gd name="connsiteY0" fmla="*/ 163497 h 389431"/>
                <a:gd name="connsiteX1" fmla="*/ 4828 w 199543"/>
                <a:gd name="connsiteY1" fmla="*/ 131956 h 389431"/>
                <a:gd name="connsiteX2" fmla="*/ 4828 w 199543"/>
                <a:gd name="connsiteY2" fmla="*/ 36368 h 389431"/>
                <a:gd name="connsiteX3" fmla="*/ 52461 w 199543"/>
                <a:gd name="connsiteY3" fmla="*/ 4828 h 389431"/>
                <a:gd name="connsiteX4" fmla="*/ 147727 w 199543"/>
                <a:gd name="connsiteY4" fmla="*/ 61794 h 389431"/>
                <a:gd name="connsiteX5" fmla="*/ 147727 w 199543"/>
                <a:gd name="connsiteY5" fmla="*/ 123588 h 389431"/>
                <a:gd name="connsiteX6" fmla="*/ 195360 w 199543"/>
                <a:gd name="connsiteY6" fmla="*/ 150623 h 389431"/>
                <a:gd name="connsiteX7" fmla="*/ 195360 w 199543"/>
                <a:gd name="connsiteY7" fmla="*/ 197291 h 389431"/>
                <a:gd name="connsiteX8" fmla="*/ 195360 w 199543"/>
                <a:gd name="connsiteY8" fmla="*/ 242993 h 389431"/>
                <a:gd name="connsiteX9" fmla="*/ 147727 w 199543"/>
                <a:gd name="connsiteY9" fmla="*/ 274855 h 389431"/>
                <a:gd name="connsiteX10" fmla="*/ 147727 w 199543"/>
                <a:gd name="connsiteY10" fmla="*/ 330534 h 389431"/>
                <a:gd name="connsiteX11" fmla="*/ 52461 w 199543"/>
                <a:gd name="connsiteY11" fmla="*/ 385892 h 389431"/>
                <a:gd name="connsiteX12" fmla="*/ 4828 w 199543"/>
                <a:gd name="connsiteY12" fmla="*/ 362075 h 389431"/>
                <a:gd name="connsiteX13" fmla="*/ 4828 w 199543"/>
                <a:gd name="connsiteY13" fmla="*/ 197934 h 389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543" h="389431">
                  <a:moveTo>
                    <a:pt x="52461" y="163497"/>
                  </a:moveTo>
                  <a:lnTo>
                    <a:pt x="4828" y="131956"/>
                  </a:lnTo>
                  <a:lnTo>
                    <a:pt x="4828" y="36368"/>
                  </a:lnTo>
                  <a:lnTo>
                    <a:pt x="52461" y="4828"/>
                  </a:lnTo>
                  <a:lnTo>
                    <a:pt x="147727" y="61794"/>
                  </a:lnTo>
                  <a:lnTo>
                    <a:pt x="147727" y="123588"/>
                  </a:lnTo>
                  <a:lnTo>
                    <a:pt x="195360" y="150623"/>
                  </a:lnTo>
                  <a:lnTo>
                    <a:pt x="195360" y="197291"/>
                  </a:lnTo>
                  <a:lnTo>
                    <a:pt x="195360" y="242993"/>
                  </a:lnTo>
                  <a:lnTo>
                    <a:pt x="147727" y="274855"/>
                  </a:lnTo>
                  <a:lnTo>
                    <a:pt x="147727" y="330534"/>
                  </a:lnTo>
                  <a:lnTo>
                    <a:pt x="52461" y="385892"/>
                  </a:lnTo>
                  <a:lnTo>
                    <a:pt x="4828" y="362075"/>
                  </a:lnTo>
                  <a:lnTo>
                    <a:pt x="4828" y="197934"/>
                  </a:lnTo>
                </a:path>
              </a:pathLst>
            </a:custGeom>
            <a:noFill/>
            <a:ln w="53975" cap="flat">
              <a:solidFill>
                <a:schemeClr val="bg1"/>
              </a:solidFill>
              <a:prstDash val="solid"/>
              <a:round/>
            </a:ln>
          </p:spPr>
          <p:txBody>
            <a:bodyPr rtlCol="0" anchor="ctr"/>
            <a:lstStyle/>
            <a:p>
              <a:pPr algn="ctr"/>
              <a:endParaRPr lang="en-US" dirty="0"/>
            </a:p>
          </p:txBody>
        </p:sp>
      </p:grpSp>
    </p:spTree>
    <p:extLst>
      <p:ext uri="{BB962C8B-B14F-4D97-AF65-F5344CB8AC3E}">
        <p14:creationId xmlns:p14="http://schemas.microsoft.com/office/powerpoint/2010/main" val="4213367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5D56952-90C2-149D-C5FE-49B3515D7DB4}"/>
              </a:ext>
            </a:extLst>
          </p:cNvPr>
          <p:cNvSpPr>
            <a:spLocks noGrp="1"/>
          </p:cNvSpPr>
          <p:nvPr>
            <p:ph type="sldNum" idx="97"/>
          </p:nvPr>
        </p:nvSpPr>
        <p:spPr/>
        <p:txBody>
          <a:bodyPr/>
          <a:lstStyle/>
          <a:p>
            <a:fld id="{86A8BF56-6CB3-514C-9A64-F39D95C9E25B}" type="slidenum">
              <a:rPr lang="en-US" smtClean="0"/>
              <a:t>3</a:t>
            </a:fld>
            <a:endParaRPr lang="en-US"/>
          </a:p>
        </p:txBody>
      </p:sp>
      <p:sp>
        <p:nvSpPr>
          <p:cNvPr id="2" name="Title 1">
            <a:extLst>
              <a:ext uri="{FF2B5EF4-FFF2-40B4-BE49-F238E27FC236}">
                <a16:creationId xmlns:a16="http://schemas.microsoft.com/office/drawing/2014/main" id="{8E88A9F1-16AC-1ED9-E241-952634A699A9}"/>
              </a:ext>
            </a:extLst>
          </p:cNvPr>
          <p:cNvSpPr>
            <a:spLocks noGrp="1"/>
          </p:cNvSpPr>
          <p:nvPr>
            <p:ph type="title" idx="1"/>
          </p:nvPr>
        </p:nvSpPr>
        <p:spPr/>
        <p:txBody>
          <a:bodyPr/>
          <a:lstStyle/>
          <a:p>
            <a:r>
              <a:rPr lang="en-US" dirty="0"/>
              <a:t>Review: Foundation models</a:t>
            </a:r>
          </a:p>
        </p:txBody>
      </p:sp>
      <p:sp>
        <p:nvSpPr>
          <p:cNvPr id="3" name="Content Placeholder 2">
            <a:extLst>
              <a:ext uri="{FF2B5EF4-FFF2-40B4-BE49-F238E27FC236}">
                <a16:creationId xmlns:a16="http://schemas.microsoft.com/office/drawing/2014/main" id="{F0B3A147-B347-2C08-81B9-E2427969D7AF}"/>
              </a:ext>
            </a:extLst>
          </p:cNvPr>
          <p:cNvSpPr>
            <a:spLocks noGrp="1"/>
          </p:cNvSpPr>
          <p:nvPr>
            <p:ph idx="2"/>
          </p:nvPr>
        </p:nvSpPr>
        <p:spPr>
          <a:xfrm>
            <a:off x="4599501" y="1165536"/>
            <a:ext cx="7232835" cy="5262696"/>
          </a:xfrm>
        </p:spPr>
        <p:txBody>
          <a:bodyPr/>
          <a:lstStyle/>
          <a:p>
            <a:r>
              <a:rPr lang="en-US" sz="2400" dirty="0">
                <a:solidFill>
                  <a:sysClr val="windowText" lastClr="000000"/>
                </a:solidFill>
              </a:rPr>
              <a:t>Large ML models that are </a:t>
            </a:r>
            <a:r>
              <a:rPr lang="en-US" sz="2400" dirty="0">
                <a:solidFill>
                  <a:schemeClr val="accent6"/>
                </a:solidFill>
                <a:latin typeface="+mj-lt"/>
              </a:rPr>
              <a:t>pre-trained</a:t>
            </a:r>
            <a:r>
              <a:rPr lang="en-US" sz="2400" dirty="0">
                <a:solidFill>
                  <a:sysClr val="windowText" lastClr="000000"/>
                </a:solidFill>
              </a:rPr>
              <a:t> with </a:t>
            </a:r>
            <a:r>
              <a:rPr lang="en-US" sz="2400" dirty="0">
                <a:solidFill>
                  <a:sysClr val="windowText" lastClr="000000"/>
                </a:solidFill>
                <a:latin typeface="+mj-lt"/>
              </a:rPr>
              <a:t>vast amounts of data</a:t>
            </a:r>
            <a:r>
              <a:rPr lang="en-US" sz="2400" dirty="0">
                <a:solidFill>
                  <a:sysClr val="windowText" lastClr="000000"/>
                </a:solidFill>
              </a:rPr>
              <a:t>. These can be </a:t>
            </a:r>
            <a:r>
              <a:rPr lang="en-US" sz="2400" dirty="0">
                <a:solidFill>
                  <a:sysClr val="windowText" lastClr="000000"/>
                </a:solidFill>
                <a:latin typeface="+mj-lt"/>
              </a:rPr>
              <a:t>adapted</a:t>
            </a:r>
            <a:r>
              <a:rPr lang="en-US" sz="2400" dirty="0">
                <a:solidFill>
                  <a:sysClr val="windowText" lastClr="000000"/>
                </a:solidFill>
              </a:rPr>
              <a:t> to more specialized tasks.</a:t>
            </a:r>
          </a:p>
          <a:p>
            <a:pPr marL="0" indent="0">
              <a:buNone/>
            </a:pPr>
            <a:endParaRPr lang="en-US" sz="2400" dirty="0">
              <a:solidFill>
                <a:sysClr val="windowText" lastClr="000000"/>
              </a:solidFill>
            </a:endParaRPr>
          </a:p>
          <a:p>
            <a:r>
              <a:rPr lang="en-US" sz="2400" dirty="0">
                <a:solidFill>
                  <a:sysClr val="windowText" lastClr="000000"/>
                </a:solidFill>
              </a:rPr>
              <a:t>Can be trained on any kind of data</a:t>
            </a:r>
          </a:p>
          <a:p>
            <a:pPr lvl="1"/>
            <a:r>
              <a:rPr lang="en-US" sz="2000" dirty="0">
                <a:solidFill>
                  <a:sysClr val="windowText" lastClr="000000"/>
                </a:solidFill>
              </a:rPr>
              <a:t>Text</a:t>
            </a:r>
          </a:p>
          <a:p>
            <a:pPr lvl="1"/>
            <a:r>
              <a:rPr lang="en-US" sz="2000" dirty="0">
                <a:solidFill>
                  <a:sysClr val="windowText" lastClr="000000"/>
                </a:solidFill>
              </a:rPr>
              <a:t>Images</a:t>
            </a:r>
          </a:p>
          <a:p>
            <a:pPr lvl="1"/>
            <a:r>
              <a:rPr lang="en-US" sz="2000" dirty="0">
                <a:solidFill>
                  <a:sysClr val="windowText" lastClr="000000"/>
                </a:solidFill>
              </a:rPr>
              <a:t>Video</a:t>
            </a:r>
          </a:p>
          <a:p>
            <a:pPr lvl="1"/>
            <a:r>
              <a:rPr lang="en-US" sz="2000" dirty="0">
                <a:solidFill>
                  <a:sysClr val="windowText" lastClr="000000"/>
                </a:solidFill>
              </a:rPr>
              <a:t>Audio</a:t>
            </a:r>
          </a:p>
          <a:p>
            <a:pPr lvl="1"/>
            <a:r>
              <a:rPr lang="en-US" sz="2000" dirty="0" err="1">
                <a:solidFill>
                  <a:sysClr val="windowText" lastClr="000000"/>
                </a:solidFill>
              </a:rPr>
              <a:t>Etc</a:t>
            </a:r>
            <a:r>
              <a:rPr lang="en-US" sz="2000" dirty="0">
                <a:solidFill>
                  <a:sysClr val="windowText" lastClr="000000"/>
                </a:solidFill>
              </a:rPr>
              <a:t>…</a:t>
            </a:r>
          </a:p>
          <a:p>
            <a:endParaRPr lang="en-US" dirty="0"/>
          </a:p>
        </p:txBody>
      </p:sp>
      <p:sp>
        <p:nvSpPr>
          <p:cNvPr id="4" name="Oval 3" descr="Cirlcle representing a set of foundation models">
            <a:extLst>
              <a:ext uri="{FF2B5EF4-FFF2-40B4-BE49-F238E27FC236}">
                <a16:creationId xmlns:a16="http://schemas.microsoft.com/office/drawing/2014/main" id="{CD190C50-EF58-929B-6876-50F922D62944}"/>
              </a:ext>
            </a:extLst>
          </p:cNvPr>
          <p:cNvSpPr>
            <a:spLocks/>
          </p:cNvSpPr>
          <p:nvPr/>
        </p:nvSpPr>
        <p:spPr>
          <a:xfrm>
            <a:off x="210211" y="1661076"/>
            <a:ext cx="4114800" cy="4114800"/>
          </a:xfrm>
          <a:prstGeom prst="ellipse">
            <a:avLst/>
          </a:prstGeom>
          <a:solidFill>
            <a:schemeClr val="accent5">
              <a:lumMod val="75000"/>
            </a:schemeClr>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 name="TextBox 4">
            <a:extLst>
              <a:ext uri="{FF2B5EF4-FFF2-40B4-BE49-F238E27FC236}">
                <a16:creationId xmlns:a16="http://schemas.microsoft.com/office/drawing/2014/main" id="{49ED9B77-4488-43CD-E273-374BFAF8B6F1}"/>
              </a:ext>
            </a:extLst>
          </p:cNvPr>
          <p:cNvSpPr txBox="1"/>
          <p:nvPr/>
        </p:nvSpPr>
        <p:spPr>
          <a:xfrm>
            <a:off x="1088196" y="1980714"/>
            <a:ext cx="235882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mazon Ember Light"/>
                <a:ea typeface="+mn-ea"/>
                <a:cs typeface="+mn-cs"/>
              </a:rPr>
              <a:t>Foundation models</a:t>
            </a:r>
          </a:p>
        </p:txBody>
      </p:sp>
    </p:spTree>
    <p:extLst>
      <p:ext uri="{BB962C8B-B14F-4D97-AF65-F5344CB8AC3E}">
        <p14:creationId xmlns:p14="http://schemas.microsoft.com/office/powerpoint/2010/main" val="4096022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16">
            <a:extLst>
              <a:ext uri="{FF2B5EF4-FFF2-40B4-BE49-F238E27FC236}">
                <a16:creationId xmlns:a16="http://schemas.microsoft.com/office/drawing/2014/main" id="{26E11066-77F9-7322-C182-725C910CBEE1}"/>
              </a:ext>
            </a:extLst>
          </p:cNvPr>
          <p:cNvSpPr>
            <a:spLocks noGrp="1"/>
          </p:cNvSpPr>
          <p:nvPr>
            <p:ph type="sldNum" idx="97"/>
          </p:nvPr>
        </p:nvSpPr>
        <p:spPr/>
        <p:txBody>
          <a:bodyPr/>
          <a:lstStyle/>
          <a:p>
            <a:fld id="{86A8BF56-6CB3-514C-9A64-F39D95C9E25B}" type="slidenum">
              <a:rPr lang="en-US" smtClean="0"/>
              <a:t>4</a:t>
            </a:fld>
            <a:endParaRPr lang="en-US"/>
          </a:p>
        </p:txBody>
      </p:sp>
      <p:sp>
        <p:nvSpPr>
          <p:cNvPr id="2" name="Title 1">
            <a:extLst>
              <a:ext uri="{FF2B5EF4-FFF2-40B4-BE49-F238E27FC236}">
                <a16:creationId xmlns:a16="http://schemas.microsoft.com/office/drawing/2014/main" id="{8E88A9F1-16AC-1ED9-E241-952634A699A9}"/>
              </a:ext>
            </a:extLst>
          </p:cNvPr>
          <p:cNvSpPr>
            <a:spLocks noGrp="1"/>
          </p:cNvSpPr>
          <p:nvPr>
            <p:ph type="title" idx="1"/>
          </p:nvPr>
        </p:nvSpPr>
        <p:spPr/>
        <p:txBody>
          <a:bodyPr/>
          <a:lstStyle/>
          <a:p>
            <a:r>
              <a:rPr lang="en-US" dirty="0"/>
              <a:t>Review: Large Language Models (LLMs)</a:t>
            </a:r>
          </a:p>
        </p:txBody>
      </p:sp>
      <p:sp>
        <p:nvSpPr>
          <p:cNvPr id="3" name="Content Placeholder 2">
            <a:extLst>
              <a:ext uri="{FF2B5EF4-FFF2-40B4-BE49-F238E27FC236}">
                <a16:creationId xmlns:a16="http://schemas.microsoft.com/office/drawing/2014/main" id="{F0B3A147-B347-2C08-81B9-E2427969D7AF}"/>
              </a:ext>
            </a:extLst>
          </p:cNvPr>
          <p:cNvSpPr>
            <a:spLocks noGrp="1"/>
          </p:cNvSpPr>
          <p:nvPr>
            <p:ph idx="2"/>
          </p:nvPr>
        </p:nvSpPr>
        <p:spPr>
          <a:xfrm>
            <a:off x="4468872" y="1165536"/>
            <a:ext cx="7363464" cy="3193333"/>
          </a:xfrm>
        </p:spPr>
        <p:txBody>
          <a:bodyPr/>
          <a:lstStyle/>
          <a:p>
            <a:r>
              <a:rPr lang="en-US" sz="2800" dirty="0">
                <a:solidFill>
                  <a:sysClr val="windowText" lastClr="000000"/>
                </a:solidFill>
              </a:rPr>
              <a:t>Foundation models </a:t>
            </a:r>
            <a:r>
              <a:rPr lang="en-US" sz="2800" dirty="0">
                <a:solidFill>
                  <a:schemeClr val="accent6"/>
                </a:solidFill>
              </a:rPr>
              <a:t>trained on </a:t>
            </a:r>
            <a:r>
              <a:rPr lang="en-US" sz="2800" dirty="0">
                <a:solidFill>
                  <a:schemeClr val="accent6"/>
                </a:solidFill>
                <a:latin typeface="+mj-lt"/>
              </a:rPr>
              <a:t>text</a:t>
            </a:r>
            <a:r>
              <a:rPr lang="en-US" sz="2800" b="1" dirty="0">
                <a:solidFill>
                  <a:sysClr val="windowText" lastClr="000000"/>
                </a:solidFill>
              </a:rPr>
              <a:t>.</a:t>
            </a:r>
          </a:p>
          <a:p>
            <a:r>
              <a:rPr lang="en-US" sz="2800" dirty="0">
                <a:solidFill>
                  <a:sysClr val="windowText" lastClr="000000"/>
                </a:solidFill>
              </a:rPr>
              <a:t>Large ML models that learn the </a:t>
            </a:r>
            <a:r>
              <a:rPr lang="en-US" sz="2800" dirty="0">
                <a:solidFill>
                  <a:sysClr val="windowText" lastClr="000000"/>
                </a:solidFill>
                <a:latin typeface="+mj-lt"/>
              </a:rPr>
              <a:t>probabilities of words</a:t>
            </a:r>
            <a:r>
              <a:rPr lang="en-US" sz="2800" b="1" dirty="0">
                <a:solidFill>
                  <a:sysClr val="windowText" lastClr="000000"/>
                </a:solidFill>
              </a:rPr>
              <a:t> </a:t>
            </a:r>
            <a:r>
              <a:rPr lang="en-US" sz="2800" dirty="0">
                <a:solidFill>
                  <a:sysClr val="windowText" lastClr="000000"/>
                </a:solidFill>
              </a:rPr>
              <a:t>being used in certain contexts.</a:t>
            </a:r>
          </a:p>
          <a:p>
            <a:r>
              <a:rPr lang="en-US" sz="2800" dirty="0">
                <a:solidFill>
                  <a:sysClr val="windowText" lastClr="000000"/>
                </a:solidFill>
                <a:latin typeface="+mj-lt"/>
              </a:rPr>
              <a:t>Training task</a:t>
            </a:r>
            <a:r>
              <a:rPr lang="en-US" sz="2800" b="1" dirty="0">
                <a:solidFill>
                  <a:sysClr val="windowText" lastClr="000000"/>
                </a:solidFill>
              </a:rPr>
              <a:t>: </a:t>
            </a:r>
            <a:r>
              <a:rPr lang="en-US" sz="2800" dirty="0">
                <a:solidFill>
                  <a:sysClr val="windowText" lastClr="000000"/>
                </a:solidFill>
              </a:rPr>
              <a:t>Learn to predict the missing word in a text sequence.</a:t>
            </a:r>
          </a:p>
          <a:p>
            <a:endParaRPr lang="en-US" dirty="0"/>
          </a:p>
        </p:txBody>
      </p:sp>
      <p:grpSp>
        <p:nvGrpSpPr>
          <p:cNvPr id="16" name="Group 15" descr="Image showing the set of Large Language Models (LLMs) as a subset of Foundation models.">
            <a:extLst>
              <a:ext uri="{FF2B5EF4-FFF2-40B4-BE49-F238E27FC236}">
                <a16:creationId xmlns:a16="http://schemas.microsoft.com/office/drawing/2014/main" id="{DB1D370B-7D10-73D4-9F04-780C97124A05}"/>
              </a:ext>
            </a:extLst>
          </p:cNvPr>
          <p:cNvGrpSpPr/>
          <p:nvPr/>
        </p:nvGrpSpPr>
        <p:grpSpPr>
          <a:xfrm>
            <a:off x="210211" y="1661076"/>
            <a:ext cx="4114800" cy="4114800"/>
            <a:chOff x="210211" y="1661076"/>
            <a:chExt cx="4114800" cy="4114800"/>
          </a:xfrm>
        </p:grpSpPr>
        <p:sp>
          <p:nvSpPr>
            <p:cNvPr id="4" name="Oval 3">
              <a:extLst>
                <a:ext uri="{FF2B5EF4-FFF2-40B4-BE49-F238E27FC236}">
                  <a16:creationId xmlns:a16="http://schemas.microsoft.com/office/drawing/2014/main" id="{DC5BAC1D-C386-7C55-23BF-695260E7F827}"/>
                </a:ext>
              </a:extLst>
            </p:cNvPr>
            <p:cNvSpPr>
              <a:spLocks/>
            </p:cNvSpPr>
            <p:nvPr/>
          </p:nvSpPr>
          <p:spPr>
            <a:xfrm>
              <a:off x="210211" y="1661076"/>
              <a:ext cx="4114800" cy="4114800"/>
            </a:xfrm>
            <a:prstGeom prst="ellipse">
              <a:avLst/>
            </a:prstGeom>
            <a:solidFill>
              <a:schemeClr val="accent5">
                <a:lumMod val="75000"/>
              </a:schemeClr>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5" name="TextBox 4">
              <a:extLst>
                <a:ext uri="{FF2B5EF4-FFF2-40B4-BE49-F238E27FC236}">
                  <a16:creationId xmlns:a16="http://schemas.microsoft.com/office/drawing/2014/main" id="{A44E4544-8BAD-1005-AD5E-DE16A9C2FAD9}"/>
                </a:ext>
              </a:extLst>
            </p:cNvPr>
            <p:cNvSpPr txBox="1"/>
            <p:nvPr/>
          </p:nvSpPr>
          <p:spPr>
            <a:xfrm>
              <a:off x="1067647" y="1796657"/>
              <a:ext cx="2358829"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mazon Ember Light"/>
                  <a:ea typeface="+mn-ea"/>
                  <a:cs typeface="+mn-cs"/>
                </a:rPr>
                <a:t>Foundation models</a:t>
              </a:r>
            </a:p>
          </p:txBody>
        </p:sp>
        <p:sp>
          <p:nvSpPr>
            <p:cNvPr id="6" name="Oval 5">
              <a:extLst>
                <a:ext uri="{FF2B5EF4-FFF2-40B4-BE49-F238E27FC236}">
                  <a16:creationId xmlns:a16="http://schemas.microsoft.com/office/drawing/2014/main" id="{154B62C3-E0E3-3F26-0699-453E42828D6A}"/>
                </a:ext>
              </a:extLst>
            </p:cNvPr>
            <p:cNvSpPr>
              <a:spLocks/>
            </p:cNvSpPr>
            <p:nvPr/>
          </p:nvSpPr>
          <p:spPr>
            <a:xfrm>
              <a:off x="964061" y="2477946"/>
              <a:ext cx="3161160" cy="3164529"/>
            </a:xfrm>
            <a:prstGeom prst="ellipse">
              <a:avLst/>
            </a:prstGeom>
            <a:solidFill>
              <a:schemeClr val="accent6">
                <a:lumMod val="75000"/>
              </a:schemeClr>
            </a:solidFill>
            <a:ln w="28575">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solidFill>
                  <a:srgbClr val="E21E64"/>
                </a:solidFill>
                <a:latin typeface="Amazon Ember Light"/>
              </a:endParaRPr>
            </a:p>
          </p:txBody>
        </p:sp>
        <p:sp>
          <p:nvSpPr>
            <p:cNvPr id="7" name="TextBox 6">
              <a:extLst>
                <a:ext uri="{FF2B5EF4-FFF2-40B4-BE49-F238E27FC236}">
                  <a16:creationId xmlns:a16="http://schemas.microsoft.com/office/drawing/2014/main" id="{4E5870BE-ACE3-DA0C-B6FE-9AA0F3A1D265}"/>
                </a:ext>
              </a:extLst>
            </p:cNvPr>
            <p:cNvSpPr txBox="1"/>
            <p:nvPr/>
          </p:nvSpPr>
          <p:spPr>
            <a:xfrm>
              <a:off x="1566494" y="3718476"/>
              <a:ext cx="2059776"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mazon Ember Light"/>
                  <a:ea typeface="+mn-ea"/>
                  <a:cs typeface="+mn-cs"/>
                </a:rPr>
                <a:t>Large Language Models (LLMs)</a:t>
              </a:r>
            </a:p>
          </p:txBody>
        </p:sp>
      </p:grpSp>
      <p:grpSp>
        <p:nvGrpSpPr>
          <p:cNvPr id="18" name="Group 17" descr="Diagram demonstrating how LLMs are trained. Words are masked from the training data and the LLM is asked to predict the missing word based on the context around it.">
            <a:extLst>
              <a:ext uri="{FF2B5EF4-FFF2-40B4-BE49-F238E27FC236}">
                <a16:creationId xmlns:a16="http://schemas.microsoft.com/office/drawing/2014/main" id="{F095C86B-CF1E-7273-864D-F42EEA47708B}"/>
              </a:ext>
            </a:extLst>
          </p:cNvPr>
          <p:cNvGrpSpPr/>
          <p:nvPr/>
        </p:nvGrpSpPr>
        <p:grpSpPr>
          <a:xfrm>
            <a:off x="5078861" y="4546134"/>
            <a:ext cx="5467601" cy="1849396"/>
            <a:chOff x="5078861" y="4546134"/>
            <a:chExt cx="5467601" cy="1849396"/>
          </a:xfrm>
        </p:grpSpPr>
        <p:sp>
          <p:nvSpPr>
            <p:cNvPr id="8" name="Rectangle 7">
              <a:extLst>
                <a:ext uri="{FF2B5EF4-FFF2-40B4-BE49-F238E27FC236}">
                  <a16:creationId xmlns:a16="http://schemas.microsoft.com/office/drawing/2014/main" id="{CEDEE35A-ED17-DABA-8F29-991F1E54B9D7}"/>
                </a:ext>
              </a:extLst>
            </p:cNvPr>
            <p:cNvSpPr/>
            <p:nvPr/>
          </p:nvSpPr>
          <p:spPr>
            <a:xfrm>
              <a:off x="5078861" y="4546134"/>
              <a:ext cx="5065511" cy="966139"/>
            </a:xfrm>
            <a:prstGeom prst="rect">
              <a:avLst/>
            </a:prstGeom>
            <a:solidFill>
              <a:schemeClr val="bg2"/>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a:ea typeface="+mn-ea"/>
                  <a:cs typeface="+mn-cs"/>
                </a:rPr>
                <a:t>“The weather has been cloudy for the last two days. Most likely it will be </a:t>
              </a:r>
              <a:r>
                <a:rPr kumimoji="0" lang="en-US" sz="1800" b="1" i="0" u="none" strike="noStrike" kern="1200" cap="none" spc="0" normalizeH="0" baseline="0" noProof="0" dirty="0">
                  <a:ln>
                    <a:noFill/>
                  </a:ln>
                  <a:solidFill>
                    <a:srgbClr val="000000"/>
                  </a:solidFill>
                  <a:effectLst/>
                  <a:uLnTx/>
                  <a:uFillTx/>
                  <a:latin typeface="Amazon Ember Light"/>
                  <a:ea typeface="+mn-ea"/>
                  <a:cs typeface="+mn-cs"/>
                </a:rPr>
                <a:t>____</a:t>
              </a:r>
              <a:r>
                <a:rPr kumimoji="0" lang="en-US" sz="1800" b="0" i="0" u="none" strike="noStrike" kern="1200" cap="none" spc="0" normalizeH="0" baseline="0" noProof="0" dirty="0">
                  <a:ln>
                    <a:noFill/>
                  </a:ln>
                  <a:solidFill>
                    <a:srgbClr val="000000"/>
                  </a:solidFill>
                  <a:effectLst/>
                  <a:uLnTx/>
                  <a:uFillTx/>
                  <a:latin typeface="Amazon Ember Light"/>
                  <a:ea typeface="+mn-ea"/>
                  <a:cs typeface="+mn-cs"/>
                </a:rPr>
                <a:t> tomorrow.”</a:t>
              </a:r>
            </a:p>
          </p:txBody>
        </p:sp>
        <p:cxnSp>
          <p:nvCxnSpPr>
            <p:cNvPr id="9" name="Straight Arrow Connector 8">
              <a:extLst>
                <a:ext uri="{FF2B5EF4-FFF2-40B4-BE49-F238E27FC236}">
                  <a16:creationId xmlns:a16="http://schemas.microsoft.com/office/drawing/2014/main" id="{EF9AF9A9-8336-24B2-B167-7A5742F8117D}"/>
                </a:ext>
              </a:extLst>
            </p:cNvPr>
            <p:cNvCxnSpPr>
              <a:cxnSpLocks/>
            </p:cNvCxnSpPr>
            <p:nvPr/>
          </p:nvCxnSpPr>
          <p:spPr>
            <a:xfrm>
              <a:off x="8347679" y="5337857"/>
              <a:ext cx="125661" cy="6977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E0E0197-3AEE-8957-701D-9301212D08B4}"/>
                </a:ext>
              </a:extLst>
            </p:cNvPr>
            <p:cNvCxnSpPr>
              <a:cxnSpLocks/>
            </p:cNvCxnSpPr>
            <p:nvPr/>
          </p:nvCxnSpPr>
          <p:spPr>
            <a:xfrm flipH="1">
              <a:off x="7590549" y="5343940"/>
              <a:ext cx="767761" cy="67767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D89B25E-A34D-8736-3DDD-EFC5EEBFAEDD}"/>
                </a:ext>
              </a:extLst>
            </p:cNvPr>
            <p:cNvCxnSpPr>
              <a:cxnSpLocks/>
            </p:cNvCxnSpPr>
            <p:nvPr/>
          </p:nvCxnSpPr>
          <p:spPr>
            <a:xfrm>
              <a:off x="8358310" y="5346526"/>
              <a:ext cx="1098790" cy="66720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E690814-2AA9-6241-DD03-0862F94D0432}"/>
                </a:ext>
              </a:extLst>
            </p:cNvPr>
            <p:cNvSpPr txBox="1"/>
            <p:nvPr/>
          </p:nvSpPr>
          <p:spPr>
            <a:xfrm>
              <a:off x="7081447" y="6021616"/>
              <a:ext cx="9993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a:ea typeface="+mn-ea"/>
                  <a:cs typeface="+mn-cs"/>
                </a:rPr>
                <a:t>cloudy?</a:t>
              </a:r>
            </a:p>
          </p:txBody>
        </p:sp>
        <p:sp>
          <p:nvSpPr>
            <p:cNvPr id="13" name="TextBox 12">
              <a:extLst>
                <a:ext uri="{FF2B5EF4-FFF2-40B4-BE49-F238E27FC236}">
                  <a16:creationId xmlns:a16="http://schemas.microsoft.com/office/drawing/2014/main" id="{8C3A73E7-3326-46B3-2F15-D9E4D1CAE0DA}"/>
                </a:ext>
              </a:extLst>
            </p:cNvPr>
            <p:cNvSpPr txBox="1"/>
            <p:nvPr/>
          </p:nvSpPr>
          <p:spPr>
            <a:xfrm>
              <a:off x="8033134" y="6026198"/>
              <a:ext cx="8992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a:ea typeface="+mn-ea"/>
                  <a:cs typeface="+mn-cs"/>
                </a:rPr>
                <a:t>sunny?</a:t>
              </a:r>
            </a:p>
          </p:txBody>
        </p:sp>
        <p:sp>
          <p:nvSpPr>
            <p:cNvPr id="14" name="TextBox 13">
              <a:extLst>
                <a:ext uri="{FF2B5EF4-FFF2-40B4-BE49-F238E27FC236}">
                  <a16:creationId xmlns:a16="http://schemas.microsoft.com/office/drawing/2014/main" id="{4DD93FDD-6267-BAC9-A7EC-D6AEE29CEF16}"/>
                </a:ext>
              </a:extLst>
            </p:cNvPr>
            <p:cNvSpPr txBox="1"/>
            <p:nvPr/>
          </p:nvSpPr>
          <p:spPr>
            <a:xfrm>
              <a:off x="8900186" y="6023154"/>
              <a:ext cx="10949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a:ea typeface="+mn-ea"/>
                  <a:cs typeface="+mn-cs"/>
                </a:rPr>
                <a:t>foggy?</a:t>
              </a:r>
            </a:p>
          </p:txBody>
        </p:sp>
        <p:sp>
          <p:nvSpPr>
            <p:cNvPr id="15" name="TextBox 14">
              <a:extLst>
                <a:ext uri="{FF2B5EF4-FFF2-40B4-BE49-F238E27FC236}">
                  <a16:creationId xmlns:a16="http://schemas.microsoft.com/office/drawing/2014/main" id="{213C06F7-A19B-0394-B082-F788CF7B2CC4}"/>
                </a:ext>
              </a:extLst>
            </p:cNvPr>
            <p:cNvSpPr txBox="1"/>
            <p:nvPr/>
          </p:nvSpPr>
          <p:spPr>
            <a:xfrm>
              <a:off x="9797317" y="6008684"/>
              <a:ext cx="7491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mazon Ember Light"/>
                  <a:ea typeface="+mn-ea"/>
                  <a:cs typeface="+mn-cs"/>
                </a:rPr>
                <a:t>….</a:t>
              </a:r>
            </a:p>
          </p:txBody>
        </p:sp>
      </p:grpSp>
    </p:spTree>
    <p:extLst>
      <p:ext uri="{BB962C8B-B14F-4D97-AF65-F5344CB8AC3E}">
        <p14:creationId xmlns:p14="http://schemas.microsoft.com/office/powerpoint/2010/main" val="47476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1970D8-00E6-4BAA-FD9C-3557B4141345}"/>
              </a:ext>
            </a:extLst>
          </p:cNvPr>
          <p:cNvSpPr>
            <a:spLocks noGrp="1"/>
          </p:cNvSpPr>
          <p:nvPr>
            <p:ph type="sldNum" idx="97"/>
          </p:nvPr>
        </p:nvSpPr>
        <p:spPr/>
        <p:txBody>
          <a:bodyPr/>
          <a:lstStyle/>
          <a:p>
            <a:fld id="{86A8BF56-6CB3-514C-9A64-F39D95C9E25B}" type="slidenum">
              <a:rPr lang="en-US" smtClean="0"/>
              <a:t>5</a:t>
            </a:fld>
            <a:endParaRPr lang="en-US"/>
          </a:p>
        </p:txBody>
      </p:sp>
      <p:sp>
        <p:nvSpPr>
          <p:cNvPr id="3" name="Content Placeholder 2">
            <a:extLst>
              <a:ext uri="{FF2B5EF4-FFF2-40B4-BE49-F238E27FC236}">
                <a16:creationId xmlns:a16="http://schemas.microsoft.com/office/drawing/2014/main" id="{52D874EE-83A5-03E8-952D-04A8891CDCF0}"/>
              </a:ext>
            </a:extLst>
          </p:cNvPr>
          <p:cNvSpPr>
            <a:spLocks noGrp="1"/>
          </p:cNvSpPr>
          <p:nvPr>
            <p:ph idx="2"/>
          </p:nvPr>
        </p:nvSpPr>
        <p:spPr>
          <a:xfrm>
            <a:off x="365760" y="1165536"/>
            <a:ext cx="11466576" cy="4712750"/>
          </a:xfrm>
        </p:spPr>
        <p:txBody>
          <a:bodyPr/>
          <a:lstStyle/>
          <a:p>
            <a:pPr marL="574675" indent="-287338">
              <a:buFont typeface="Arial" panose="020B0604020202020204" pitchFamily="34" charset="0"/>
              <a:buChar char="•"/>
            </a:pPr>
            <a:r>
              <a:rPr lang="en-US" sz="2400" dirty="0"/>
              <a:t>Write </a:t>
            </a:r>
            <a:r>
              <a:rPr lang="en-US" sz="2400" dirty="0">
                <a:solidFill>
                  <a:schemeClr val="accent6"/>
                </a:solidFill>
                <a:latin typeface="+mj-lt"/>
              </a:rPr>
              <a:t>clear</a:t>
            </a:r>
            <a:r>
              <a:rPr lang="en-US" sz="2400" dirty="0"/>
              <a:t> and </a:t>
            </a:r>
            <a:r>
              <a:rPr lang="en-US" sz="2400" dirty="0">
                <a:solidFill>
                  <a:schemeClr val="accent6"/>
                </a:solidFill>
                <a:latin typeface="+mj-lt"/>
              </a:rPr>
              <a:t>specific</a:t>
            </a:r>
            <a:r>
              <a:rPr lang="en-US" sz="2400" dirty="0"/>
              <a:t> instructions (unambiguous and specific).</a:t>
            </a:r>
          </a:p>
          <a:p>
            <a:pPr marL="574675" indent="-287338">
              <a:buFont typeface="Arial" panose="020B0604020202020204" pitchFamily="34" charset="0"/>
              <a:buChar char="•"/>
            </a:pPr>
            <a:r>
              <a:rPr lang="en-US" sz="2400" dirty="0"/>
              <a:t>Highlight or specify the part of the prompt </a:t>
            </a:r>
            <a:r>
              <a:rPr lang="en-US" sz="2400" dirty="0">
                <a:solidFill>
                  <a:schemeClr val="accent6"/>
                </a:solidFill>
                <a:latin typeface="+mj-lt"/>
              </a:rPr>
              <a:t>that the model should focus</a:t>
            </a:r>
            <a:r>
              <a:rPr lang="en-US" sz="2400" dirty="0">
                <a:solidFill>
                  <a:schemeClr val="tx2"/>
                </a:solidFill>
              </a:rPr>
              <a:t> </a:t>
            </a:r>
            <a:r>
              <a:rPr lang="en-US" sz="2400" dirty="0"/>
              <a:t>on.</a:t>
            </a:r>
          </a:p>
          <a:p>
            <a:pPr marL="574675" indent="-287338">
              <a:buFont typeface="Arial" panose="020B0604020202020204" pitchFamily="34" charset="0"/>
              <a:buChar char="•"/>
            </a:pPr>
            <a:r>
              <a:rPr lang="en-US" sz="2400" dirty="0"/>
              <a:t>Add relevant </a:t>
            </a:r>
            <a:r>
              <a:rPr lang="en-US" sz="2400" dirty="0">
                <a:solidFill>
                  <a:schemeClr val="accent6"/>
                </a:solidFill>
                <a:latin typeface="+mj-lt"/>
              </a:rPr>
              <a:t>details</a:t>
            </a:r>
            <a:r>
              <a:rPr lang="en-US" sz="2400" dirty="0"/>
              <a:t> or </a:t>
            </a:r>
            <a:r>
              <a:rPr lang="en-US" sz="2400" dirty="0">
                <a:solidFill>
                  <a:schemeClr val="accent6"/>
                </a:solidFill>
                <a:latin typeface="+mj-lt"/>
              </a:rPr>
              <a:t>restrictions</a:t>
            </a:r>
            <a:r>
              <a:rPr lang="en-US" sz="2400" dirty="0"/>
              <a:t> to your prompt.</a:t>
            </a:r>
          </a:p>
          <a:p>
            <a:pPr marL="574675" indent="-287338">
              <a:buFont typeface="Arial" panose="020B0604020202020204" pitchFamily="34" charset="0"/>
              <a:buChar char="•"/>
            </a:pPr>
            <a:r>
              <a:rPr lang="en-US" sz="2400" dirty="0"/>
              <a:t>Separate the instruction, content, question, and output directions.</a:t>
            </a:r>
          </a:p>
          <a:p>
            <a:pPr marL="574675" indent="-287338">
              <a:buFont typeface="Arial" panose="020B0604020202020204" pitchFamily="34" charset="0"/>
              <a:buChar char="•"/>
            </a:pPr>
            <a:r>
              <a:rPr lang="en-US" sz="2400" dirty="0"/>
              <a:t>Prefer using positive instructions.</a:t>
            </a:r>
          </a:p>
          <a:p>
            <a:pPr marL="574675" indent="-287338">
              <a:buFont typeface="Arial" panose="020B0604020202020204" pitchFamily="34" charset="0"/>
              <a:buChar char="•"/>
            </a:pPr>
            <a:r>
              <a:rPr lang="en-US" sz="2400" dirty="0"/>
              <a:t>Finding the optimum prompt is usually an </a:t>
            </a:r>
            <a:r>
              <a:rPr lang="en-US" sz="2400" dirty="0">
                <a:solidFill>
                  <a:schemeClr val="accent6"/>
                </a:solidFill>
                <a:latin typeface="+mj-lt"/>
              </a:rPr>
              <a:t>iterative</a:t>
            </a:r>
            <a:r>
              <a:rPr lang="en-US" sz="2400" dirty="0"/>
              <a:t> process which may take a few attempts.</a:t>
            </a:r>
          </a:p>
          <a:p>
            <a:pPr marL="574675" indent="-287338">
              <a:buFont typeface="Arial" panose="020B0604020202020204" pitchFamily="34" charset="0"/>
              <a:buChar char="•"/>
            </a:pPr>
            <a:endParaRPr lang="en-US" sz="2400" dirty="0"/>
          </a:p>
          <a:p>
            <a:pPr marL="574675" indent="-287338">
              <a:buFont typeface="Arial" panose="020B0604020202020204" pitchFamily="34" charset="0"/>
              <a:buChar char="•"/>
            </a:pPr>
            <a:endParaRPr lang="en-US" sz="2400" dirty="0"/>
          </a:p>
          <a:p>
            <a:endParaRPr lang="en-US" dirty="0"/>
          </a:p>
        </p:txBody>
      </p:sp>
      <p:sp>
        <p:nvSpPr>
          <p:cNvPr id="2" name="Title 1">
            <a:extLst>
              <a:ext uri="{FF2B5EF4-FFF2-40B4-BE49-F238E27FC236}">
                <a16:creationId xmlns:a16="http://schemas.microsoft.com/office/drawing/2014/main" id="{88B42A36-C4F4-83BF-4A43-687CCCB3FD67}"/>
              </a:ext>
            </a:extLst>
          </p:cNvPr>
          <p:cNvSpPr>
            <a:spLocks noGrp="1"/>
          </p:cNvSpPr>
          <p:nvPr>
            <p:ph type="title"/>
          </p:nvPr>
        </p:nvSpPr>
        <p:spPr>
          <a:xfrm>
            <a:off x="365760" y="301752"/>
            <a:ext cx="11466576" cy="731520"/>
          </a:xfrm>
        </p:spPr>
        <p:txBody>
          <a:bodyPr>
            <a:normAutofit/>
          </a:bodyPr>
          <a:lstStyle/>
          <a:p>
            <a:r>
              <a:rPr lang="en-US" dirty="0">
                <a:latin typeface="Amazon Ember Display Heavy"/>
              </a:rPr>
              <a:t>Review: Good prompting practices</a:t>
            </a:r>
          </a:p>
        </p:txBody>
      </p:sp>
    </p:spTree>
    <p:extLst>
      <p:ext uri="{BB962C8B-B14F-4D97-AF65-F5344CB8AC3E}">
        <p14:creationId xmlns:p14="http://schemas.microsoft.com/office/powerpoint/2010/main" val="3614292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07BBF-5A50-4D15-A318-7D7E5206E85C}"/>
              </a:ext>
            </a:extLst>
          </p:cNvPr>
          <p:cNvSpPr>
            <a:spLocks noGrp="1"/>
          </p:cNvSpPr>
          <p:nvPr>
            <p:ph type="sldNum" idx="97"/>
          </p:nvPr>
        </p:nvSpPr>
        <p:spPr/>
        <p:txBody>
          <a:bodyPr/>
          <a:lstStyle/>
          <a:p>
            <a:fld id="{86A8BF56-6CB3-514C-9A64-F39D95C9E25B}" type="slidenum">
              <a:rPr lang="en-US" smtClean="0"/>
              <a:pPr/>
              <a:t>6</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a:t>Why is it important to evaluate LLMs?</a:t>
            </a:r>
          </a:p>
        </p:txBody>
      </p:sp>
    </p:spTree>
    <p:extLst>
      <p:ext uri="{BB962C8B-B14F-4D97-AF65-F5344CB8AC3E}">
        <p14:creationId xmlns:p14="http://schemas.microsoft.com/office/powerpoint/2010/main" val="1291583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E4EB78-227B-23BF-ECA8-91C5C8F210FB}"/>
              </a:ext>
            </a:extLst>
          </p:cNvPr>
          <p:cNvSpPr>
            <a:spLocks noGrp="1"/>
          </p:cNvSpPr>
          <p:nvPr>
            <p:ph type="sldNum" idx="97"/>
          </p:nvPr>
        </p:nvSpPr>
        <p:spPr/>
        <p:txBody>
          <a:bodyPr/>
          <a:lstStyle/>
          <a:p>
            <a:fld id="{86A8BF56-6CB3-514C-9A64-F39D95C9E25B}" type="slidenum">
              <a:rPr lang="en-US" smtClean="0"/>
              <a:t>7</a:t>
            </a:fld>
            <a:endParaRPr lang="en-US"/>
          </a:p>
        </p:txBody>
      </p:sp>
      <p:sp>
        <p:nvSpPr>
          <p:cNvPr id="3" name="Title 2">
            <a:extLst>
              <a:ext uri="{FF2B5EF4-FFF2-40B4-BE49-F238E27FC236}">
                <a16:creationId xmlns:a16="http://schemas.microsoft.com/office/drawing/2014/main" id="{7F5EEF8A-48C3-07B1-F9F0-8B0214802ECF}"/>
              </a:ext>
            </a:extLst>
          </p:cNvPr>
          <p:cNvSpPr>
            <a:spLocks noGrp="1"/>
          </p:cNvSpPr>
          <p:nvPr>
            <p:ph type="title" idx="1"/>
          </p:nvPr>
        </p:nvSpPr>
        <p:spPr/>
        <p:txBody>
          <a:bodyPr/>
          <a:lstStyle/>
          <a:p>
            <a:r>
              <a:rPr lang="en-US" dirty="0"/>
              <a:t>1. Increasing number of core abilities</a:t>
            </a:r>
          </a:p>
        </p:txBody>
      </p:sp>
      <p:sp>
        <p:nvSpPr>
          <p:cNvPr id="4" name="Content Placeholder 3">
            <a:extLst>
              <a:ext uri="{FF2B5EF4-FFF2-40B4-BE49-F238E27FC236}">
                <a16:creationId xmlns:a16="http://schemas.microsoft.com/office/drawing/2014/main" id="{8AE00583-0B80-3D4E-286A-68A98A5E2B2A}"/>
              </a:ext>
            </a:extLst>
          </p:cNvPr>
          <p:cNvSpPr>
            <a:spLocks noGrp="1"/>
          </p:cNvSpPr>
          <p:nvPr>
            <p:ph idx="2"/>
          </p:nvPr>
        </p:nvSpPr>
        <p:spPr/>
        <p:txBody>
          <a:bodyPr/>
          <a:lstStyle/>
          <a:p>
            <a:r>
              <a:rPr lang="en-US" dirty="0"/>
              <a:t>LLMs have </a:t>
            </a:r>
            <a:r>
              <a:rPr lang="en-US" dirty="0">
                <a:solidFill>
                  <a:schemeClr val="accent6"/>
                </a:solidFill>
              </a:rPr>
              <a:t>increasing number </a:t>
            </a:r>
            <a:r>
              <a:rPr lang="en-US" dirty="0"/>
              <a:t>of core abilities:</a:t>
            </a:r>
          </a:p>
          <a:p>
            <a:pPr lvl="1"/>
            <a:r>
              <a:rPr lang="en-US" dirty="0"/>
              <a:t>Question-answering</a:t>
            </a:r>
          </a:p>
          <a:p>
            <a:pPr lvl="1"/>
            <a:r>
              <a:rPr lang="en-US" dirty="0"/>
              <a:t>Content generation</a:t>
            </a:r>
          </a:p>
          <a:p>
            <a:pPr lvl="1"/>
            <a:r>
              <a:rPr lang="en-US" dirty="0"/>
              <a:t>Logical reasoning</a:t>
            </a:r>
          </a:p>
          <a:p>
            <a:pPr lvl="1"/>
            <a:r>
              <a:rPr lang="en-US" dirty="0"/>
              <a:t>Arithmetic reasoning</a:t>
            </a:r>
          </a:p>
          <a:p>
            <a:pPr lvl="1"/>
            <a:r>
              <a:rPr lang="en-US" dirty="0"/>
              <a:t>Common sense reasoning</a:t>
            </a:r>
          </a:p>
          <a:p>
            <a:pPr lvl="1"/>
            <a:r>
              <a:rPr lang="en-US" dirty="0"/>
              <a:t>Code generation</a:t>
            </a:r>
          </a:p>
          <a:p>
            <a:pPr lvl="1"/>
            <a:r>
              <a:rPr lang="en-US" dirty="0"/>
              <a:t>Multi-hop reasoning</a:t>
            </a:r>
          </a:p>
          <a:p>
            <a:pPr lvl="1"/>
            <a:r>
              <a:rPr lang="en-US" dirty="0"/>
              <a:t>and more!</a:t>
            </a:r>
          </a:p>
        </p:txBody>
      </p:sp>
      <p:pic>
        <p:nvPicPr>
          <p:cNvPr id="5" name="Picture 4">
            <a:extLst>
              <a:ext uri="{FF2B5EF4-FFF2-40B4-BE49-F238E27FC236}">
                <a16:creationId xmlns:a16="http://schemas.microsoft.com/office/drawing/2014/main" id="{D2F015F6-758A-2133-4966-BAC94D821C8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900524" y="2154447"/>
            <a:ext cx="3429000" cy="3429000"/>
          </a:xfrm>
          <a:prstGeom prst="rect">
            <a:avLst/>
          </a:prstGeom>
        </p:spPr>
      </p:pic>
    </p:spTree>
    <p:extLst>
      <p:ext uri="{BB962C8B-B14F-4D97-AF65-F5344CB8AC3E}">
        <p14:creationId xmlns:p14="http://schemas.microsoft.com/office/powerpoint/2010/main" val="3269344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6F519B-D4BC-3CCA-58E4-C534ECFB04E7}"/>
              </a:ext>
            </a:extLst>
          </p:cNvPr>
          <p:cNvSpPr>
            <a:spLocks noGrp="1"/>
          </p:cNvSpPr>
          <p:nvPr>
            <p:ph type="sldNum" idx="97"/>
          </p:nvPr>
        </p:nvSpPr>
        <p:spPr/>
        <p:txBody>
          <a:bodyPr/>
          <a:lstStyle/>
          <a:p>
            <a:fld id="{86A8BF56-6CB3-514C-9A64-F39D95C9E25B}" type="slidenum">
              <a:rPr lang="en-US" smtClean="0"/>
              <a:t>8</a:t>
            </a:fld>
            <a:endParaRPr lang="en-US"/>
          </a:p>
        </p:txBody>
      </p:sp>
      <p:sp>
        <p:nvSpPr>
          <p:cNvPr id="3" name="Title 2">
            <a:extLst>
              <a:ext uri="{FF2B5EF4-FFF2-40B4-BE49-F238E27FC236}">
                <a16:creationId xmlns:a16="http://schemas.microsoft.com/office/drawing/2014/main" id="{4E6CC11D-3E8C-5D09-D4EA-F31695769BC1}"/>
              </a:ext>
            </a:extLst>
          </p:cNvPr>
          <p:cNvSpPr>
            <a:spLocks noGrp="1"/>
          </p:cNvSpPr>
          <p:nvPr>
            <p:ph type="title" idx="1"/>
          </p:nvPr>
        </p:nvSpPr>
        <p:spPr/>
        <p:txBody>
          <a:bodyPr/>
          <a:lstStyle/>
          <a:p>
            <a:r>
              <a:rPr lang="en-US" dirty="0"/>
              <a:t>2. Knowledge of diverse topics</a:t>
            </a:r>
          </a:p>
        </p:txBody>
      </p:sp>
      <p:sp>
        <p:nvSpPr>
          <p:cNvPr id="4" name="Content Placeholder 3">
            <a:extLst>
              <a:ext uri="{FF2B5EF4-FFF2-40B4-BE49-F238E27FC236}">
                <a16:creationId xmlns:a16="http://schemas.microsoft.com/office/drawing/2014/main" id="{0E561501-5051-E030-59CF-421A70732205}"/>
              </a:ext>
            </a:extLst>
          </p:cNvPr>
          <p:cNvSpPr>
            <a:spLocks noGrp="1"/>
          </p:cNvSpPr>
          <p:nvPr>
            <p:ph idx="2"/>
          </p:nvPr>
        </p:nvSpPr>
        <p:spPr/>
        <p:txBody>
          <a:bodyPr/>
          <a:lstStyle/>
          <a:p>
            <a:r>
              <a:rPr lang="en-US" sz="3200" dirty="0"/>
              <a:t>LLMs have knowledge </a:t>
            </a:r>
            <a:r>
              <a:rPr lang="en-US" sz="3200" dirty="0">
                <a:solidFill>
                  <a:schemeClr val="accent6"/>
                </a:solidFill>
              </a:rPr>
              <a:t>about various domains</a:t>
            </a:r>
          </a:p>
          <a:p>
            <a:pPr lvl="1"/>
            <a:r>
              <a:rPr lang="en-US" dirty="0"/>
              <a:t>LLMS are trained on diverse data</a:t>
            </a:r>
          </a:p>
          <a:p>
            <a:pPr lvl="2"/>
            <a:r>
              <a:rPr lang="en-US" dirty="0"/>
              <a:t>Finance</a:t>
            </a:r>
          </a:p>
          <a:p>
            <a:pPr lvl="2"/>
            <a:r>
              <a:rPr lang="en-US" dirty="0"/>
              <a:t>Education</a:t>
            </a:r>
          </a:p>
          <a:p>
            <a:pPr lvl="2"/>
            <a:r>
              <a:rPr lang="en-US" dirty="0"/>
              <a:t>Software development</a:t>
            </a:r>
          </a:p>
          <a:p>
            <a:pPr lvl="2"/>
            <a:r>
              <a:rPr lang="en-US" dirty="0"/>
              <a:t>Medicine</a:t>
            </a:r>
          </a:p>
          <a:p>
            <a:pPr lvl="2"/>
            <a:r>
              <a:rPr lang="en-US" dirty="0" err="1"/>
              <a:t>etc</a:t>
            </a:r>
            <a:r>
              <a:rPr lang="en-US" dirty="0"/>
              <a:t>…</a:t>
            </a:r>
          </a:p>
          <a:p>
            <a:pPr lvl="1"/>
            <a:r>
              <a:rPr lang="en-US" dirty="0"/>
              <a:t>However, LLMs can have </a:t>
            </a:r>
            <a:r>
              <a:rPr lang="en-US" dirty="0">
                <a:solidFill>
                  <a:schemeClr val="accent1"/>
                </a:solidFill>
                <a:latin typeface="+mj-lt"/>
              </a:rPr>
              <a:t>shallow breadth of knowledge</a:t>
            </a:r>
          </a:p>
          <a:p>
            <a:pPr lvl="2"/>
            <a:r>
              <a:rPr lang="en-US" dirty="0">
                <a:solidFill>
                  <a:schemeClr val="accent1"/>
                </a:solidFill>
                <a:latin typeface="+mn-lt"/>
              </a:rPr>
              <a:t> </a:t>
            </a:r>
            <a:r>
              <a:rPr lang="en-US" dirty="0">
                <a:latin typeface="+mn-lt"/>
              </a:rPr>
              <a:t>Does their performance align with the company’s data, policies and brand?</a:t>
            </a:r>
            <a:endParaRPr lang="en-US" dirty="0"/>
          </a:p>
          <a:p>
            <a:endParaRPr lang="en-US" dirty="0"/>
          </a:p>
        </p:txBody>
      </p:sp>
      <p:grpSp>
        <p:nvGrpSpPr>
          <p:cNvPr id="5" name="Group 4">
            <a:extLst>
              <a:ext uri="{FF2B5EF4-FFF2-40B4-BE49-F238E27FC236}">
                <a16:creationId xmlns:a16="http://schemas.microsoft.com/office/drawing/2014/main" id="{9FA06F5D-1597-1CC6-F5D9-A25DCBA36B6B}"/>
              </a:ext>
              <a:ext uri="{C183D7F6-B498-43B3-948B-1728B52AA6E4}">
                <adec:decorative xmlns:adec="http://schemas.microsoft.com/office/drawing/2017/decorative" val="1"/>
              </a:ext>
            </a:extLst>
          </p:cNvPr>
          <p:cNvGrpSpPr/>
          <p:nvPr/>
        </p:nvGrpSpPr>
        <p:grpSpPr>
          <a:xfrm>
            <a:off x="7998788" y="1508679"/>
            <a:ext cx="4300654" cy="3307993"/>
            <a:chOff x="7998788" y="1508679"/>
            <a:chExt cx="4300654" cy="3307993"/>
          </a:xfrm>
        </p:grpSpPr>
        <p:pic>
          <p:nvPicPr>
            <p:cNvPr id="6" name="Picture 5">
              <a:extLst>
                <a:ext uri="{FF2B5EF4-FFF2-40B4-BE49-F238E27FC236}">
                  <a16:creationId xmlns:a16="http://schemas.microsoft.com/office/drawing/2014/main" id="{ED5B420E-6E46-F3FE-DF3C-9A7EC36BA88E}"/>
                </a:ext>
              </a:extLst>
            </p:cNvPr>
            <p:cNvPicPr>
              <a:picLocks noChangeAspect="1"/>
            </p:cNvPicPr>
            <p:nvPr/>
          </p:nvPicPr>
          <p:blipFill>
            <a:blip r:embed="rId3"/>
            <a:stretch>
              <a:fillRect/>
            </a:stretch>
          </p:blipFill>
          <p:spPr>
            <a:xfrm>
              <a:off x="9445276" y="1508679"/>
              <a:ext cx="1675726" cy="1675726"/>
            </a:xfrm>
            <a:prstGeom prst="rect">
              <a:avLst/>
            </a:prstGeom>
          </p:spPr>
        </p:pic>
        <p:pic>
          <p:nvPicPr>
            <p:cNvPr id="7" name="Picture 6">
              <a:extLst>
                <a:ext uri="{FF2B5EF4-FFF2-40B4-BE49-F238E27FC236}">
                  <a16:creationId xmlns:a16="http://schemas.microsoft.com/office/drawing/2014/main" id="{17D8287D-2D91-5F2D-0960-64A3FE4F10C4}"/>
                </a:ext>
              </a:extLst>
            </p:cNvPr>
            <p:cNvPicPr>
              <a:picLocks noChangeAspect="1"/>
            </p:cNvPicPr>
            <p:nvPr/>
          </p:nvPicPr>
          <p:blipFill>
            <a:blip r:embed="rId4"/>
            <a:stretch>
              <a:fillRect/>
            </a:stretch>
          </p:blipFill>
          <p:spPr>
            <a:xfrm>
              <a:off x="7998788" y="2511388"/>
              <a:ext cx="1675726" cy="1675726"/>
            </a:xfrm>
            <a:prstGeom prst="rect">
              <a:avLst/>
            </a:prstGeom>
          </p:spPr>
        </p:pic>
        <p:pic>
          <p:nvPicPr>
            <p:cNvPr id="8" name="Picture 7">
              <a:extLst>
                <a:ext uri="{FF2B5EF4-FFF2-40B4-BE49-F238E27FC236}">
                  <a16:creationId xmlns:a16="http://schemas.microsoft.com/office/drawing/2014/main" id="{50A3CCE2-37D1-DB74-D449-F1A47B24D946}"/>
                </a:ext>
              </a:extLst>
            </p:cNvPr>
            <p:cNvPicPr>
              <a:picLocks noChangeAspect="1"/>
            </p:cNvPicPr>
            <p:nvPr/>
          </p:nvPicPr>
          <p:blipFill>
            <a:blip r:embed="rId5"/>
            <a:stretch>
              <a:fillRect/>
            </a:stretch>
          </p:blipFill>
          <p:spPr>
            <a:xfrm>
              <a:off x="10623716" y="2803884"/>
              <a:ext cx="1675726" cy="1675726"/>
            </a:xfrm>
            <a:prstGeom prst="rect">
              <a:avLst/>
            </a:prstGeom>
          </p:spPr>
        </p:pic>
        <p:pic>
          <p:nvPicPr>
            <p:cNvPr id="9" name="Picture 8">
              <a:extLst>
                <a:ext uri="{FF2B5EF4-FFF2-40B4-BE49-F238E27FC236}">
                  <a16:creationId xmlns:a16="http://schemas.microsoft.com/office/drawing/2014/main" id="{B2131D14-5ADF-DEF3-3209-44AF349D70A0}"/>
                </a:ext>
              </a:extLst>
            </p:cNvPr>
            <p:cNvPicPr>
              <a:picLocks noChangeAspect="1"/>
            </p:cNvPicPr>
            <p:nvPr/>
          </p:nvPicPr>
          <p:blipFill>
            <a:blip r:embed="rId6"/>
            <a:stretch>
              <a:fillRect/>
            </a:stretch>
          </p:blipFill>
          <p:spPr>
            <a:xfrm>
              <a:off x="8939702" y="3136898"/>
              <a:ext cx="2521877" cy="1679774"/>
            </a:xfrm>
            <a:prstGeom prst="rect">
              <a:avLst/>
            </a:prstGeom>
          </p:spPr>
        </p:pic>
      </p:grpSp>
    </p:spTree>
    <p:extLst>
      <p:ext uri="{BB962C8B-B14F-4D97-AF65-F5344CB8AC3E}">
        <p14:creationId xmlns:p14="http://schemas.microsoft.com/office/powerpoint/2010/main" val="3134358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6A8216-E4E9-9EA7-9F20-E29A9AC7C1B8}"/>
              </a:ext>
            </a:extLst>
          </p:cNvPr>
          <p:cNvSpPr>
            <a:spLocks noGrp="1"/>
          </p:cNvSpPr>
          <p:nvPr>
            <p:ph type="sldNum" idx="97"/>
          </p:nvPr>
        </p:nvSpPr>
        <p:spPr/>
        <p:txBody>
          <a:bodyPr/>
          <a:lstStyle/>
          <a:p>
            <a:fld id="{86A8BF56-6CB3-514C-9A64-F39D95C9E25B}" type="slidenum">
              <a:rPr lang="en-US" smtClean="0"/>
              <a:t>9</a:t>
            </a:fld>
            <a:endParaRPr lang="en-US"/>
          </a:p>
        </p:txBody>
      </p:sp>
      <p:sp>
        <p:nvSpPr>
          <p:cNvPr id="3" name="Title 2">
            <a:extLst>
              <a:ext uri="{FF2B5EF4-FFF2-40B4-BE49-F238E27FC236}">
                <a16:creationId xmlns:a16="http://schemas.microsoft.com/office/drawing/2014/main" id="{6BBBC44F-1AB5-A3C1-C256-89E689955046}"/>
              </a:ext>
            </a:extLst>
          </p:cNvPr>
          <p:cNvSpPr>
            <a:spLocks noGrp="1"/>
          </p:cNvSpPr>
          <p:nvPr>
            <p:ph type="title" idx="1"/>
          </p:nvPr>
        </p:nvSpPr>
        <p:spPr/>
        <p:txBody>
          <a:bodyPr/>
          <a:lstStyle/>
          <a:p>
            <a:r>
              <a:rPr lang="en-US" dirty="0"/>
              <a:t>3. Increasing visibility and influence</a:t>
            </a:r>
          </a:p>
        </p:txBody>
      </p:sp>
      <p:sp>
        <p:nvSpPr>
          <p:cNvPr id="4" name="Content Placeholder 3">
            <a:extLst>
              <a:ext uri="{FF2B5EF4-FFF2-40B4-BE49-F238E27FC236}">
                <a16:creationId xmlns:a16="http://schemas.microsoft.com/office/drawing/2014/main" id="{AC66A51A-FBF3-8693-DB20-05EA9DB1BA6E}"/>
              </a:ext>
            </a:extLst>
          </p:cNvPr>
          <p:cNvSpPr>
            <a:spLocks noGrp="1"/>
          </p:cNvSpPr>
          <p:nvPr>
            <p:ph idx="2"/>
          </p:nvPr>
        </p:nvSpPr>
        <p:spPr/>
        <p:txBody>
          <a:bodyPr/>
          <a:lstStyle/>
          <a:p>
            <a:r>
              <a:rPr lang="en-US" dirty="0">
                <a:solidFill>
                  <a:schemeClr val="accent6"/>
                </a:solidFill>
              </a:rPr>
              <a:t>Increasing influence </a:t>
            </a:r>
            <a:r>
              <a:rPr lang="en-US" dirty="0"/>
              <a:t>of LLMs on societal impact</a:t>
            </a:r>
          </a:p>
          <a:p>
            <a:pPr lvl="1"/>
            <a:r>
              <a:rPr lang="en-US" dirty="0"/>
              <a:t>Increasingly used to interact with information</a:t>
            </a:r>
          </a:p>
          <a:p>
            <a:pPr lvl="1"/>
            <a:r>
              <a:rPr lang="en-US" dirty="0"/>
              <a:t>Safety considerations</a:t>
            </a:r>
          </a:p>
          <a:p>
            <a:pPr lvl="1"/>
            <a:r>
              <a:rPr lang="en-US" dirty="0"/>
              <a:t>Security concerns</a:t>
            </a:r>
          </a:p>
          <a:p>
            <a:pPr lvl="1"/>
            <a:r>
              <a:rPr lang="en-US" dirty="0"/>
              <a:t>Ethical implications</a:t>
            </a:r>
          </a:p>
          <a:p>
            <a:pPr lvl="1"/>
            <a:endParaRPr lang="en-US" dirty="0"/>
          </a:p>
          <a:p>
            <a:r>
              <a:rPr lang="en-US" dirty="0">
                <a:solidFill>
                  <a:schemeClr val="accent1"/>
                </a:solidFill>
                <a:latin typeface="+mj-lt"/>
              </a:rPr>
              <a:t>Responsible AI is key!</a:t>
            </a:r>
          </a:p>
          <a:p>
            <a:endParaRPr lang="en-US" dirty="0"/>
          </a:p>
        </p:txBody>
      </p:sp>
      <p:pic>
        <p:nvPicPr>
          <p:cNvPr id="5" name="Picture 4">
            <a:extLst>
              <a:ext uri="{FF2B5EF4-FFF2-40B4-BE49-F238E27FC236}">
                <a16:creationId xmlns:a16="http://schemas.microsoft.com/office/drawing/2014/main" id="{D4C05322-48E5-8401-9085-C4C3F27A5D1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45586" y="2077630"/>
            <a:ext cx="3429000" cy="3429000"/>
          </a:xfrm>
          <a:prstGeom prst="rect">
            <a:avLst/>
          </a:prstGeom>
          <a:noFill/>
        </p:spPr>
      </p:pic>
    </p:spTree>
    <p:extLst>
      <p:ext uri="{BB962C8B-B14F-4D97-AF65-F5344CB8AC3E}">
        <p14:creationId xmlns:p14="http://schemas.microsoft.com/office/powerpoint/2010/main" val="2558051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5B5A74-EBD3-6BC7-AB0C-540538C11430}"/>
              </a:ext>
            </a:extLst>
          </p:cNvPr>
          <p:cNvSpPr>
            <a:spLocks noGrp="1"/>
          </p:cNvSpPr>
          <p:nvPr>
            <p:ph type="sldNum" idx="97"/>
          </p:nvPr>
        </p:nvSpPr>
        <p:spPr/>
        <p:txBody>
          <a:bodyPr/>
          <a:lstStyle/>
          <a:p>
            <a:fld id="{86A8BF56-6CB3-514C-9A64-F39D95C9E25B}" type="slidenum">
              <a:rPr lang="en-US" smtClean="0"/>
              <a:t>10</a:t>
            </a:fld>
            <a:endParaRPr lang="en-US"/>
          </a:p>
        </p:txBody>
      </p:sp>
      <p:sp>
        <p:nvSpPr>
          <p:cNvPr id="3" name="Title 2">
            <a:extLst>
              <a:ext uri="{FF2B5EF4-FFF2-40B4-BE49-F238E27FC236}">
                <a16:creationId xmlns:a16="http://schemas.microsoft.com/office/drawing/2014/main" id="{E9CC81CF-0EAE-0B30-2407-A68A62A34684}"/>
              </a:ext>
            </a:extLst>
          </p:cNvPr>
          <p:cNvSpPr>
            <a:spLocks noGrp="1"/>
          </p:cNvSpPr>
          <p:nvPr>
            <p:ph type="title" idx="1"/>
          </p:nvPr>
        </p:nvSpPr>
        <p:spPr/>
        <p:txBody>
          <a:bodyPr/>
          <a:lstStyle/>
          <a:p>
            <a:r>
              <a:rPr lang="en-US" dirty="0"/>
              <a:t>4. Going beyond content generation</a:t>
            </a:r>
          </a:p>
        </p:txBody>
      </p:sp>
      <p:sp>
        <p:nvSpPr>
          <p:cNvPr id="4" name="Content Placeholder 3">
            <a:extLst>
              <a:ext uri="{FF2B5EF4-FFF2-40B4-BE49-F238E27FC236}">
                <a16:creationId xmlns:a16="http://schemas.microsoft.com/office/drawing/2014/main" id="{D7361128-4726-2210-8989-FC85786251F6}"/>
              </a:ext>
            </a:extLst>
          </p:cNvPr>
          <p:cNvSpPr>
            <a:spLocks noGrp="1"/>
          </p:cNvSpPr>
          <p:nvPr>
            <p:ph idx="2"/>
          </p:nvPr>
        </p:nvSpPr>
        <p:spPr/>
        <p:txBody>
          <a:bodyPr/>
          <a:lstStyle/>
          <a:p>
            <a:r>
              <a:rPr lang="en-US" dirty="0"/>
              <a:t>Agentic applications empower </a:t>
            </a:r>
            <a:r>
              <a:rPr lang="en-US" dirty="0">
                <a:solidFill>
                  <a:schemeClr val="accent6"/>
                </a:solidFill>
              </a:rPr>
              <a:t>LLMs to execute actions</a:t>
            </a:r>
          </a:p>
          <a:p>
            <a:pPr lvl="1"/>
            <a:r>
              <a:rPr lang="en-US" dirty="0"/>
              <a:t>Write and execute code</a:t>
            </a:r>
          </a:p>
          <a:p>
            <a:pPr lvl="2"/>
            <a:r>
              <a:rPr lang="en-US" dirty="0">
                <a:solidFill>
                  <a:schemeClr val="accent5"/>
                </a:solidFill>
                <a:latin typeface="+mj-lt"/>
              </a:rPr>
              <a:t>Security policies need to be followed!</a:t>
            </a:r>
          </a:p>
          <a:p>
            <a:pPr lvl="1"/>
            <a:r>
              <a:rPr lang="en-US" dirty="0"/>
              <a:t>Natural language-to-query generators for databases</a:t>
            </a:r>
          </a:p>
          <a:p>
            <a:pPr lvl="1"/>
            <a:r>
              <a:rPr lang="en-US" dirty="0"/>
              <a:t>Invoke API calls</a:t>
            </a:r>
          </a:p>
          <a:p>
            <a:pPr lvl="1"/>
            <a:r>
              <a:rPr lang="en-US" dirty="0"/>
              <a:t>Robotic control and manipulation</a:t>
            </a:r>
          </a:p>
          <a:p>
            <a:pPr lvl="1"/>
            <a:r>
              <a:rPr lang="en-US" dirty="0"/>
              <a:t>System access</a:t>
            </a:r>
          </a:p>
          <a:p>
            <a:pPr lvl="2"/>
            <a:r>
              <a:rPr lang="en-US" dirty="0">
                <a:solidFill>
                  <a:schemeClr val="accent5"/>
                </a:solidFill>
                <a:latin typeface="+mj-lt"/>
              </a:rPr>
              <a:t>Agent-based Operating System (OS)</a:t>
            </a:r>
          </a:p>
          <a:p>
            <a:endParaRPr lang="en-US" dirty="0"/>
          </a:p>
        </p:txBody>
      </p:sp>
      <p:pic>
        <p:nvPicPr>
          <p:cNvPr id="5" name="Picture 4">
            <a:extLst>
              <a:ext uri="{FF2B5EF4-FFF2-40B4-BE49-F238E27FC236}">
                <a16:creationId xmlns:a16="http://schemas.microsoft.com/office/drawing/2014/main" id="{37578FBF-1A51-58EF-F02A-22DF0B6172E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768859" y="2840305"/>
            <a:ext cx="2807790" cy="2803890"/>
          </a:xfrm>
          <a:prstGeom prst="rect">
            <a:avLst/>
          </a:prstGeom>
        </p:spPr>
      </p:pic>
    </p:spTree>
    <p:extLst>
      <p:ext uri="{BB962C8B-B14F-4D97-AF65-F5344CB8AC3E}">
        <p14:creationId xmlns:p14="http://schemas.microsoft.com/office/powerpoint/2010/main" val="2420256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55FB88-63F6-CAAB-E562-901CDD475C5A}"/>
              </a:ext>
            </a:extLst>
          </p:cNvPr>
          <p:cNvSpPr>
            <a:spLocks noGrp="1"/>
          </p:cNvSpPr>
          <p:nvPr>
            <p:ph type="sldNum" idx="97"/>
          </p:nvPr>
        </p:nvSpPr>
        <p:spPr/>
        <p:txBody>
          <a:bodyPr/>
          <a:lstStyle/>
          <a:p>
            <a:fld id="{86A8BF56-6CB3-514C-9A64-F39D95C9E25B}" type="slidenum">
              <a:rPr lang="en-US" smtClean="0"/>
              <a:t>11</a:t>
            </a:fld>
            <a:endParaRPr lang="en-US"/>
          </a:p>
        </p:txBody>
      </p:sp>
      <p:sp>
        <p:nvSpPr>
          <p:cNvPr id="3" name="Title 2">
            <a:extLst>
              <a:ext uri="{FF2B5EF4-FFF2-40B4-BE49-F238E27FC236}">
                <a16:creationId xmlns:a16="http://schemas.microsoft.com/office/drawing/2014/main" id="{A2C56B3B-8A92-33BB-4F2C-A9486331AAB6}"/>
              </a:ext>
            </a:extLst>
          </p:cNvPr>
          <p:cNvSpPr>
            <a:spLocks noGrp="1"/>
          </p:cNvSpPr>
          <p:nvPr>
            <p:ph type="title" idx="1"/>
          </p:nvPr>
        </p:nvSpPr>
        <p:spPr/>
        <p:txBody>
          <a:bodyPr/>
          <a:lstStyle/>
          <a:p>
            <a:r>
              <a:rPr lang="en-US" dirty="0"/>
              <a:t>5. LLMs Acting as experts for other systems</a:t>
            </a:r>
          </a:p>
        </p:txBody>
      </p:sp>
      <p:sp>
        <p:nvSpPr>
          <p:cNvPr id="4" name="Content Placeholder 3">
            <a:extLst>
              <a:ext uri="{FF2B5EF4-FFF2-40B4-BE49-F238E27FC236}">
                <a16:creationId xmlns:a16="http://schemas.microsoft.com/office/drawing/2014/main" id="{3FD29373-1581-A282-6E99-F551C766F97F}"/>
              </a:ext>
            </a:extLst>
          </p:cNvPr>
          <p:cNvSpPr>
            <a:spLocks noGrp="1"/>
          </p:cNvSpPr>
          <p:nvPr>
            <p:ph idx="2"/>
          </p:nvPr>
        </p:nvSpPr>
        <p:spPr/>
        <p:txBody>
          <a:bodyPr/>
          <a:lstStyle/>
          <a:p>
            <a:r>
              <a:rPr lang="en-US" dirty="0">
                <a:solidFill>
                  <a:schemeClr val="accent6"/>
                </a:solidFill>
              </a:rPr>
              <a:t>Evaluators</a:t>
            </a:r>
            <a:r>
              <a:rPr lang="en-US" dirty="0"/>
              <a:t> for other systems</a:t>
            </a:r>
          </a:p>
          <a:p>
            <a:r>
              <a:rPr lang="en-US" dirty="0"/>
              <a:t>Used to </a:t>
            </a:r>
            <a:r>
              <a:rPr lang="en-US" dirty="0">
                <a:solidFill>
                  <a:schemeClr val="accent6"/>
                </a:solidFill>
              </a:rPr>
              <a:t>annotate and label data</a:t>
            </a:r>
          </a:p>
          <a:p>
            <a:r>
              <a:rPr lang="en-US" dirty="0"/>
              <a:t>Used to </a:t>
            </a:r>
            <a:r>
              <a:rPr lang="en-US" dirty="0">
                <a:solidFill>
                  <a:schemeClr val="accent6"/>
                </a:solidFill>
              </a:rPr>
              <a:t>evaluate other LLMs</a:t>
            </a:r>
          </a:p>
          <a:p>
            <a:endParaRPr lang="en-US" dirty="0"/>
          </a:p>
        </p:txBody>
      </p:sp>
      <p:pic>
        <p:nvPicPr>
          <p:cNvPr id="5" name="Picture 2" descr="Amazon Bedrock Generated&#10;The accompanying image illustrates an AI/robot interface analyzing data on multiple screens, which reinforces the concept of automated evaluation and analysis systems at work.&#10;">
            <a:extLst>
              <a:ext uri="{FF2B5EF4-FFF2-40B4-BE49-F238E27FC236}">
                <a16:creationId xmlns:a16="http://schemas.microsoft.com/office/drawing/2014/main" id="{5C8B654F-A0B3-66B0-BF52-D846DD0B3B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5294" y="3264161"/>
            <a:ext cx="6292906" cy="3432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519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19390-6973-2F61-E504-67AD93574D9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30360C8-1498-A5AB-E579-34CE85A6B19F}"/>
              </a:ext>
            </a:extLst>
          </p:cNvPr>
          <p:cNvSpPr>
            <a:spLocks noGrp="1"/>
          </p:cNvSpPr>
          <p:nvPr>
            <p:ph type="sldNum" idx="97"/>
          </p:nvPr>
        </p:nvSpPr>
        <p:spPr/>
        <p:txBody>
          <a:bodyPr/>
          <a:lstStyle/>
          <a:p>
            <a:fld id="{86A8BF56-6CB3-514C-9A64-F39D95C9E25B}" type="slidenum">
              <a:rPr lang="en-US" smtClean="0"/>
              <a:pPr/>
              <a:t>12</a:t>
            </a:fld>
            <a:endParaRPr lang="en-US" dirty="0"/>
          </a:p>
        </p:txBody>
      </p:sp>
      <p:sp>
        <p:nvSpPr>
          <p:cNvPr id="2" name="Title 1">
            <a:extLst>
              <a:ext uri="{FF2B5EF4-FFF2-40B4-BE49-F238E27FC236}">
                <a16:creationId xmlns:a16="http://schemas.microsoft.com/office/drawing/2014/main" id="{0E40AF9D-B93C-57D8-A22F-F21C11B1E8B8}"/>
              </a:ext>
            </a:extLst>
          </p:cNvPr>
          <p:cNvSpPr>
            <a:spLocks noGrp="1"/>
          </p:cNvSpPr>
          <p:nvPr>
            <p:ph type="title" idx="1"/>
          </p:nvPr>
        </p:nvSpPr>
        <p:spPr/>
        <p:txBody>
          <a:bodyPr/>
          <a:lstStyle/>
          <a:p>
            <a:r>
              <a:rPr lang="en-US" dirty="0"/>
              <a:t>Evaluating LLMs</a:t>
            </a:r>
          </a:p>
        </p:txBody>
      </p:sp>
    </p:spTree>
    <p:extLst>
      <p:ext uri="{BB962C8B-B14F-4D97-AF65-F5344CB8AC3E}">
        <p14:creationId xmlns:p14="http://schemas.microsoft.com/office/powerpoint/2010/main" val="3659843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A1115E-4F97-F5A0-F9A9-C44C7AFF111E}"/>
              </a:ext>
            </a:extLst>
          </p:cNvPr>
          <p:cNvSpPr>
            <a:spLocks noGrp="1"/>
          </p:cNvSpPr>
          <p:nvPr>
            <p:ph type="sldNum" idx="97"/>
          </p:nvPr>
        </p:nvSpPr>
        <p:spPr/>
        <p:txBody>
          <a:bodyPr/>
          <a:lstStyle/>
          <a:p>
            <a:fld id="{86A8BF56-6CB3-514C-9A64-F39D95C9E25B}" type="slidenum">
              <a:rPr lang="en-US" smtClean="0"/>
              <a:t>13</a:t>
            </a:fld>
            <a:endParaRPr lang="en-US"/>
          </a:p>
        </p:txBody>
      </p:sp>
      <p:sp>
        <p:nvSpPr>
          <p:cNvPr id="3" name="Title 2">
            <a:extLst>
              <a:ext uri="{FF2B5EF4-FFF2-40B4-BE49-F238E27FC236}">
                <a16:creationId xmlns:a16="http://schemas.microsoft.com/office/drawing/2014/main" id="{46F8DC3C-5C2E-7BDE-5AB2-503FC99055D7}"/>
              </a:ext>
            </a:extLst>
          </p:cNvPr>
          <p:cNvSpPr>
            <a:spLocks noGrp="1"/>
          </p:cNvSpPr>
          <p:nvPr>
            <p:ph type="title" idx="1"/>
          </p:nvPr>
        </p:nvSpPr>
        <p:spPr/>
        <p:txBody>
          <a:bodyPr/>
          <a:lstStyle/>
          <a:p>
            <a:r>
              <a:rPr lang="en-US" dirty="0"/>
              <a:t>Evaluating LLMs is hard</a:t>
            </a:r>
          </a:p>
        </p:txBody>
      </p:sp>
      <p:sp>
        <p:nvSpPr>
          <p:cNvPr id="4" name="Content Placeholder 3">
            <a:extLst>
              <a:ext uri="{FF2B5EF4-FFF2-40B4-BE49-F238E27FC236}">
                <a16:creationId xmlns:a16="http://schemas.microsoft.com/office/drawing/2014/main" id="{EF265A46-FEC5-D44F-DE2C-EB34B68D325F}"/>
              </a:ext>
            </a:extLst>
          </p:cNvPr>
          <p:cNvSpPr>
            <a:spLocks noGrp="1"/>
          </p:cNvSpPr>
          <p:nvPr>
            <p:ph idx="2"/>
          </p:nvPr>
        </p:nvSpPr>
        <p:spPr/>
        <p:txBody>
          <a:bodyPr/>
          <a:lstStyle/>
          <a:p>
            <a:r>
              <a:rPr lang="en-US" dirty="0"/>
              <a:t>Evaluating language is quite </a:t>
            </a:r>
            <a:r>
              <a:rPr lang="en-US" dirty="0">
                <a:solidFill>
                  <a:schemeClr val="accent6"/>
                </a:solidFill>
              </a:rPr>
              <a:t>subjective</a:t>
            </a:r>
          </a:p>
          <a:p>
            <a:r>
              <a:rPr lang="en-US" dirty="0"/>
              <a:t>LLMs are extremely </a:t>
            </a:r>
            <a:r>
              <a:rPr lang="en-US" dirty="0">
                <a:solidFill>
                  <a:schemeClr val="accent6"/>
                </a:solidFill>
              </a:rPr>
              <a:t>versatile</a:t>
            </a:r>
            <a:r>
              <a:rPr lang="en-US" dirty="0"/>
              <a:t> tool</a:t>
            </a:r>
          </a:p>
          <a:p>
            <a:pPr lvl="1"/>
            <a:r>
              <a:rPr lang="en-US" dirty="0"/>
              <a:t>Comprehensive evaluation is difficult</a:t>
            </a:r>
          </a:p>
          <a:p>
            <a:r>
              <a:rPr lang="en-US" dirty="0"/>
              <a:t>No single </a:t>
            </a:r>
            <a:r>
              <a:rPr lang="en-US" dirty="0">
                <a:solidFill>
                  <a:schemeClr val="accent6"/>
                </a:solidFill>
              </a:rPr>
              <a:t>universal evaluating framework </a:t>
            </a:r>
            <a:r>
              <a:rPr lang="en-US" dirty="0"/>
              <a:t>or protocol</a:t>
            </a:r>
          </a:p>
          <a:p>
            <a:r>
              <a:rPr lang="en-US" dirty="0"/>
              <a:t>Need high quality data for evaluation</a:t>
            </a:r>
          </a:p>
          <a:p>
            <a:r>
              <a:rPr lang="en-US" dirty="0"/>
              <a:t>Computational constraints to evaluate these models</a:t>
            </a:r>
          </a:p>
          <a:p>
            <a:endParaRPr lang="en-US" dirty="0"/>
          </a:p>
        </p:txBody>
      </p:sp>
    </p:spTree>
    <p:extLst>
      <p:ext uri="{BB962C8B-B14F-4D97-AF65-F5344CB8AC3E}">
        <p14:creationId xmlns:p14="http://schemas.microsoft.com/office/powerpoint/2010/main" val="1866823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B64506-D427-72F6-87F9-1056D0F60D01}"/>
              </a:ext>
            </a:extLst>
          </p:cNvPr>
          <p:cNvSpPr>
            <a:spLocks noGrp="1"/>
          </p:cNvSpPr>
          <p:nvPr>
            <p:ph type="sldNum" idx="97"/>
          </p:nvPr>
        </p:nvSpPr>
        <p:spPr/>
        <p:txBody>
          <a:bodyPr/>
          <a:lstStyle/>
          <a:p>
            <a:fld id="{86A8BF56-6CB3-514C-9A64-F39D95C9E25B}" type="slidenum">
              <a:rPr lang="en-US" smtClean="0"/>
              <a:t>14</a:t>
            </a:fld>
            <a:endParaRPr lang="en-US"/>
          </a:p>
        </p:txBody>
      </p:sp>
      <p:sp>
        <p:nvSpPr>
          <p:cNvPr id="3" name="Title 2">
            <a:extLst>
              <a:ext uri="{FF2B5EF4-FFF2-40B4-BE49-F238E27FC236}">
                <a16:creationId xmlns:a16="http://schemas.microsoft.com/office/drawing/2014/main" id="{0A7D63CC-75A1-CC6D-1775-760036003425}"/>
              </a:ext>
            </a:extLst>
          </p:cNvPr>
          <p:cNvSpPr>
            <a:spLocks noGrp="1"/>
          </p:cNvSpPr>
          <p:nvPr>
            <p:ph type="title" idx="1"/>
          </p:nvPr>
        </p:nvSpPr>
        <p:spPr/>
        <p:txBody>
          <a:bodyPr/>
          <a:lstStyle/>
          <a:p>
            <a:r>
              <a:rPr lang="en-US" dirty="0"/>
              <a:t>Where do LLMs fail?</a:t>
            </a:r>
          </a:p>
        </p:txBody>
      </p:sp>
      <p:sp>
        <p:nvSpPr>
          <p:cNvPr id="4" name="Content Placeholder 3">
            <a:extLst>
              <a:ext uri="{FF2B5EF4-FFF2-40B4-BE49-F238E27FC236}">
                <a16:creationId xmlns:a16="http://schemas.microsoft.com/office/drawing/2014/main" id="{6E18EE05-5803-E4C7-E0C3-C443B7C91603}"/>
              </a:ext>
            </a:extLst>
          </p:cNvPr>
          <p:cNvSpPr>
            <a:spLocks noGrp="1"/>
          </p:cNvSpPr>
          <p:nvPr>
            <p:ph idx="2"/>
          </p:nvPr>
        </p:nvSpPr>
        <p:spPr/>
        <p:txBody>
          <a:bodyPr/>
          <a:lstStyle/>
          <a:p>
            <a:r>
              <a:rPr lang="en-US" dirty="0"/>
              <a:t>Complex arithmetic problems and analytical reasoning</a:t>
            </a:r>
          </a:p>
          <a:p>
            <a:r>
              <a:rPr lang="en-US" dirty="0"/>
              <a:t>Reliable knowledge source for task specific topics</a:t>
            </a:r>
          </a:p>
          <a:p>
            <a:r>
              <a:rPr lang="en-US" dirty="0"/>
              <a:t>Implicit understanding and mitigation of biases </a:t>
            </a:r>
          </a:p>
          <a:p>
            <a:r>
              <a:rPr lang="en-US" dirty="0"/>
              <a:t>Potential for generating false, misleading or manipulative content</a:t>
            </a:r>
          </a:p>
          <a:p>
            <a:pPr lvl="1"/>
            <a:r>
              <a:rPr lang="en-US" dirty="0">
                <a:solidFill>
                  <a:schemeClr val="accent6"/>
                </a:solidFill>
              </a:rPr>
              <a:t>Hallucinations</a:t>
            </a:r>
          </a:p>
          <a:p>
            <a:r>
              <a:rPr lang="en-US" dirty="0"/>
              <a:t>Analyzing structured data</a:t>
            </a:r>
          </a:p>
          <a:p>
            <a:pPr lvl="1"/>
            <a:r>
              <a:rPr lang="en-US" dirty="0"/>
              <a:t>Databases, spreadsheets, etc.</a:t>
            </a:r>
          </a:p>
          <a:p>
            <a:r>
              <a:rPr lang="en-US" dirty="0"/>
              <a:t>Compliance with every rule, guidelines and protocol</a:t>
            </a:r>
          </a:p>
          <a:p>
            <a:endParaRPr lang="en-US" dirty="0"/>
          </a:p>
        </p:txBody>
      </p:sp>
    </p:spTree>
    <p:extLst>
      <p:ext uri="{BB962C8B-B14F-4D97-AF65-F5344CB8AC3E}">
        <p14:creationId xmlns:p14="http://schemas.microsoft.com/office/powerpoint/2010/main" val="1931993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D57B71-B7F4-0DD9-7553-160A0CE1CC35}"/>
              </a:ext>
            </a:extLst>
          </p:cNvPr>
          <p:cNvSpPr>
            <a:spLocks noGrp="1"/>
          </p:cNvSpPr>
          <p:nvPr>
            <p:ph type="sldNum" idx="97"/>
          </p:nvPr>
        </p:nvSpPr>
        <p:spPr/>
        <p:txBody>
          <a:bodyPr/>
          <a:lstStyle/>
          <a:p>
            <a:fld id="{86A8BF56-6CB3-514C-9A64-F39D95C9E25B}" type="slidenum">
              <a:rPr lang="en-US" smtClean="0"/>
              <a:t>15</a:t>
            </a:fld>
            <a:endParaRPr lang="en-US"/>
          </a:p>
        </p:txBody>
      </p:sp>
      <p:sp>
        <p:nvSpPr>
          <p:cNvPr id="3" name="Title 2">
            <a:extLst>
              <a:ext uri="{FF2B5EF4-FFF2-40B4-BE49-F238E27FC236}">
                <a16:creationId xmlns:a16="http://schemas.microsoft.com/office/drawing/2014/main" id="{4C4236A8-D5AE-F8BC-3FA8-A484CE42B06A}"/>
              </a:ext>
            </a:extLst>
          </p:cNvPr>
          <p:cNvSpPr>
            <a:spLocks noGrp="1"/>
          </p:cNvSpPr>
          <p:nvPr>
            <p:ph type="title" idx="1"/>
          </p:nvPr>
        </p:nvSpPr>
        <p:spPr/>
        <p:txBody>
          <a:bodyPr/>
          <a:lstStyle/>
          <a:p>
            <a:r>
              <a:rPr lang="en-US" dirty="0"/>
              <a:t>Spectrum of evaluation approaches</a:t>
            </a:r>
          </a:p>
        </p:txBody>
      </p:sp>
      <p:pic>
        <p:nvPicPr>
          <p:cNvPr id="20" name="Picture 19" descr="This image shows a spectrum or continuum of evaluation methods for Language Models (LLMs), ranging from Objective to Subjective approaches. On the objective (left) side, we have quantitative metrics like Accuracy, Precision, BLEU, and Perplexity. Moving towards the right, it shows intermediate evaluation methods like Evaluation Datasets (Benchmarking) and LLM Evaluators. On the subjective (right) end, we find more qualitative approaches like Feedback-based (A/B Testing) and Manual Human Evaluation.&#10;&#10;The visualization uses a gradient color bar from purple (objective) to pink (subjective) to emphasize this spectrum, with downward arrows indicating different evaluation techniques along this continuum. ">
            <a:extLst>
              <a:ext uri="{FF2B5EF4-FFF2-40B4-BE49-F238E27FC236}">
                <a16:creationId xmlns:a16="http://schemas.microsoft.com/office/drawing/2014/main" id="{26EAA8DF-4109-A112-F3B4-FA7BE860F100}"/>
              </a:ext>
            </a:extLst>
          </p:cNvPr>
          <p:cNvPicPr>
            <a:picLocks noChangeAspect="1"/>
          </p:cNvPicPr>
          <p:nvPr/>
        </p:nvPicPr>
        <p:blipFill>
          <a:blip r:embed="rId3"/>
          <a:stretch>
            <a:fillRect/>
          </a:stretch>
        </p:blipFill>
        <p:spPr>
          <a:xfrm>
            <a:off x="-51434" y="1528207"/>
            <a:ext cx="12294867" cy="4550860"/>
          </a:xfrm>
          <a:prstGeom prst="rect">
            <a:avLst/>
          </a:prstGeom>
        </p:spPr>
      </p:pic>
    </p:spTree>
    <p:extLst>
      <p:ext uri="{BB962C8B-B14F-4D97-AF65-F5344CB8AC3E}">
        <p14:creationId xmlns:p14="http://schemas.microsoft.com/office/powerpoint/2010/main" val="3056662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E984A2-C2E2-897E-3C6A-4C93B92C8753}"/>
              </a:ext>
            </a:extLst>
          </p:cNvPr>
          <p:cNvSpPr>
            <a:spLocks noGrp="1"/>
          </p:cNvSpPr>
          <p:nvPr>
            <p:ph type="sldNum" idx="97"/>
          </p:nvPr>
        </p:nvSpPr>
        <p:spPr/>
        <p:txBody>
          <a:bodyPr/>
          <a:lstStyle/>
          <a:p>
            <a:fld id="{86A8BF56-6CB3-514C-9A64-F39D95C9E25B}" type="slidenum">
              <a:rPr lang="en-US" smtClean="0"/>
              <a:t>16</a:t>
            </a:fld>
            <a:endParaRPr lang="en-US"/>
          </a:p>
        </p:txBody>
      </p:sp>
      <p:sp>
        <p:nvSpPr>
          <p:cNvPr id="3" name="Title 2">
            <a:extLst>
              <a:ext uri="{FF2B5EF4-FFF2-40B4-BE49-F238E27FC236}">
                <a16:creationId xmlns:a16="http://schemas.microsoft.com/office/drawing/2014/main" id="{296E901D-5A33-4083-9B18-5B92D77F63E0}"/>
              </a:ext>
            </a:extLst>
          </p:cNvPr>
          <p:cNvSpPr>
            <a:spLocks noGrp="1"/>
          </p:cNvSpPr>
          <p:nvPr>
            <p:ph type="title" idx="1"/>
          </p:nvPr>
        </p:nvSpPr>
        <p:spPr/>
        <p:txBody>
          <a:bodyPr/>
          <a:lstStyle/>
          <a:p>
            <a:r>
              <a:rPr lang="en-US" dirty="0"/>
              <a:t>Metric-based evaluation</a:t>
            </a:r>
          </a:p>
        </p:txBody>
      </p:sp>
      <p:sp>
        <p:nvSpPr>
          <p:cNvPr id="4" name="Content Placeholder 3">
            <a:extLst>
              <a:ext uri="{FF2B5EF4-FFF2-40B4-BE49-F238E27FC236}">
                <a16:creationId xmlns:a16="http://schemas.microsoft.com/office/drawing/2014/main" id="{768CEBF9-73B1-06B2-1A7E-C03D731804A8}"/>
              </a:ext>
            </a:extLst>
          </p:cNvPr>
          <p:cNvSpPr>
            <a:spLocks noGrp="1"/>
          </p:cNvSpPr>
          <p:nvPr>
            <p:ph idx="2"/>
          </p:nvPr>
        </p:nvSpPr>
        <p:spPr/>
        <p:txBody>
          <a:bodyPr/>
          <a:lstStyle/>
          <a:p>
            <a:r>
              <a:rPr lang="en-US" dirty="0">
                <a:solidFill>
                  <a:schemeClr val="accent6"/>
                </a:solidFill>
              </a:rPr>
              <a:t>Objective metrics </a:t>
            </a:r>
            <a:r>
              <a:rPr lang="en-US" dirty="0"/>
              <a:t>to evaluate LLM performance</a:t>
            </a:r>
            <a:endParaRPr lang="en-US" dirty="0">
              <a:solidFill>
                <a:schemeClr val="accent1"/>
              </a:solidFill>
              <a:latin typeface="+mj-lt"/>
            </a:endParaRPr>
          </a:p>
          <a:p>
            <a:r>
              <a:rPr lang="en-US" dirty="0"/>
              <a:t>Do not extend easily to evaluate complex traits such as reasoning</a:t>
            </a:r>
          </a:p>
          <a:p>
            <a:endParaRPr lang="en-US" dirty="0"/>
          </a:p>
          <a:p>
            <a:r>
              <a:rPr lang="en-US" dirty="0"/>
              <a:t>A few examples:</a:t>
            </a:r>
            <a:endParaRPr lang="en-US" dirty="0">
              <a:solidFill>
                <a:schemeClr val="accent1"/>
              </a:solidFill>
              <a:latin typeface="+mj-lt"/>
            </a:endParaRPr>
          </a:p>
          <a:p>
            <a:pPr lvl="1"/>
            <a:r>
              <a:rPr lang="en-US" dirty="0">
                <a:solidFill>
                  <a:schemeClr val="accent5"/>
                </a:solidFill>
                <a:latin typeface="+mj-lt"/>
              </a:rPr>
              <a:t>Accuracy</a:t>
            </a:r>
            <a:r>
              <a:rPr lang="en-US" dirty="0"/>
              <a:t>: Proportion of correct prediction</a:t>
            </a:r>
          </a:p>
          <a:p>
            <a:pPr lvl="1"/>
            <a:r>
              <a:rPr lang="en-US" dirty="0">
                <a:solidFill>
                  <a:schemeClr val="accent5"/>
                </a:solidFill>
                <a:latin typeface="+mj-lt"/>
              </a:rPr>
              <a:t>Perplexity</a:t>
            </a:r>
            <a:r>
              <a:rPr lang="en-US" dirty="0"/>
              <a:t>: Likelihood of predicting the given text next</a:t>
            </a:r>
          </a:p>
          <a:p>
            <a:pPr lvl="1"/>
            <a:r>
              <a:rPr lang="en-US" dirty="0">
                <a:solidFill>
                  <a:schemeClr val="accent5"/>
                </a:solidFill>
                <a:latin typeface="+mj-lt"/>
              </a:rPr>
              <a:t>BLEU</a:t>
            </a:r>
            <a:r>
              <a:rPr lang="en-US" dirty="0"/>
              <a:t>: Precision-based text comparison</a:t>
            </a:r>
          </a:p>
          <a:p>
            <a:pPr lvl="1"/>
            <a:r>
              <a:rPr lang="en-US" dirty="0">
                <a:solidFill>
                  <a:schemeClr val="accent5"/>
                </a:solidFill>
                <a:latin typeface="+mj-lt"/>
              </a:rPr>
              <a:t>ROUGE</a:t>
            </a:r>
            <a:r>
              <a:rPr lang="en-US" dirty="0"/>
              <a:t>: Recall-oriented text evaluation</a:t>
            </a:r>
          </a:p>
        </p:txBody>
      </p:sp>
    </p:spTree>
    <p:extLst>
      <p:ext uri="{BB962C8B-B14F-4D97-AF65-F5344CB8AC3E}">
        <p14:creationId xmlns:p14="http://schemas.microsoft.com/office/powerpoint/2010/main" val="984536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6FBF0B-3DB1-7A0C-3CB8-ADC3BEBCB329}"/>
              </a:ext>
            </a:extLst>
          </p:cNvPr>
          <p:cNvSpPr>
            <a:spLocks noGrp="1"/>
          </p:cNvSpPr>
          <p:nvPr>
            <p:ph type="sldNum" idx="97"/>
          </p:nvPr>
        </p:nvSpPr>
        <p:spPr/>
        <p:txBody>
          <a:bodyPr/>
          <a:lstStyle/>
          <a:p>
            <a:fld id="{86A8BF56-6CB3-514C-9A64-F39D95C9E25B}" type="slidenum">
              <a:rPr lang="en-US" smtClean="0"/>
              <a:t>17</a:t>
            </a:fld>
            <a:endParaRPr lang="en-US"/>
          </a:p>
        </p:txBody>
      </p:sp>
      <p:sp>
        <p:nvSpPr>
          <p:cNvPr id="3" name="Title 2">
            <a:extLst>
              <a:ext uri="{FF2B5EF4-FFF2-40B4-BE49-F238E27FC236}">
                <a16:creationId xmlns:a16="http://schemas.microsoft.com/office/drawing/2014/main" id="{407BF2B5-515C-DB2D-3C9C-D5E4135BFEF6}"/>
              </a:ext>
            </a:extLst>
          </p:cNvPr>
          <p:cNvSpPr>
            <a:spLocks noGrp="1"/>
          </p:cNvSpPr>
          <p:nvPr>
            <p:ph type="title" idx="1"/>
          </p:nvPr>
        </p:nvSpPr>
        <p:spPr/>
        <p:txBody>
          <a:bodyPr/>
          <a:lstStyle/>
          <a:p>
            <a:r>
              <a:rPr lang="en-US" dirty="0"/>
              <a:t>Evaluation Datasets</a:t>
            </a:r>
          </a:p>
        </p:txBody>
      </p:sp>
      <p:sp>
        <p:nvSpPr>
          <p:cNvPr id="4" name="Content Placeholder 3">
            <a:extLst>
              <a:ext uri="{FF2B5EF4-FFF2-40B4-BE49-F238E27FC236}">
                <a16:creationId xmlns:a16="http://schemas.microsoft.com/office/drawing/2014/main" id="{A4547B8C-6BC2-30CF-6E59-0B4460926B5B}"/>
              </a:ext>
            </a:extLst>
          </p:cNvPr>
          <p:cNvSpPr>
            <a:spLocks noGrp="1"/>
          </p:cNvSpPr>
          <p:nvPr>
            <p:ph idx="2"/>
          </p:nvPr>
        </p:nvSpPr>
        <p:spPr/>
        <p:txBody>
          <a:bodyPr/>
          <a:lstStyle/>
          <a:p>
            <a:r>
              <a:rPr lang="en-US" dirty="0"/>
              <a:t>Use of high quality benchmarking datasets</a:t>
            </a:r>
          </a:p>
          <a:p>
            <a:r>
              <a:rPr lang="en-US" dirty="0"/>
              <a:t>Test more </a:t>
            </a:r>
            <a:r>
              <a:rPr lang="en-US" dirty="0">
                <a:solidFill>
                  <a:schemeClr val="accent6"/>
                </a:solidFill>
                <a:latin typeface="+mj-lt"/>
              </a:rPr>
              <a:t>complex traits </a:t>
            </a:r>
            <a:r>
              <a:rPr lang="en-US" dirty="0"/>
              <a:t>leveraging objective metrics</a:t>
            </a:r>
          </a:p>
          <a:p>
            <a:pPr lvl="1"/>
            <a:r>
              <a:rPr lang="en-US" dirty="0"/>
              <a:t>Common sense reasoning</a:t>
            </a:r>
          </a:p>
          <a:p>
            <a:pPr lvl="1"/>
            <a:r>
              <a:rPr lang="en-US" dirty="0"/>
              <a:t>Arithmetic reasoning</a:t>
            </a:r>
          </a:p>
          <a:p>
            <a:pPr lvl="1"/>
            <a:r>
              <a:rPr lang="en-US" dirty="0"/>
              <a:t>General knowledge</a:t>
            </a:r>
          </a:p>
          <a:p>
            <a:pPr lvl="1"/>
            <a:r>
              <a:rPr lang="en-US" dirty="0"/>
              <a:t>Software development</a:t>
            </a:r>
          </a:p>
          <a:p>
            <a:pPr lvl="1"/>
            <a:r>
              <a:rPr lang="en-US" dirty="0"/>
              <a:t>Bias</a:t>
            </a:r>
          </a:p>
          <a:p>
            <a:pPr lvl="1"/>
            <a:r>
              <a:rPr lang="en-US" dirty="0"/>
              <a:t>Toxicity…</a:t>
            </a:r>
          </a:p>
        </p:txBody>
      </p:sp>
    </p:spTree>
    <p:extLst>
      <p:ext uri="{BB962C8B-B14F-4D97-AF65-F5344CB8AC3E}">
        <p14:creationId xmlns:p14="http://schemas.microsoft.com/office/powerpoint/2010/main" val="1073590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597FC4-DD53-323E-76A5-3E8C850A2CC4}"/>
              </a:ext>
            </a:extLst>
          </p:cNvPr>
          <p:cNvSpPr>
            <a:spLocks noGrp="1"/>
          </p:cNvSpPr>
          <p:nvPr>
            <p:ph type="sldNum" idx="97"/>
          </p:nvPr>
        </p:nvSpPr>
        <p:spPr/>
        <p:txBody>
          <a:bodyPr/>
          <a:lstStyle/>
          <a:p>
            <a:fld id="{86A8BF56-6CB3-514C-9A64-F39D95C9E25B}" type="slidenum">
              <a:rPr lang="en-US" smtClean="0"/>
              <a:t>18</a:t>
            </a:fld>
            <a:endParaRPr lang="en-US"/>
          </a:p>
        </p:txBody>
      </p:sp>
      <p:sp>
        <p:nvSpPr>
          <p:cNvPr id="3" name="Title 2">
            <a:extLst>
              <a:ext uri="{FF2B5EF4-FFF2-40B4-BE49-F238E27FC236}">
                <a16:creationId xmlns:a16="http://schemas.microsoft.com/office/drawing/2014/main" id="{A662EB52-F053-8F1D-9DD9-92582C1755AB}"/>
              </a:ext>
            </a:extLst>
          </p:cNvPr>
          <p:cNvSpPr>
            <a:spLocks noGrp="1"/>
          </p:cNvSpPr>
          <p:nvPr>
            <p:ph type="title" idx="1"/>
          </p:nvPr>
        </p:nvSpPr>
        <p:spPr/>
        <p:txBody>
          <a:bodyPr/>
          <a:lstStyle/>
          <a:p>
            <a:r>
              <a:rPr lang="en-US" dirty="0"/>
              <a:t>Examples of evaluation datasets</a:t>
            </a:r>
          </a:p>
        </p:txBody>
      </p:sp>
      <p:sp>
        <p:nvSpPr>
          <p:cNvPr id="4" name="Content Placeholder 3">
            <a:extLst>
              <a:ext uri="{FF2B5EF4-FFF2-40B4-BE49-F238E27FC236}">
                <a16:creationId xmlns:a16="http://schemas.microsoft.com/office/drawing/2014/main" id="{09C14E78-5706-294F-0864-DAACFE6DFACE}"/>
              </a:ext>
            </a:extLst>
          </p:cNvPr>
          <p:cNvSpPr>
            <a:spLocks noGrp="1"/>
          </p:cNvSpPr>
          <p:nvPr>
            <p:ph idx="2"/>
          </p:nvPr>
        </p:nvSpPr>
        <p:spPr/>
        <p:txBody>
          <a:bodyPr/>
          <a:lstStyle/>
          <a:p>
            <a:r>
              <a:rPr lang="en-US" sz="2000" dirty="0">
                <a:solidFill>
                  <a:schemeClr val="accent6"/>
                </a:solidFill>
                <a:latin typeface="+mj-lt"/>
              </a:rPr>
              <a:t>Massive Multitask Language Understanding (MMLU)</a:t>
            </a:r>
          </a:p>
          <a:p>
            <a:pPr lvl="1"/>
            <a:r>
              <a:rPr lang="en-US" sz="1800" dirty="0"/>
              <a:t>Measures general knowledge across 57 different subjects, ranging from STEM to social sciences</a:t>
            </a:r>
            <a:endParaRPr lang="en-US" sz="2000" dirty="0"/>
          </a:p>
          <a:p>
            <a:r>
              <a:rPr lang="en-US" sz="2000" dirty="0" err="1">
                <a:solidFill>
                  <a:schemeClr val="accent6"/>
                </a:solidFill>
                <a:latin typeface="+mj-lt"/>
              </a:rPr>
              <a:t>HellaSwag</a:t>
            </a:r>
            <a:endParaRPr lang="en-US" sz="2000" dirty="0">
              <a:solidFill>
                <a:schemeClr val="accent6"/>
              </a:solidFill>
              <a:latin typeface="+mj-lt"/>
            </a:endParaRPr>
          </a:p>
          <a:p>
            <a:pPr lvl="1"/>
            <a:r>
              <a:rPr lang="en-US" sz="1800" dirty="0"/>
              <a:t>Tests natural language inference in a way that requires understanding of intricate details</a:t>
            </a:r>
          </a:p>
          <a:p>
            <a:r>
              <a:rPr lang="en-US" sz="2000" dirty="0">
                <a:solidFill>
                  <a:schemeClr val="accent6"/>
                </a:solidFill>
                <a:latin typeface="+mj-lt"/>
              </a:rPr>
              <a:t>GSM8K</a:t>
            </a:r>
          </a:p>
          <a:p>
            <a:pPr lvl="1"/>
            <a:r>
              <a:rPr lang="en-US" sz="1800" dirty="0"/>
              <a:t>A set of 8.5K grade-school math problems that require basic to intermediate math operations</a:t>
            </a:r>
            <a:endParaRPr lang="en-US" sz="1800" b="1" dirty="0"/>
          </a:p>
          <a:p>
            <a:r>
              <a:rPr lang="en-US" sz="2000" b="1" dirty="0" err="1">
                <a:solidFill>
                  <a:schemeClr val="accent6"/>
                </a:solidFill>
                <a:latin typeface="+mj-lt"/>
              </a:rPr>
              <a:t>AGIEval</a:t>
            </a:r>
            <a:endParaRPr lang="en-US" sz="1200" b="1" dirty="0">
              <a:solidFill>
                <a:schemeClr val="accent6"/>
              </a:solidFill>
              <a:latin typeface="+mj-lt"/>
            </a:endParaRPr>
          </a:p>
          <a:p>
            <a:pPr lvl="1"/>
            <a:r>
              <a:rPr lang="en-US" sz="1800" dirty="0"/>
              <a:t>A collection of standardized tests, including GRE, GMAT, SAT, LSAT, and civil service exams</a:t>
            </a:r>
            <a:endParaRPr lang="en-US" sz="1800" b="1" dirty="0"/>
          </a:p>
          <a:p>
            <a:r>
              <a:rPr lang="en-US" sz="2000" b="1" dirty="0">
                <a:solidFill>
                  <a:schemeClr val="accent6"/>
                </a:solidFill>
                <a:latin typeface="+mj-lt"/>
              </a:rPr>
              <a:t>Responsible AI (RAI)</a:t>
            </a:r>
          </a:p>
          <a:p>
            <a:pPr lvl="1"/>
            <a:r>
              <a:rPr lang="en-US" sz="1800" dirty="0"/>
              <a:t>A framework for evaluating the safety of chat-optimized models in conversational settings</a:t>
            </a:r>
            <a:endParaRPr lang="en-US" sz="1800" b="1" dirty="0"/>
          </a:p>
        </p:txBody>
      </p:sp>
    </p:spTree>
    <p:extLst>
      <p:ext uri="{BB962C8B-B14F-4D97-AF65-F5344CB8AC3E}">
        <p14:creationId xmlns:p14="http://schemas.microsoft.com/office/powerpoint/2010/main" val="1498580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BA9511-7385-69C9-A6E9-F9B8BE9959E1}"/>
              </a:ext>
            </a:extLst>
          </p:cNvPr>
          <p:cNvSpPr>
            <a:spLocks noGrp="1"/>
          </p:cNvSpPr>
          <p:nvPr>
            <p:ph type="sldNum" idx="97"/>
          </p:nvPr>
        </p:nvSpPr>
        <p:spPr/>
        <p:txBody>
          <a:bodyPr/>
          <a:lstStyle/>
          <a:p>
            <a:fld id="{86A8BF56-6CB3-514C-9A64-F39D95C9E25B}" type="slidenum">
              <a:rPr lang="en-US" smtClean="0"/>
              <a:t>19</a:t>
            </a:fld>
            <a:endParaRPr lang="en-US"/>
          </a:p>
        </p:txBody>
      </p:sp>
      <p:sp>
        <p:nvSpPr>
          <p:cNvPr id="3" name="Title 2">
            <a:extLst>
              <a:ext uri="{FF2B5EF4-FFF2-40B4-BE49-F238E27FC236}">
                <a16:creationId xmlns:a16="http://schemas.microsoft.com/office/drawing/2014/main" id="{5B091C8A-80A2-1CA2-FF04-B03AE964D0C9}"/>
              </a:ext>
            </a:extLst>
          </p:cNvPr>
          <p:cNvSpPr>
            <a:spLocks noGrp="1"/>
          </p:cNvSpPr>
          <p:nvPr>
            <p:ph type="title" idx="1"/>
          </p:nvPr>
        </p:nvSpPr>
        <p:spPr/>
        <p:txBody>
          <a:bodyPr/>
          <a:lstStyle/>
          <a:p>
            <a:r>
              <a:rPr lang="en-US" dirty="0" err="1"/>
              <a:t>HellaSwag</a:t>
            </a:r>
            <a:r>
              <a:rPr lang="en-US" dirty="0"/>
              <a:t>: Example</a:t>
            </a:r>
          </a:p>
        </p:txBody>
      </p:sp>
      <p:sp>
        <p:nvSpPr>
          <p:cNvPr id="4" name="Content Placeholder 3">
            <a:extLst>
              <a:ext uri="{FF2B5EF4-FFF2-40B4-BE49-F238E27FC236}">
                <a16:creationId xmlns:a16="http://schemas.microsoft.com/office/drawing/2014/main" id="{5AF01349-4BD8-E621-3C05-9391A4AE8FCD}"/>
              </a:ext>
            </a:extLst>
          </p:cNvPr>
          <p:cNvSpPr>
            <a:spLocks noGrp="1"/>
          </p:cNvSpPr>
          <p:nvPr>
            <p:ph idx="2"/>
          </p:nvPr>
        </p:nvSpPr>
        <p:spPr>
          <a:xfrm>
            <a:off x="365760" y="1165536"/>
            <a:ext cx="11466576" cy="555384"/>
          </a:xfrm>
        </p:spPr>
        <p:txBody>
          <a:bodyPr/>
          <a:lstStyle/>
          <a:p>
            <a:r>
              <a:rPr lang="en-US" dirty="0"/>
              <a:t>Determining who has the right of way:</a:t>
            </a:r>
          </a:p>
        </p:txBody>
      </p:sp>
      <p:sp>
        <p:nvSpPr>
          <p:cNvPr id="5" name="Rounded Rectangle 4">
            <a:extLst>
              <a:ext uri="{FF2B5EF4-FFF2-40B4-BE49-F238E27FC236}">
                <a16:creationId xmlns:a16="http://schemas.microsoft.com/office/drawing/2014/main" id="{481F3266-5832-3E1E-32A9-1727E074B9FE}"/>
              </a:ext>
            </a:extLst>
          </p:cNvPr>
          <p:cNvSpPr/>
          <p:nvPr/>
        </p:nvSpPr>
        <p:spPr>
          <a:xfrm>
            <a:off x="304800" y="1853184"/>
            <a:ext cx="10997184" cy="145084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Come to a complete halt at a stop sign or red light. At a stop sign, come to a complete halt for about 2 seconds or until vehicles that arrived before you clear the intersection. If you are stopped at a red light, proceed when the light has turned green…</a:t>
            </a:r>
          </a:p>
        </p:txBody>
      </p:sp>
      <p:sp>
        <p:nvSpPr>
          <p:cNvPr id="6" name="Rounded Rectangle 5">
            <a:extLst>
              <a:ext uri="{FF2B5EF4-FFF2-40B4-BE49-F238E27FC236}">
                <a16:creationId xmlns:a16="http://schemas.microsoft.com/office/drawing/2014/main" id="{F04884EF-0AF3-1009-3D50-00F4056B7202}"/>
              </a:ext>
            </a:extLst>
          </p:cNvPr>
          <p:cNvSpPr/>
          <p:nvPr/>
        </p:nvSpPr>
        <p:spPr>
          <a:xfrm>
            <a:off x="304800" y="3436296"/>
            <a:ext cx="10997184" cy="660216"/>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 Stop for no more than 2 seconds, or until the light turns yellow. A red light in front of you indicates that you should stop</a:t>
            </a:r>
          </a:p>
        </p:txBody>
      </p:sp>
      <p:sp>
        <p:nvSpPr>
          <p:cNvPr id="7" name="Rounded Rectangle 6">
            <a:extLst>
              <a:ext uri="{FF2B5EF4-FFF2-40B4-BE49-F238E27FC236}">
                <a16:creationId xmlns:a16="http://schemas.microsoft.com/office/drawing/2014/main" id="{0B13B46F-C7F7-C77E-62B1-8D973BFF9BFE}"/>
              </a:ext>
            </a:extLst>
          </p:cNvPr>
          <p:cNvSpPr/>
          <p:nvPr/>
        </p:nvSpPr>
        <p:spPr>
          <a:xfrm>
            <a:off x="304800" y="4228776"/>
            <a:ext cx="10997184" cy="660216"/>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 After you come to a complete stop, turn off your turn signal. Allow vehicles to move in different directions before moving onto the sidewalk</a:t>
            </a:r>
          </a:p>
        </p:txBody>
      </p:sp>
      <p:sp>
        <p:nvSpPr>
          <p:cNvPr id="8" name="Rounded Rectangle 7">
            <a:extLst>
              <a:ext uri="{FF2B5EF4-FFF2-40B4-BE49-F238E27FC236}">
                <a16:creationId xmlns:a16="http://schemas.microsoft.com/office/drawing/2014/main" id="{4688EE82-341B-C4BA-66AE-A8CD96294190}"/>
              </a:ext>
            </a:extLst>
          </p:cNvPr>
          <p:cNvSpPr/>
          <p:nvPr/>
        </p:nvSpPr>
        <p:spPr>
          <a:xfrm>
            <a:off x="316992" y="5019408"/>
            <a:ext cx="10997184" cy="660216"/>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 Stay out of oncoming traffic. People coming in from behind may elect to stay left or right</a:t>
            </a:r>
          </a:p>
        </p:txBody>
      </p:sp>
      <p:sp>
        <p:nvSpPr>
          <p:cNvPr id="9" name="Rounded Rectangle 8">
            <a:extLst>
              <a:ext uri="{FF2B5EF4-FFF2-40B4-BE49-F238E27FC236}">
                <a16:creationId xmlns:a16="http://schemas.microsoft.com/office/drawing/2014/main" id="{5078D34E-41FC-B6D3-4C91-7320AD78E610}"/>
              </a:ext>
            </a:extLst>
          </p:cNvPr>
          <p:cNvSpPr/>
          <p:nvPr/>
        </p:nvSpPr>
        <p:spPr>
          <a:xfrm>
            <a:off x="304800" y="5810040"/>
            <a:ext cx="10997184" cy="660216"/>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 If the intersection has a white strip in your lane, stop before crossing this line. Wait until all traffic has cleared before crossing the intersection</a:t>
            </a:r>
          </a:p>
        </p:txBody>
      </p:sp>
      <p:pic>
        <p:nvPicPr>
          <p:cNvPr id="11" name="Graphic 10" descr="Checkmark with solid fill">
            <a:extLst>
              <a:ext uri="{FF2B5EF4-FFF2-40B4-BE49-F238E27FC236}">
                <a16:creationId xmlns:a16="http://schemas.microsoft.com/office/drawing/2014/main" id="{62D2C681-C2DA-542D-B426-12F61C9EA6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2088" y="5840892"/>
            <a:ext cx="609600" cy="609600"/>
          </a:xfrm>
          <a:prstGeom prst="rect">
            <a:avLst/>
          </a:prstGeom>
        </p:spPr>
      </p:pic>
      <p:pic>
        <p:nvPicPr>
          <p:cNvPr id="13" name="Graphic 12" descr="Close with solid fill">
            <a:extLst>
              <a:ext uri="{FF2B5EF4-FFF2-40B4-BE49-F238E27FC236}">
                <a16:creationId xmlns:a16="http://schemas.microsoft.com/office/drawing/2014/main" id="{8E2B489B-87B4-1838-DBEF-D622FC6C3D3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72088" y="5047488"/>
            <a:ext cx="609600" cy="609600"/>
          </a:xfrm>
          <a:prstGeom prst="rect">
            <a:avLst/>
          </a:prstGeom>
        </p:spPr>
      </p:pic>
      <p:pic>
        <p:nvPicPr>
          <p:cNvPr id="14" name="Graphic 13" descr="Close with solid fill">
            <a:extLst>
              <a:ext uri="{FF2B5EF4-FFF2-40B4-BE49-F238E27FC236}">
                <a16:creationId xmlns:a16="http://schemas.microsoft.com/office/drawing/2014/main" id="{F2A93F47-D22F-FBB6-BA4C-EEDCFCD7BA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72088" y="4254084"/>
            <a:ext cx="609600" cy="609600"/>
          </a:xfrm>
          <a:prstGeom prst="rect">
            <a:avLst/>
          </a:prstGeom>
        </p:spPr>
      </p:pic>
      <p:pic>
        <p:nvPicPr>
          <p:cNvPr id="15" name="Graphic 14" descr="Close with solid fill">
            <a:extLst>
              <a:ext uri="{FF2B5EF4-FFF2-40B4-BE49-F238E27FC236}">
                <a16:creationId xmlns:a16="http://schemas.microsoft.com/office/drawing/2014/main" id="{65B37068-4ED9-73ED-B7B3-E75D3BA262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72088" y="3460680"/>
            <a:ext cx="609600" cy="609600"/>
          </a:xfrm>
          <a:prstGeom prst="rect">
            <a:avLst/>
          </a:prstGeom>
        </p:spPr>
      </p:pic>
    </p:spTree>
    <p:extLst>
      <p:ext uri="{BB962C8B-B14F-4D97-AF65-F5344CB8AC3E}">
        <p14:creationId xmlns:p14="http://schemas.microsoft.com/office/powerpoint/2010/main" val="3749021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14182B-CCC6-8382-AA61-F5CF0BD9CA1D}"/>
              </a:ext>
            </a:extLst>
          </p:cNvPr>
          <p:cNvSpPr>
            <a:spLocks noGrp="1"/>
          </p:cNvSpPr>
          <p:nvPr>
            <p:ph type="sldNum" idx="97"/>
          </p:nvPr>
        </p:nvSpPr>
        <p:spPr/>
        <p:txBody>
          <a:bodyPr/>
          <a:lstStyle/>
          <a:p>
            <a:fld id="{86A8BF56-6CB3-514C-9A64-F39D95C9E25B}" type="slidenum">
              <a:rPr lang="en-US" smtClean="0"/>
              <a:t>20</a:t>
            </a:fld>
            <a:endParaRPr lang="en-US"/>
          </a:p>
        </p:txBody>
      </p:sp>
      <p:sp>
        <p:nvSpPr>
          <p:cNvPr id="3" name="Title 2">
            <a:extLst>
              <a:ext uri="{FF2B5EF4-FFF2-40B4-BE49-F238E27FC236}">
                <a16:creationId xmlns:a16="http://schemas.microsoft.com/office/drawing/2014/main" id="{DE20E504-4724-5F4E-908D-F4F335008DBB}"/>
              </a:ext>
            </a:extLst>
          </p:cNvPr>
          <p:cNvSpPr>
            <a:spLocks noGrp="1"/>
          </p:cNvSpPr>
          <p:nvPr>
            <p:ph type="title" idx="1"/>
          </p:nvPr>
        </p:nvSpPr>
        <p:spPr/>
        <p:txBody>
          <a:bodyPr/>
          <a:lstStyle/>
          <a:p>
            <a:r>
              <a:rPr lang="en-US" dirty="0"/>
              <a:t>Always evaluate, even if difficult</a:t>
            </a:r>
          </a:p>
        </p:txBody>
      </p:sp>
      <p:sp>
        <p:nvSpPr>
          <p:cNvPr id="4" name="Content Placeholder 3">
            <a:extLst>
              <a:ext uri="{FF2B5EF4-FFF2-40B4-BE49-F238E27FC236}">
                <a16:creationId xmlns:a16="http://schemas.microsoft.com/office/drawing/2014/main" id="{FD03B017-D574-D67C-BF4D-77C866F7EFA7}"/>
              </a:ext>
            </a:extLst>
          </p:cNvPr>
          <p:cNvSpPr>
            <a:spLocks noGrp="1"/>
          </p:cNvSpPr>
          <p:nvPr>
            <p:ph idx="2"/>
          </p:nvPr>
        </p:nvSpPr>
        <p:spPr/>
        <p:txBody>
          <a:bodyPr/>
          <a:lstStyle/>
          <a:p>
            <a:r>
              <a:rPr lang="en-DE" b="1">
                <a:solidFill>
                  <a:schemeClr val="accent6"/>
                </a:solidFill>
              </a:rPr>
              <a:t>Never use an AI-generated solution without having evaluated it</a:t>
            </a:r>
          </a:p>
          <a:p>
            <a:endParaRPr lang="en-US" dirty="0"/>
          </a:p>
          <a:p>
            <a:r>
              <a:rPr lang="en-DE"/>
              <a:t>Evaluating LLM outputs is hard</a:t>
            </a:r>
          </a:p>
          <a:p>
            <a:pPr lvl="1"/>
            <a:r>
              <a:rPr lang="en-DE"/>
              <a:t>Focus on the metrics</a:t>
            </a:r>
            <a:r>
              <a:rPr lang="en-US" dirty="0"/>
              <a:t> and benchmarks</a:t>
            </a:r>
            <a:r>
              <a:rPr lang="en-DE"/>
              <a:t> that are important for your use case</a:t>
            </a:r>
          </a:p>
          <a:p>
            <a:pPr lvl="1"/>
            <a:r>
              <a:rPr lang="en-DE">
                <a:solidFill>
                  <a:schemeClr val="accent5"/>
                </a:solidFill>
              </a:rPr>
              <a:t>You will </a:t>
            </a:r>
            <a:r>
              <a:rPr lang="en-US" dirty="0">
                <a:solidFill>
                  <a:schemeClr val="accent5"/>
                </a:solidFill>
              </a:rPr>
              <a:t>probably</a:t>
            </a:r>
            <a:r>
              <a:rPr lang="en-DE">
                <a:solidFill>
                  <a:schemeClr val="accent5"/>
                </a:solidFill>
              </a:rPr>
              <a:t> need to collect your own annotated </a:t>
            </a:r>
            <a:r>
              <a:rPr lang="en-US" dirty="0">
                <a:solidFill>
                  <a:schemeClr val="accent5"/>
                </a:solidFill>
              </a:rPr>
              <a:t>benchmark </a:t>
            </a:r>
            <a:r>
              <a:rPr lang="en-DE">
                <a:solidFill>
                  <a:schemeClr val="accent5"/>
                </a:solidFill>
              </a:rPr>
              <a:t>dataset</a:t>
            </a:r>
          </a:p>
          <a:p>
            <a:pPr lvl="1"/>
            <a:r>
              <a:rPr lang="en-DE"/>
              <a:t>In certain cases, automated metrics (accuracy, perplexity, …) might be enough to assess the LLM performance</a:t>
            </a:r>
          </a:p>
          <a:p>
            <a:pPr lvl="1"/>
            <a:r>
              <a:rPr lang="en-US" dirty="0"/>
              <a:t>It is</a:t>
            </a:r>
            <a:r>
              <a:rPr lang="en-DE"/>
              <a:t> likely you</a:t>
            </a:r>
            <a:r>
              <a:rPr lang="en-US" dirty="0"/>
              <a:t> will</a:t>
            </a:r>
            <a:r>
              <a:rPr lang="en-DE"/>
              <a:t> need to engage human evaluators: you can use Amazon Bedrock</a:t>
            </a:r>
            <a:r>
              <a:rPr lang="en-US" dirty="0"/>
              <a:t>’s</a:t>
            </a:r>
            <a:r>
              <a:rPr lang="en-DE"/>
              <a:t> Human-In-Loop (HIL) capabilities</a:t>
            </a:r>
          </a:p>
          <a:p>
            <a:endParaRPr lang="en-US" dirty="0"/>
          </a:p>
        </p:txBody>
      </p:sp>
    </p:spTree>
    <p:extLst>
      <p:ext uri="{BB962C8B-B14F-4D97-AF65-F5344CB8AC3E}">
        <p14:creationId xmlns:p14="http://schemas.microsoft.com/office/powerpoint/2010/main" val="8486099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5D07BBF-5A50-4D15-A318-7D7E5206E85C}"/>
              </a:ext>
            </a:extLst>
          </p:cNvPr>
          <p:cNvSpPr>
            <a:spLocks noGrp="1"/>
          </p:cNvSpPr>
          <p:nvPr>
            <p:ph type="sldNum" idx="97"/>
          </p:nvPr>
        </p:nvSpPr>
        <p:spPr/>
        <p:txBody>
          <a:bodyPr/>
          <a:lstStyle/>
          <a:p>
            <a:fld id="{86A8BF56-6CB3-514C-9A64-F39D95C9E25B}" type="slidenum">
              <a:rPr lang="en-US" smtClean="0"/>
              <a:pPr/>
              <a:t>21</a:t>
            </a:fld>
            <a:endParaRPr lang="en-US" dirty="0"/>
          </a:p>
        </p:txBody>
      </p:sp>
      <p:sp>
        <p:nvSpPr>
          <p:cNvPr id="2" name="Title 1">
            <a:extLst>
              <a:ext uri="{FF2B5EF4-FFF2-40B4-BE49-F238E27FC236}">
                <a16:creationId xmlns:a16="http://schemas.microsoft.com/office/drawing/2014/main" id="{C506E617-B183-98CA-235F-C917887272DD}"/>
              </a:ext>
            </a:extLst>
          </p:cNvPr>
          <p:cNvSpPr>
            <a:spLocks noGrp="1"/>
          </p:cNvSpPr>
          <p:nvPr>
            <p:ph type="title" idx="1"/>
          </p:nvPr>
        </p:nvSpPr>
        <p:spPr/>
        <p:txBody>
          <a:bodyPr/>
          <a:lstStyle/>
          <a:p>
            <a:r>
              <a:rPr lang="en-US" dirty="0"/>
              <a:t>Performance Evaluation on Amazon Bedrock</a:t>
            </a:r>
          </a:p>
        </p:txBody>
      </p:sp>
    </p:spTree>
    <p:extLst>
      <p:ext uri="{BB962C8B-B14F-4D97-AF65-F5344CB8AC3E}">
        <p14:creationId xmlns:p14="http://schemas.microsoft.com/office/powerpoint/2010/main" val="437592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DD8A62-D861-A769-9F8A-93B22D6966D2}"/>
              </a:ext>
            </a:extLst>
          </p:cNvPr>
          <p:cNvSpPr>
            <a:spLocks noGrp="1"/>
          </p:cNvSpPr>
          <p:nvPr>
            <p:ph type="sldNum" idx="97"/>
          </p:nvPr>
        </p:nvSpPr>
        <p:spPr/>
        <p:txBody>
          <a:bodyPr/>
          <a:lstStyle/>
          <a:p>
            <a:fld id="{86A8BF56-6CB3-514C-9A64-F39D95C9E25B}" type="slidenum">
              <a:rPr lang="en-US" smtClean="0"/>
              <a:t>22</a:t>
            </a:fld>
            <a:endParaRPr lang="en-US"/>
          </a:p>
        </p:txBody>
      </p:sp>
      <p:sp>
        <p:nvSpPr>
          <p:cNvPr id="3" name="Title 2">
            <a:extLst>
              <a:ext uri="{FF2B5EF4-FFF2-40B4-BE49-F238E27FC236}">
                <a16:creationId xmlns:a16="http://schemas.microsoft.com/office/drawing/2014/main" id="{22016160-04C6-E2A4-AEC3-6FDD2654F236}"/>
              </a:ext>
            </a:extLst>
          </p:cNvPr>
          <p:cNvSpPr>
            <a:spLocks noGrp="1"/>
          </p:cNvSpPr>
          <p:nvPr>
            <p:ph type="title" idx="1"/>
          </p:nvPr>
        </p:nvSpPr>
        <p:spPr/>
        <p:txBody>
          <a:bodyPr/>
          <a:lstStyle/>
          <a:p>
            <a:r>
              <a:rPr lang="en-DE"/>
              <a:t>Evaluation </a:t>
            </a:r>
            <a:r>
              <a:rPr lang="en-US" dirty="0"/>
              <a:t>o</a:t>
            </a:r>
            <a:r>
              <a:rPr lang="en-DE"/>
              <a:t>n Amazon Bedrock</a:t>
            </a:r>
            <a:endParaRPr lang="en-US" dirty="0"/>
          </a:p>
        </p:txBody>
      </p:sp>
      <p:pic>
        <p:nvPicPr>
          <p:cNvPr id="7" name="Picture 6" descr="This image shows an evaluation framework for Amazon Bedrock, organized in a hierarchical diagram. The diagram uses red boxes for the evaluation types (Programmatic and Human). connected to the Human evaluation box, two blue boxes represent team options (AWS managed and bring your own team), all connected under the Amazon Bedrock logo and service icon at the top.">
            <a:extLst>
              <a:ext uri="{FF2B5EF4-FFF2-40B4-BE49-F238E27FC236}">
                <a16:creationId xmlns:a16="http://schemas.microsoft.com/office/drawing/2014/main" id="{5AC24B2A-AD03-640F-1E32-C2B40CDF29D4}"/>
              </a:ext>
            </a:extLst>
          </p:cNvPr>
          <p:cNvPicPr>
            <a:picLocks noChangeAspect="1"/>
          </p:cNvPicPr>
          <p:nvPr/>
        </p:nvPicPr>
        <p:blipFill>
          <a:blip r:embed="rId3"/>
          <a:stretch>
            <a:fillRect/>
          </a:stretch>
        </p:blipFill>
        <p:spPr>
          <a:xfrm>
            <a:off x="1426633" y="1385146"/>
            <a:ext cx="9732434" cy="5118539"/>
          </a:xfrm>
          <a:prstGeom prst="rect">
            <a:avLst/>
          </a:prstGeom>
        </p:spPr>
      </p:pic>
    </p:spTree>
    <p:extLst>
      <p:ext uri="{BB962C8B-B14F-4D97-AF65-F5344CB8AC3E}">
        <p14:creationId xmlns:p14="http://schemas.microsoft.com/office/powerpoint/2010/main" val="3910029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838B5C-93F6-C8DA-5C60-A03E27149A78}"/>
              </a:ext>
            </a:extLst>
          </p:cNvPr>
          <p:cNvSpPr>
            <a:spLocks noGrp="1"/>
          </p:cNvSpPr>
          <p:nvPr>
            <p:ph type="sldNum" idx="97"/>
          </p:nvPr>
        </p:nvSpPr>
        <p:spPr/>
        <p:txBody>
          <a:bodyPr/>
          <a:lstStyle/>
          <a:p>
            <a:fld id="{86A8BF56-6CB3-514C-9A64-F39D95C9E25B}" type="slidenum">
              <a:rPr lang="en-US" smtClean="0"/>
              <a:t>23</a:t>
            </a:fld>
            <a:endParaRPr lang="en-US"/>
          </a:p>
        </p:txBody>
      </p:sp>
      <p:sp>
        <p:nvSpPr>
          <p:cNvPr id="3" name="Title 2">
            <a:extLst>
              <a:ext uri="{FF2B5EF4-FFF2-40B4-BE49-F238E27FC236}">
                <a16:creationId xmlns:a16="http://schemas.microsoft.com/office/drawing/2014/main" id="{F9839630-6A67-04F5-C678-BC02442D41A0}"/>
              </a:ext>
            </a:extLst>
          </p:cNvPr>
          <p:cNvSpPr>
            <a:spLocks noGrp="1"/>
          </p:cNvSpPr>
          <p:nvPr>
            <p:ph type="title" idx="1"/>
          </p:nvPr>
        </p:nvSpPr>
        <p:spPr/>
        <p:txBody>
          <a:bodyPr/>
          <a:lstStyle/>
          <a:p>
            <a:r>
              <a:rPr lang="en-US" dirty="0"/>
              <a:t>Programmatic evaluation</a:t>
            </a:r>
          </a:p>
        </p:txBody>
      </p:sp>
      <p:grpSp>
        <p:nvGrpSpPr>
          <p:cNvPr id="5" name="Group 4" descr="Step 1, choose a foundation model. Step 2, select task  type. Step 3, choose metric. Step 4, select or upload dataset.">
            <a:extLst>
              <a:ext uri="{FF2B5EF4-FFF2-40B4-BE49-F238E27FC236}">
                <a16:creationId xmlns:a16="http://schemas.microsoft.com/office/drawing/2014/main" id="{F2DDE0F8-32AA-7D16-F03F-BF5BA11238C3}"/>
              </a:ext>
            </a:extLst>
          </p:cNvPr>
          <p:cNvGrpSpPr/>
          <p:nvPr/>
        </p:nvGrpSpPr>
        <p:grpSpPr>
          <a:xfrm>
            <a:off x="2965353" y="1811350"/>
            <a:ext cx="8721381" cy="1903188"/>
            <a:chOff x="2609305" y="1811350"/>
            <a:chExt cx="8721381" cy="1903188"/>
          </a:xfrm>
        </p:grpSpPr>
        <p:sp>
          <p:nvSpPr>
            <p:cNvPr id="6" name="Rounded Rectangle 5">
              <a:extLst>
                <a:ext uri="{FF2B5EF4-FFF2-40B4-BE49-F238E27FC236}">
                  <a16:creationId xmlns:a16="http://schemas.microsoft.com/office/drawing/2014/main" id="{F627141A-784D-3D93-7442-E2D7CE0C7AA7}"/>
                </a:ext>
              </a:extLst>
            </p:cNvPr>
            <p:cNvSpPr/>
            <p:nvPr/>
          </p:nvSpPr>
          <p:spPr>
            <a:xfrm>
              <a:off x="2609305" y="1811350"/>
              <a:ext cx="8721381" cy="1903188"/>
            </a:xfrm>
            <a:prstGeom prst="roundRect">
              <a:avLst/>
            </a:prstGeom>
            <a:solidFill>
              <a:schemeClr val="bg1"/>
            </a:solid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Medium"/>
                <a:ea typeface="+mn-ea"/>
                <a:cs typeface="+mn-cs"/>
              </a:endParaRPr>
            </a:p>
          </p:txBody>
        </p:sp>
        <p:sp>
          <p:nvSpPr>
            <p:cNvPr id="10" name="TextBox 9">
              <a:extLst>
                <a:ext uri="{FF2B5EF4-FFF2-40B4-BE49-F238E27FC236}">
                  <a16:creationId xmlns:a16="http://schemas.microsoft.com/office/drawing/2014/main" id="{4AB4F384-B8C1-F6C6-9798-0575CFC42A14}"/>
                </a:ext>
              </a:extLst>
            </p:cNvPr>
            <p:cNvSpPr txBox="1"/>
            <p:nvPr/>
          </p:nvSpPr>
          <p:spPr>
            <a:xfrm>
              <a:off x="2609305" y="2782976"/>
              <a:ext cx="1819632" cy="369332"/>
            </a:xfrm>
            <a:prstGeom prst="rect">
              <a:avLst/>
            </a:prstGeom>
            <a:noFill/>
          </p:spPr>
          <p:txBody>
            <a:bodyPr wrap="square" rtlCol="0">
              <a:spAutoFit/>
            </a:bodyPr>
            <a:lstStyle>
              <a:defPPr>
                <a:defRPr lang="en-US"/>
              </a:defPPr>
              <a:lvl1pPr marR="0" lvl="0" indent="0" algn="ctr" defTabSz="914377" eaLnBrk="0" fontAlgn="base" hangingPunct="0">
                <a:lnSpc>
                  <a:spcPct val="100000"/>
                </a:lnSpc>
                <a:spcBef>
                  <a:spcPct val="0"/>
                </a:spcBef>
                <a:spcAft>
                  <a:spcPct val="0"/>
                </a:spcAft>
                <a:buClrTx/>
                <a:buSzTx/>
                <a:buFontTx/>
                <a:buNone/>
                <a:tabLst/>
                <a:defRPr kumimoji="0" sz="1600" i="0" u="none" strike="noStrike" cap="none" spc="0" normalizeH="0" baseline="0">
                  <a:ln>
                    <a:noFill/>
                  </a:ln>
                  <a:effectLst/>
                  <a:uLnTx/>
                  <a:uFillTx/>
                  <a:latin typeface="+mj-lt"/>
                  <a:ea typeface="Amazon Ember Display" panose="020F0603020204020204" pitchFamily="34" charset="0"/>
                  <a:cs typeface="Amazon Ember Display" panose="020F0603020204020204" pitchFamily="34" charset="0"/>
                </a:defRPr>
              </a:lvl1pPr>
              <a:lvl2pPr eaLnBrk="0" fontAlgn="base" hangingPunct="0">
                <a:spcBef>
                  <a:spcPct val="0"/>
                </a:spcBef>
                <a:spcAft>
                  <a:spcPct val="0"/>
                </a:spcAft>
                <a:defRPr>
                  <a:latin typeface="Calibri" panose="020F0502020204030204" pitchFamily="34" charset="0"/>
                </a:defRPr>
              </a:lvl2pPr>
              <a:lvl3pPr eaLnBrk="0" fontAlgn="base" hangingPunct="0">
                <a:spcBef>
                  <a:spcPct val="0"/>
                </a:spcBef>
                <a:spcAft>
                  <a:spcPct val="0"/>
                </a:spcAft>
                <a:defRPr>
                  <a:latin typeface="Calibri" panose="020F0502020204030204" pitchFamily="34" charset="0"/>
                </a:defRPr>
              </a:lvl3pPr>
              <a:lvl4pPr eaLnBrk="0" fontAlgn="base" hangingPunct="0">
                <a:spcBef>
                  <a:spcPct val="0"/>
                </a:spcBef>
                <a:spcAft>
                  <a:spcPct val="0"/>
                </a:spcAft>
                <a:defRPr>
                  <a:latin typeface="Calibri" panose="020F0502020204030204" pitchFamily="34" charset="0"/>
                </a:defRPr>
              </a:lvl4pPr>
              <a:lvl5pPr eaLnBrk="0" fontAlgn="base" hangingPunct="0">
                <a:spcBef>
                  <a:spcPct val="0"/>
                </a:spcBef>
                <a:spcAft>
                  <a:spcPct val="0"/>
                </a:spcAft>
                <a:defRPr>
                  <a:latin typeface="Calibri" panose="020F0502020204030204" pitchFamily="34" charset="0"/>
                </a:defRPr>
              </a:lvl5pPr>
              <a:lvl6pPr>
                <a:defRPr>
                  <a:latin typeface="Calibri" panose="020F0502020204030204" pitchFamily="34" charset="0"/>
                </a:defRPr>
              </a:lvl6pPr>
              <a:lvl7pPr>
                <a:defRPr>
                  <a:latin typeface="Calibri" panose="020F0502020204030204" pitchFamily="34" charset="0"/>
                </a:defRPr>
              </a:lvl7pPr>
              <a:lvl8pPr>
                <a:defRPr>
                  <a:latin typeface="Calibri" panose="020F0502020204030204" pitchFamily="34" charset="0"/>
                </a:defRPr>
              </a:lvl8pPr>
              <a:lvl9pPr>
                <a:defRPr>
                  <a:latin typeface="Calibri" panose="020F0502020204030204" pitchFamily="34" charset="0"/>
                </a:defRPr>
              </a:lvl9p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C5AED"/>
                  </a:solidFill>
                  <a:effectLst/>
                  <a:uLnTx/>
                  <a:uFillTx/>
                  <a:latin typeface="Amazon Ember Medium"/>
                  <a:ea typeface="Amazon Ember Display" panose="020F0603020204020204" pitchFamily="34" charset="0"/>
                  <a:cs typeface="Amazon Ember Display" panose="020F0603020204020204" pitchFamily="34" charset="0"/>
                </a:rPr>
                <a:t>Choose a FM</a:t>
              </a:r>
            </a:p>
          </p:txBody>
        </p:sp>
        <p:sp>
          <p:nvSpPr>
            <p:cNvPr id="11" name="TextBox 10">
              <a:extLst>
                <a:ext uri="{FF2B5EF4-FFF2-40B4-BE49-F238E27FC236}">
                  <a16:creationId xmlns:a16="http://schemas.microsoft.com/office/drawing/2014/main" id="{627C41E3-58E6-0FE3-6F5D-3BA06F2CCC36}"/>
                </a:ext>
              </a:extLst>
            </p:cNvPr>
            <p:cNvSpPr txBox="1"/>
            <p:nvPr/>
          </p:nvSpPr>
          <p:spPr>
            <a:xfrm>
              <a:off x="4732917" y="2790323"/>
              <a:ext cx="1819632" cy="646331"/>
            </a:xfrm>
            <a:prstGeom prst="rect">
              <a:avLst/>
            </a:prstGeom>
            <a:noFill/>
          </p:spPr>
          <p:txBody>
            <a:bodyPr wrap="square" rtlCol="0">
              <a:spAutoFit/>
            </a:bodyPr>
            <a:lstStyle>
              <a:defPPr>
                <a:defRPr lang="en-US"/>
              </a:defPPr>
              <a:lvl1pPr marR="0" lvl="0" indent="0" algn="ctr" defTabSz="914377" eaLnBrk="0" fontAlgn="base" hangingPunct="0">
                <a:lnSpc>
                  <a:spcPct val="100000"/>
                </a:lnSpc>
                <a:spcBef>
                  <a:spcPct val="0"/>
                </a:spcBef>
                <a:spcAft>
                  <a:spcPct val="0"/>
                </a:spcAft>
                <a:buClrTx/>
                <a:buSzTx/>
                <a:buFontTx/>
                <a:buNone/>
                <a:tabLst/>
                <a:defRPr kumimoji="0" sz="1600" i="0" u="none" strike="noStrike" cap="none" spc="0" normalizeH="0" baseline="0">
                  <a:ln>
                    <a:noFill/>
                  </a:ln>
                  <a:effectLst/>
                  <a:uLnTx/>
                  <a:uFillTx/>
                  <a:latin typeface="+mj-lt"/>
                  <a:ea typeface="Amazon Ember Display" panose="020F0603020204020204" pitchFamily="34" charset="0"/>
                  <a:cs typeface="Amazon Ember Display" panose="020F0603020204020204" pitchFamily="34" charset="0"/>
                </a:defRPr>
              </a:lvl1pPr>
              <a:lvl2pPr eaLnBrk="0" fontAlgn="base" hangingPunct="0">
                <a:spcBef>
                  <a:spcPct val="0"/>
                </a:spcBef>
                <a:spcAft>
                  <a:spcPct val="0"/>
                </a:spcAft>
                <a:defRPr>
                  <a:latin typeface="Calibri" panose="020F0502020204030204" pitchFamily="34" charset="0"/>
                </a:defRPr>
              </a:lvl2pPr>
              <a:lvl3pPr eaLnBrk="0" fontAlgn="base" hangingPunct="0">
                <a:spcBef>
                  <a:spcPct val="0"/>
                </a:spcBef>
                <a:spcAft>
                  <a:spcPct val="0"/>
                </a:spcAft>
                <a:defRPr>
                  <a:latin typeface="Calibri" panose="020F0502020204030204" pitchFamily="34" charset="0"/>
                </a:defRPr>
              </a:lvl3pPr>
              <a:lvl4pPr eaLnBrk="0" fontAlgn="base" hangingPunct="0">
                <a:spcBef>
                  <a:spcPct val="0"/>
                </a:spcBef>
                <a:spcAft>
                  <a:spcPct val="0"/>
                </a:spcAft>
                <a:defRPr>
                  <a:latin typeface="Calibri" panose="020F0502020204030204" pitchFamily="34" charset="0"/>
                </a:defRPr>
              </a:lvl4pPr>
              <a:lvl5pPr eaLnBrk="0" fontAlgn="base" hangingPunct="0">
                <a:spcBef>
                  <a:spcPct val="0"/>
                </a:spcBef>
                <a:spcAft>
                  <a:spcPct val="0"/>
                </a:spcAft>
                <a:defRPr>
                  <a:latin typeface="Calibri" panose="020F0502020204030204" pitchFamily="34" charset="0"/>
                </a:defRPr>
              </a:lvl5pPr>
              <a:lvl6pPr>
                <a:defRPr>
                  <a:latin typeface="Calibri" panose="020F0502020204030204" pitchFamily="34" charset="0"/>
                </a:defRPr>
              </a:lvl6pPr>
              <a:lvl7pPr>
                <a:defRPr>
                  <a:latin typeface="Calibri" panose="020F0502020204030204" pitchFamily="34" charset="0"/>
                </a:defRPr>
              </a:lvl7pPr>
              <a:lvl8pPr>
                <a:defRPr>
                  <a:latin typeface="Calibri" panose="020F0502020204030204" pitchFamily="34" charset="0"/>
                </a:defRPr>
              </a:lvl8pPr>
              <a:lvl9pPr>
                <a:defRPr>
                  <a:latin typeface="Calibri" panose="020F0502020204030204" pitchFamily="34" charset="0"/>
                </a:defRPr>
              </a:lvl9p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C5AED"/>
                  </a:solidFill>
                  <a:effectLst/>
                  <a:uLnTx/>
                  <a:uFillTx/>
                  <a:latin typeface="Amazon Ember Medium"/>
                  <a:ea typeface="Amazon Ember Display" panose="020F0603020204020204" pitchFamily="34" charset="0"/>
                  <a:cs typeface="Amazon Ember Display" panose="020F0603020204020204" pitchFamily="34" charset="0"/>
                </a:rPr>
                <a:t>Select task type</a:t>
              </a:r>
            </a:p>
          </p:txBody>
        </p:sp>
        <p:sp>
          <p:nvSpPr>
            <p:cNvPr id="12" name="TextBox 11">
              <a:extLst>
                <a:ext uri="{FF2B5EF4-FFF2-40B4-BE49-F238E27FC236}">
                  <a16:creationId xmlns:a16="http://schemas.microsoft.com/office/drawing/2014/main" id="{288FAEE7-A787-81D1-04FB-CB1458EFD9A2}"/>
                </a:ext>
              </a:extLst>
            </p:cNvPr>
            <p:cNvSpPr txBox="1"/>
            <p:nvPr/>
          </p:nvSpPr>
          <p:spPr>
            <a:xfrm>
              <a:off x="6856529" y="2772558"/>
              <a:ext cx="1819632" cy="369332"/>
            </a:xfrm>
            <a:prstGeom prst="rect">
              <a:avLst/>
            </a:prstGeom>
            <a:noFill/>
          </p:spPr>
          <p:txBody>
            <a:bodyPr wrap="square" rtlCol="0">
              <a:spAutoFit/>
            </a:bodyPr>
            <a:lstStyle>
              <a:defPPr>
                <a:defRPr lang="en-US"/>
              </a:defPPr>
              <a:lvl1pPr marR="0" lvl="0" indent="0" algn="ctr" defTabSz="914377" eaLnBrk="0" fontAlgn="base" hangingPunct="0">
                <a:lnSpc>
                  <a:spcPct val="100000"/>
                </a:lnSpc>
                <a:spcBef>
                  <a:spcPct val="0"/>
                </a:spcBef>
                <a:spcAft>
                  <a:spcPct val="0"/>
                </a:spcAft>
                <a:buClrTx/>
                <a:buSzTx/>
                <a:buFontTx/>
                <a:buNone/>
                <a:tabLst/>
                <a:defRPr kumimoji="0" sz="1600" i="0" u="none" strike="noStrike" cap="none" spc="0" normalizeH="0" baseline="0">
                  <a:ln>
                    <a:noFill/>
                  </a:ln>
                  <a:effectLst/>
                  <a:uLnTx/>
                  <a:uFillTx/>
                  <a:latin typeface="+mj-lt"/>
                  <a:ea typeface="Amazon Ember Display" panose="020F0603020204020204" pitchFamily="34" charset="0"/>
                  <a:cs typeface="Amazon Ember Display" panose="020F0603020204020204" pitchFamily="34" charset="0"/>
                </a:defRPr>
              </a:lvl1pPr>
              <a:lvl2pPr eaLnBrk="0" fontAlgn="base" hangingPunct="0">
                <a:spcBef>
                  <a:spcPct val="0"/>
                </a:spcBef>
                <a:spcAft>
                  <a:spcPct val="0"/>
                </a:spcAft>
                <a:defRPr>
                  <a:latin typeface="Calibri" panose="020F0502020204030204" pitchFamily="34" charset="0"/>
                </a:defRPr>
              </a:lvl2pPr>
              <a:lvl3pPr eaLnBrk="0" fontAlgn="base" hangingPunct="0">
                <a:spcBef>
                  <a:spcPct val="0"/>
                </a:spcBef>
                <a:spcAft>
                  <a:spcPct val="0"/>
                </a:spcAft>
                <a:defRPr>
                  <a:latin typeface="Calibri" panose="020F0502020204030204" pitchFamily="34" charset="0"/>
                </a:defRPr>
              </a:lvl3pPr>
              <a:lvl4pPr eaLnBrk="0" fontAlgn="base" hangingPunct="0">
                <a:spcBef>
                  <a:spcPct val="0"/>
                </a:spcBef>
                <a:spcAft>
                  <a:spcPct val="0"/>
                </a:spcAft>
                <a:defRPr>
                  <a:latin typeface="Calibri" panose="020F0502020204030204" pitchFamily="34" charset="0"/>
                </a:defRPr>
              </a:lvl4pPr>
              <a:lvl5pPr eaLnBrk="0" fontAlgn="base" hangingPunct="0">
                <a:spcBef>
                  <a:spcPct val="0"/>
                </a:spcBef>
                <a:spcAft>
                  <a:spcPct val="0"/>
                </a:spcAft>
                <a:defRPr>
                  <a:latin typeface="Calibri" panose="020F0502020204030204" pitchFamily="34" charset="0"/>
                </a:defRPr>
              </a:lvl5pPr>
              <a:lvl6pPr>
                <a:defRPr>
                  <a:latin typeface="Calibri" panose="020F0502020204030204" pitchFamily="34" charset="0"/>
                </a:defRPr>
              </a:lvl6pPr>
              <a:lvl7pPr>
                <a:defRPr>
                  <a:latin typeface="Calibri" panose="020F0502020204030204" pitchFamily="34" charset="0"/>
                </a:defRPr>
              </a:lvl7pPr>
              <a:lvl8pPr>
                <a:defRPr>
                  <a:latin typeface="Calibri" panose="020F0502020204030204" pitchFamily="34" charset="0"/>
                </a:defRPr>
              </a:lvl8pPr>
              <a:lvl9pPr>
                <a:defRPr>
                  <a:latin typeface="Calibri" panose="020F0502020204030204" pitchFamily="34" charset="0"/>
                </a:defRPr>
              </a:lvl9p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C5AED"/>
                  </a:solidFill>
                  <a:effectLst/>
                  <a:uLnTx/>
                  <a:uFillTx/>
                  <a:latin typeface="Amazon Ember Medium"/>
                  <a:ea typeface="Amazon Ember Display" panose="020F0603020204020204" pitchFamily="34" charset="0"/>
                  <a:cs typeface="Amazon Ember Display" panose="020F0603020204020204" pitchFamily="34" charset="0"/>
                </a:rPr>
                <a:t>Choose metric</a:t>
              </a:r>
            </a:p>
          </p:txBody>
        </p:sp>
        <p:sp>
          <p:nvSpPr>
            <p:cNvPr id="14" name="TextBox 13">
              <a:extLst>
                <a:ext uri="{FF2B5EF4-FFF2-40B4-BE49-F238E27FC236}">
                  <a16:creationId xmlns:a16="http://schemas.microsoft.com/office/drawing/2014/main" id="{6B5D2CAE-B10F-AEAD-CF97-915153857AAD}"/>
                </a:ext>
              </a:extLst>
            </p:cNvPr>
            <p:cNvSpPr txBox="1"/>
            <p:nvPr/>
          </p:nvSpPr>
          <p:spPr>
            <a:xfrm>
              <a:off x="9047848" y="2791208"/>
              <a:ext cx="1819632" cy="923330"/>
            </a:xfrm>
            <a:prstGeom prst="rect">
              <a:avLst/>
            </a:prstGeom>
            <a:noFill/>
          </p:spPr>
          <p:txBody>
            <a:bodyPr wrap="square" rtlCol="0">
              <a:spAutoFit/>
            </a:bodyPr>
            <a:lstStyle>
              <a:defPPr>
                <a:defRPr lang="en-US"/>
              </a:defPPr>
              <a:lvl1pPr marR="0" lvl="0" indent="0" algn="ctr" defTabSz="914377" eaLnBrk="0" fontAlgn="base" hangingPunct="0">
                <a:lnSpc>
                  <a:spcPct val="100000"/>
                </a:lnSpc>
                <a:spcBef>
                  <a:spcPct val="0"/>
                </a:spcBef>
                <a:spcAft>
                  <a:spcPct val="0"/>
                </a:spcAft>
                <a:buClrTx/>
                <a:buSzTx/>
                <a:buFontTx/>
                <a:buNone/>
                <a:tabLst/>
                <a:defRPr kumimoji="0" sz="1600" i="0" u="none" strike="noStrike" cap="none" spc="0" normalizeH="0" baseline="0">
                  <a:ln>
                    <a:noFill/>
                  </a:ln>
                  <a:effectLst/>
                  <a:uLnTx/>
                  <a:uFillTx/>
                  <a:latin typeface="+mj-lt"/>
                  <a:ea typeface="Amazon Ember Display" panose="020F0603020204020204" pitchFamily="34" charset="0"/>
                  <a:cs typeface="Amazon Ember Display" panose="020F0603020204020204" pitchFamily="34" charset="0"/>
                </a:defRPr>
              </a:lvl1pPr>
              <a:lvl2pPr eaLnBrk="0" fontAlgn="base" hangingPunct="0">
                <a:spcBef>
                  <a:spcPct val="0"/>
                </a:spcBef>
                <a:spcAft>
                  <a:spcPct val="0"/>
                </a:spcAft>
                <a:defRPr>
                  <a:latin typeface="Calibri" panose="020F0502020204030204" pitchFamily="34" charset="0"/>
                </a:defRPr>
              </a:lvl2pPr>
              <a:lvl3pPr eaLnBrk="0" fontAlgn="base" hangingPunct="0">
                <a:spcBef>
                  <a:spcPct val="0"/>
                </a:spcBef>
                <a:spcAft>
                  <a:spcPct val="0"/>
                </a:spcAft>
                <a:defRPr>
                  <a:latin typeface="Calibri" panose="020F0502020204030204" pitchFamily="34" charset="0"/>
                </a:defRPr>
              </a:lvl3pPr>
              <a:lvl4pPr eaLnBrk="0" fontAlgn="base" hangingPunct="0">
                <a:spcBef>
                  <a:spcPct val="0"/>
                </a:spcBef>
                <a:spcAft>
                  <a:spcPct val="0"/>
                </a:spcAft>
                <a:defRPr>
                  <a:latin typeface="Calibri" panose="020F0502020204030204" pitchFamily="34" charset="0"/>
                </a:defRPr>
              </a:lvl4pPr>
              <a:lvl5pPr eaLnBrk="0" fontAlgn="base" hangingPunct="0">
                <a:spcBef>
                  <a:spcPct val="0"/>
                </a:spcBef>
                <a:spcAft>
                  <a:spcPct val="0"/>
                </a:spcAft>
                <a:defRPr>
                  <a:latin typeface="Calibri" panose="020F0502020204030204" pitchFamily="34" charset="0"/>
                </a:defRPr>
              </a:lvl5pPr>
              <a:lvl6pPr>
                <a:defRPr>
                  <a:latin typeface="Calibri" panose="020F0502020204030204" pitchFamily="34" charset="0"/>
                </a:defRPr>
              </a:lvl6pPr>
              <a:lvl7pPr>
                <a:defRPr>
                  <a:latin typeface="Calibri" panose="020F0502020204030204" pitchFamily="34" charset="0"/>
                </a:defRPr>
              </a:lvl7pPr>
              <a:lvl8pPr>
                <a:defRPr>
                  <a:latin typeface="Calibri" panose="020F0502020204030204" pitchFamily="34" charset="0"/>
                </a:defRPr>
              </a:lvl8pPr>
              <a:lvl9pPr>
                <a:defRPr>
                  <a:latin typeface="Calibri" panose="020F0502020204030204" pitchFamily="34" charset="0"/>
                </a:defRPr>
              </a:lvl9p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C5AED"/>
                  </a:solidFill>
                  <a:effectLst/>
                  <a:uLnTx/>
                  <a:uFillTx/>
                  <a:latin typeface="Amazon Ember Medium"/>
                  <a:ea typeface="Amazon Ember Display" panose="020F0603020204020204" pitchFamily="34" charset="0"/>
                  <a:cs typeface="Amazon Ember Display" panose="020F0603020204020204" pitchFamily="34" charset="0"/>
                </a:rPr>
                <a:t>Select dataset </a:t>
              </a:r>
            </a:p>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7C5AED"/>
                  </a:solidFill>
                  <a:effectLst/>
                  <a:uLnTx/>
                  <a:uFillTx/>
                  <a:latin typeface="Amazon Ember Medium"/>
                  <a:ea typeface="Amazon Ember Display" panose="020F0603020204020204" pitchFamily="34" charset="0"/>
                  <a:cs typeface="Amazon Ember Display" panose="020F0603020204020204" pitchFamily="34" charset="0"/>
                </a:rPr>
                <a:t>or upload a dataset</a:t>
              </a:r>
            </a:p>
          </p:txBody>
        </p:sp>
      </p:grpSp>
      <p:sp>
        <p:nvSpPr>
          <p:cNvPr id="15" name="Content Placeholder 3">
            <a:extLst>
              <a:ext uri="{FF2B5EF4-FFF2-40B4-BE49-F238E27FC236}">
                <a16:creationId xmlns:a16="http://schemas.microsoft.com/office/drawing/2014/main" id="{EB18D1E4-2ABA-BC41-418E-5383F00B4276}"/>
              </a:ext>
            </a:extLst>
          </p:cNvPr>
          <p:cNvSpPr txBox="1">
            <a:spLocks/>
          </p:cNvSpPr>
          <p:nvPr/>
        </p:nvSpPr>
        <p:spPr>
          <a:xfrm>
            <a:off x="648227" y="3858511"/>
            <a:ext cx="10928422" cy="2663670"/>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3600" kern="1200">
                <a:solidFill>
                  <a:srgbClr val="232F3E"/>
                </a:solidFill>
                <a:latin typeface="Amazon Ember Display Heavy"/>
              </a:defRPr>
            </a:lvl1pPr>
          </a:lstStyle>
          <a:p>
            <a:pPr marL="457200" indent="-457200">
              <a:buFont typeface="+mj-lt"/>
              <a:buAutoNum type="arabicPeriod"/>
            </a:pPr>
            <a:r>
              <a:rPr lang="en-US" sz="2400" dirty="0">
                <a:solidFill>
                  <a:schemeClr val="tx1"/>
                </a:solidFill>
                <a:latin typeface="+mn-lt"/>
              </a:rPr>
              <a:t>Select a foundation model from Amazon Bedrock</a:t>
            </a:r>
          </a:p>
          <a:p>
            <a:pPr marL="457200" indent="-457200">
              <a:buFont typeface="+mj-lt"/>
              <a:buAutoNum type="arabicPeriod"/>
            </a:pPr>
            <a:r>
              <a:rPr lang="en-US" sz="2400" dirty="0">
                <a:solidFill>
                  <a:schemeClr val="tx1"/>
                </a:solidFill>
                <a:latin typeface="+mn-lt"/>
              </a:rPr>
              <a:t>Select the type of task for evaluation </a:t>
            </a:r>
          </a:p>
          <a:p>
            <a:pPr marL="914400" lvl="1" indent="-457200">
              <a:buFont typeface="Arial" panose="020B0604020202020204" pitchFamily="34" charset="0"/>
              <a:buChar char="•"/>
            </a:pPr>
            <a:r>
              <a:rPr lang="en-US" kern="0" dirty="0">
                <a:latin typeface="+mn-lt"/>
              </a:rPr>
              <a:t>Text generation, classification, Q&amp;A, etc.</a:t>
            </a:r>
          </a:p>
          <a:p>
            <a:pPr marL="457200" indent="-457200">
              <a:buFont typeface="+mj-lt"/>
              <a:buAutoNum type="arabicPeriod"/>
            </a:pPr>
            <a:r>
              <a:rPr lang="en-US" sz="2400" dirty="0">
                <a:solidFill>
                  <a:schemeClr val="tx1"/>
                </a:solidFill>
                <a:latin typeface="+mn-lt"/>
              </a:rPr>
              <a:t>Choose the set of metrics </a:t>
            </a:r>
          </a:p>
          <a:p>
            <a:pPr marL="800100" lvl="1" indent="-342900">
              <a:buFont typeface="Arial" panose="020B0604020202020204" pitchFamily="34" charset="0"/>
              <a:buChar char="•"/>
            </a:pPr>
            <a:r>
              <a:rPr lang="en-US" kern="0" dirty="0">
                <a:latin typeface="+mn-lt"/>
              </a:rPr>
              <a:t>Accuracy, Robustness, Toxicity, etc.</a:t>
            </a:r>
          </a:p>
          <a:p>
            <a:pPr marL="457200" indent="-457200">
              <a:buFont typeface="+mj-lt"/>
              <a:buAutoNum type="arabicPeriod"/>
            </a:pPr>
            <a:r>
              <a:rPr lang="en-US" sz="2400" dirty="0">
                <a:solidFill>
                  <a:schemeClr val="tx1"/>
                </a:solidFill>
                <a:latin typeface="+mn-lt"/>
              </a:rPr>
              <a:t>Select an available dataset or upload your own prompt dataset</a:t>
            </a:r>
          </a:p>
        </p:txBody>
      </p:sp>
      <p:grpSp>
        <p:nvGrpSpPr>
          <p:cNvPr id="16" name="Group 15" descr="Amazon Bedrock logo.">
            <a:extLst>
              <a:ext uri="{FF2B5EF4-FFF2-40B4-BE49-F238E27FC236}">
                <a16:creationId xmlns:a16="http://schemas.microsoft.com/office/drawing/2014/main" id="{C24B5696-87BC-3CF2-D9B4-21A93162FD54}"/>
              </a:ext>
              <a:ext uri="{C183D7F6-B498-43B3-948B-1728B52AA6E4}">
                <adec:decorative xmlns:adec="http://schemas.microsoft.com/office/drawing/2017/decorative" val="0"/>
              </a:ext>
            </a:extLst>
          </p:cNvPr>
          <p:cNvGrpSpPr/>
          <p:nvPr/>
        </p:nvGrpSpPr>
        <p:grpSpPr>
          <a:xfrm>
            <a:off x="158483" y="1981439"/>
            <a:ext cx="2539890" cy="1617767"/>
            <a:chOff x="4826055" y="1590772"/>
            <a:chExt cx="2539890" cy="1617767"/>
          </a:xfrm>
        </p:grpSpPr>
        <p:sp>
          <p:nvSpPr>
            <p:cNvPr id="17" name="Rectangle 16">
              <a:extLst>
                <a:ext uri="{FF2B5EF4-FFF2-40B4-BE49-F238E27FC236}">
                  <a16:creationId xmlns:a16="http://schemas.microsoft.com/office/drawing/2014/main" id="{C203AA6E-97F9-F195-DFB6-3CEB643D6B4E}"/>
                </a:ext>
              </a:extLst>
            </p:cNvPr>
            <p:cNvSpPr/>
            <p:nvPr/>
          </p:nvSpPr>
          <p:spPr>
            <a:xfrm>
              <a:off x="4826055" y="1668988"/>
              <a:ext cx="2539890" cy="1539551"/>
            </a:xfrm>
            <a:prstGeom prst="rect">
              <a:avLst/>
            </a:prstGeom>
            <a:solidFill>
              <a:schemeClr val="bg1"/>
            </a:solidFill>
            <a:ln w="285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18" name="TextBox 10">
              <a:extLst>
                <a:ext uri="{FF2B5EF4-FFF2-40B4-BE49-F238E27FC236}">
                  <a16:creationId xmlns:a16="http://schemas.microsoft.com/office/drawing/2014/main" id="{61D85792-86CE-D350-36FF-5CE3EDB44697}"/>
                </a:ext>
              </a:extLst>
            </p:cNvPr>
            <p:cNvSpPr txBox="1"/>
            <p:nvPr/>
          </p:nvSpPr>
          <p:spPr>
            <a:xfrm>
              <a:off x="4826055" y="2736149"/>
              <a:ext cx="2539890" cy="40011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232F3E"/>
                  </a:solidFill>
                  <a:effectLst/>
                  <a:uLnTx/>
                  <a:uFillTx/>
                  <a:latin typeface="Amazon Ember Medium"/>
                  <a:ea typeface="Amazon Ember Display" panose="020F0603020204020204" pitchFamily="34" charset="0"/>
                  <a:cs typeface="Amazon Ember Display" panose="020F0603020204020204" pitchFamily="34" charset="0"/>
                </a:rPr>
                <a:t>Amazon Bedrock</a:t>
              </a:r>
            </a:p>
          </p:txBody>
        </p:sp>
        <p:sp>
          <p:nvSpPr>
            <p:cNvPr id="19" name="Rectangle 18">
              <a:extLst>
                <a:ext uri="{FF2B5EF4-FFF2-40B4-BE49-F238E27FC236}">
                  <a16:creationId xmlns:a16="http://schemas.microsoft.com/office/drawing/2014/main" id="{D120A00F-7FDC-AE23-5137-B4A23B7BDA25}"/>
                </a:ext>
              </a:extLst>
            </p:cNvPr>
            <p:cNvSpPr/>
            <p:nvPr/>
          </p:nvSpPr>
          <p:spPr>
            <a:xfrm>
              <a:off x="4826055" y="1590772"/>
              <a:ext cx="2539890" cy="91440"/>
            </a:xfrm>
            <a:prstGeom prst="rect">
              <a:avLst/>
            </a:prstGeom>
            <a:solidFill>
              <a:schemeClr val="accent2"/>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1F3F3"/>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20" name="Picture 19">
              <a:extLst>
                <a:ext uri="{FF2B5EF4-FFF2-40B4-BE49-F238E27FC236}">
                  <a16:creationId xmlns:a16="http://schemas.microsoft.com/office/drawing/2014/main" id="{B3DC1AED-FB79-FB88-6DD9-9A222C4147F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1573" y="1809772"/>
              <a:ext cx="888911" cy="888911"/>
            </a:xfrm>
            <a:prstGeom prst="rect">
              <a:avLst/>
            </a:prstGeom>
          </p:spPr>
        </p:pic>
      </p:grpSp>
      <p:sp>
        <p:nvSpPr>
          <p:cNvPr id="21" name="Oval 20">
            <a:extLst>
              <a:ext uri="{FF2B5EF4-FFF2-40B4-BE49-F238E27FC236}">
                <a16:creationId xmlns:a16="http://schemas.microsoft.com/office/drawing/2014/main" id="{D96775FD-B725-1E9E-3A82-90AB7EBD2FB6}"/>
              </a:ext>
            </a:extLst>
          </p:cNvPr>
          <p:cNvSpPr/>
          <p:nvPr/>
        </p:nvSpPr>
        <p:spPr>
          <a:xfrm>
            <a:off x="3470945" y="1981439"/>
            <a:ext cx="801537" cy="801537"/>
          </a:xfrm>
          <a:prstGeom prst="ellipse">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rPr>
              <a:t>1</a:t>
            </a:r>
            <a:endParaRPr lang="en-US" dirty="0">
              <a:solidFill>
                <a:schemeClr val="bg1"/>
              </a:solidFill>
            </a:endParaRPr>
          </a:p>
        </p:txBody>
      </p:sp>
      <p:sp>
        <p:nvSpPr>
          <p:cNvPr id="22" name="Oval 21">
            <a:extLst>
              <a:ext uri="{FF2B5EF4-FFF2-40B4-BE49-F238E27FC236}">
                <a16:creationId xmlns:a16="http://schemas.microsoft.com/office/drawing/2014/main" id="{B25467A0-D11D-4253-FF31-1D25DFB54111}"/>
              </a:ext>
            </a:extLst>
          </p:cNvPr>
          <p:cNvSpPr/>
          <p:nvPr/>
        </p:nvSpPr>
        <p:spPr>
          <a:xfrm>
            <a:off x="5598012" y="1975179"/>
            <a:ext cx="801537" cy="801537"/>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rPr>
              <a:t>2</a:t>
            </a:r>
            <a:endParaRPr lang="en-US" dirty="0">
              <a:solidFill>
                <a:schemeClr val="bg1"/>
              </a:solidFill>
            </a:endParaRPr>
          </a:p>
        </p:txBody>
      </p:sp>
      <p:sp>
        <p:nvSpPr>
          <p:cNvPr id="23" name="Oval 22">
            <a:extLst>
              <a:ext uri="{FF2B5EF4-FFF2-40B4-BE49-F238E27FC236}">
                <a16:creationId xmlns:a16="http://schemas.microsoft.com/office/drawing/2014/main" id="{44092FC6-B39D-49F1-5374-BD35091F28C2}"/>
              </a:ext>
            </a:extLst>
          </p:cNvPr>
          <p:cNvSpPr/>
          <p:nvPr/>
        </p:nvSpPr>
        <p:spPr>
          <a:xfrm>
            <a:off x="7721624" y="1976900"/>
            <a:ext cx="801537" cy="801537"/>
          </a:xfrm>
          <a:prstGeom prst="ellipse">
            <a:avLst/>
          </a:prstGeom>
          <a:solidFill>
            <a:srgbClr val="2074D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rPr>
              <a:t>3</a:t>
            </a:r>
            <a:endParaRPr lang="en-US" dirty="0">
              <a:solidFill>
                <a:schemeClr val="bg1"/>
              </a:solidFill>
            </a:endParaRPr>
          </a:p>
        </p:txBody>
      </p:sp>
      <p:sp>
        <p:nvSpPr>
          <p:cNvPr id="24" name="Oval 23">
            <a:extLst>
              <a:ext uri="{FF2B5EF4-FFF2-40B4-BE49-F238E27FC236}">
                <a16:creationId xmlns:a16="http://schemas.microsoft.com/office/drawing/2014/main" id="{96096A27-2CB8-334D-AFA0-FE7442C1504A}"/>
              </a:ext>
            </a:extLst>
          </p:cNvPr>
          <p:cNvSpPr/>
          <p:nvPr/>
        </p:nvSpPr>
        <p:spPr>
          <a:xfrm>
            <a:off x="9912943" y="1975178"/>
            <a:ext cx="801537" cy="801537"/>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1"/>
                </a:solidFill>
              </a:rPr>
              <a:t>4</a:t>
            </a:r>
            <a:endParaRPr lang="en-US" dirty="0">
              <a:solidFill>
                <a:schemeClr val="bg1"/>
              </a:solidFill>
            </a:endParaRPr>
          </a:p>
        </p:txBody>
      </p:sp>
    </p:spTree>
    <p:extLst>
      <p:ext uri="{BB962C8B-B14F-4D97-AF65-F5344CB8AC3E}">
        <p14:creationId xmlns:p14="http://schemas.microsoft.com/office/powerpoint/2010/main" val="238357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35B717-4726-8726-0E06-4C75B3B21252}"/>
              </a:ext>
            </a:extLst>
          </p:cNvPr>
          <p:cNvSpPr>
            <a:spLocks noGrp="1"/>
          </p:cNvSpPr>
          <p:nvPr>
            <p:ph type="sldNum" idx="97"/>
          </p:nvPr>
        </p:nvSpPr>
        <p:spPr/>
        <p:txBody>
          <a:bodyPr/>
          <a:lstStyle/>
          <a:p>
            <a:fld id="{86A8BF56-6CB3-514C-9A64-F39D95C9E25B}" type="slidenum">
              <a:rPr lang="en-US" smtClean="0"/>
              <a:t>24</a:t>
            </a:fld>
            <a:endParaRPr lang="en-US"/>
          </a:p>
        </p:txBody>
      </p:sp>
      <p:sp>
        <p:nvSpPr>
          <p:cNvPr id="3" name="Title 2">
            <a:extLst>
              <a:ext uri="{FF2B5EF4-FFF2-40B4-BE49-F238E27FC236}">
                <a16:creationId xmlns:a16="http://schemas.microsoft.com/office/drawing/2014/main" id="{03BB1925-E199-2818-638C-1491744EB56A}"/>
              </a:ext>
            </a:extLst>
          </p:cNvPr>
          <p:cNvSpPr>
            <a:spLocks noGrp="1"/>
          </p:cNvSpPr>
          <p:nvPr>
            <p:ph type="title" idx="1"/>
          </p:nvPr>
        </p:nvSpPr>
        <p:spPr/>
        <p:txBody>
          <a:bodyPr/>
          <a:lstStyle/>
          <a:p>
            <a:r>
              <a:rPr lang="en-US" dirty="0"/>
              <a:t>Manual evaluation</a:t>
            </a:r>
          </a:p>
        </p:txBody>
      </p:sp>
      <p:sp>
        <p:nvSpPr>
          <p:cNvPr id="4" name="Content Placeholder 3">
            <a:extLst>
              <a:ext uri="{FF2B5EF4-FFF2-40B4-BE49-F238E27FC236}">
                <a16:creationId xmlns:a16="http://schemas.microsoft.com/office/drawing/2014/main" id="{380736DE-FB21-3F1F-A5D7-B7F8AF720CB1}"/>
              </a:ext>
            </a:extLst>
          </p:cNvPr>
          <p:cNvSpPr>
            <a:spLocks noGrp="1"/>
          </p:cNvSpPr>
          <p:nvPr>
            <p:ph idx="2"/>
          </p:nvPr>
        </p:nvSpPr>
        <p:spPr/>
        <p:txBody>
          <a:bodyPr/>
          <a:lstStyle/>
          <a:p>
            <a:r>
              <a:rPr lang="en-US" dirty="0">
                <a:latin typeface="+mn-lt"/>
                <a:ea typeface="Amazon Ember" panose="020B0603020204020204" pitchFamily="34" charset="0"/>
                <a:cs typeface="Amazon Ember" panose="020B0603020204020204" pitchFamily="34" charset="0"/>
              </a:rPr>
              <a:t>Human evaluations supported by Amazon Bedrock</a:t>
            </a:r>
          </a:p>
          <a:p>
            <a:r>
              <a:rPr lang="en-US" dirty="0">
                <a:latin typeface="+mn-lt"/>
                <a:ea typeface="Amazon Ember" panose="020B0603020204020204" pitchFamily="34" charset="0"/>
                <a:cs typeface="Amazon Ember" panose="020B0603020204020204" pitchFamily="34" charset="0"/>
              </a:rPr>
              <a:t>Evaluate responses from up to two models</a:t>
            </a:r>
          </a:p>
          <a:p>
            <a:endParaRPr lang="en-US" dirty="0">
              <a:latin typeface="+mn-lt"/>
              <a:ea typeface="Amazon Ember" panose="020B0603020204020204" pitchFamily="34" charset="0"/>
              <a:cs typeface="Amazon Ember" panose="020B0603020204020204" pitchFamily="34" charset="0"/>
            </a:endParaRPr>
          </a:p>
          <a:p>
            <a:r>
              <a:rPr lang="en-US" dirty="0">
                <a:latin typeface="+mn-lt"/>
                <a:ea typeface="Amazon Ember" panose="020B0603020204020204" pitchFamily="34" charset="0"/>
                <a:cs typeface="Amazon Ember" panose="020B0603020204020204" pitchFamily="34" charset="0"/>
              </a:rPr>
              <a:t>Two options for evaluation:</a:t>
            </a:r>
          </a:p>
          <a:p>
            <a:pPr lvl="1"/>
            <a:r>
              <a:rPr lang="en-US" dirty="0">
                <a:solidFill>
                  <a:schemeClr val="accent5"/>
                </a:solidFill>
                <a:latin typeface="+mn-lt"/>
                <a:ea typeface="Amazon Ember" panose="020B0603020204020204" pitchFamily="34" charset="0"/>
                <a:cs typeface="Amazon Ember" panose="020B0603020204020204" pitchFamily="34" charset="0"/>
              </a:rPr>
              <a:t>Bring your own team</a:t>
            </a:r>
            <a:endParaRPr lang="en-US" sz="1800" dirty="0">
              <a:solidFill>
                <a:schemeClr val="accent5"/>
              </a:solidFill>
              <a:latin typeface="+mn-lt"/>
              <a:ea typeface="Amazon Ember" panose="020B0603020204020204" pitchFamily="34" charset="0"/>
              <a:cs typeface="Amazon Ember" panose="020B0603020204020204" pitchFamily="34" charset="0"/>
            </a:endParaRPr>
          </a:p>
          <a:p>
            <a:pPr lvl="1"/>
            <a:r>
              <a:rPr lang="en-US" dirty="0">
                <a:solidFill>
                  <a:schemeClr val="accent5"/>
                </a:solidFill>
                <a:latin typeface="+mn-lt"/>
                <a:ea typeface="Amazon Ember" panose="020B0603020204020204" pitchFamily="34" charset="0"/>
                <a:cs typeface="Amazon Ember" panose="020B0603020204020204" pitchFamily="34" charset="0"/>
              </a:rPr>
              <a:t>AWS Managed work team</a:t>
            </a:r>
            <a:endParaRPr lang="en-US" sz="2000" dirty="0">
              <a:solidFill>
                <a:schemeClr val="accent5"/>
              </a:solidFill>
              <a:latin typeface="+mn-lt"/>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439161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7E2225-EA7A-4EF7-90C2-711315AEFFBF}"/>
              </a:ext>
            </a:extLst>
          </p:cNvPr>
          <p:cNvSpPr>
            <a:spLocks noGrp="1"/>
          </p:cNvSpPr>
          <p:nvPr>
            <p:ph type="title"/>
          </p:nvPr>
        </p:nvSpPr>
        <p:spPr/>
        <p:txBody>
          <a:bodyPr>
            <a:normAutofit/>
          </a:bodyPr>
          <a:lstStyle/>
          <a:p>
            <a:r>
              <a:rPr lang="en-US" dirty="0"/>
              <a:t>How human evaluation works </a:t>
            </a:r>
            <a:br>
              <a:rPr lang="en-US" dirty="0"/>
            </a:br>
            <a:r>
              <a:rPr lang="en-US" sz="2400" dirty="0"/>
              <a:t>(Bring your own team)</a:t>
            </a:r>
            <a:endParaRPr lang="en-US" dirty="0"/>
          </a:p>
        </p:txBody>
      </p:sp>
      <p:grpSp>
        <p:nvGrpSpPr>
          <p:cNvPr id="238" name="Group 237" descr="Step 7, human evaluation.">
            <a:extLst>
              <a:ext uri="{FF2B5EF4-FFF2-40B4-BE49-F238E27FC236}">
                <a16:creationId xmlns:a16="http://schemas.microsoft.com/office/drawing/2014/main" id="{4E936AAB-DC21-5A88-229C-CBA76F16CB78}"/>
              </a:ext>
            </a:extLst>
          </p:cNvPr>
          <p:cNvGrpSpPr/>
          <p:nvPr/>
        </p:nvGrpSpPr>
        <p:grpSpPr>
          <a:xfrm>
            <a:off x="9161158" y="2498441"/>
            <a:ext cx="1421591" cy="3107375"/>
            <a:chOff x="9161158" y="2498441"/>
            <a:chExt cx="1421591" cy="3107375"/>
          </a:xfrm>
        </p:grpSpPr>
        <p:sp>
          <p:nvSpPr>
            <p:cNvPr id="27" name="TextBox 26">
              <a:extLst>
                <a:ext uri="{FF2B5EF4-FFF2-40B4-BE49-F238E27FC236}">
                  <a16:creationId xmlns:a16="http://schemas.microsoft.com/office/drawing/2014/main" id="{6A695EF5-4FE0-EBA4-E9B5-0A3A620C272D}"/>
                </a:ext>
              </a:extLst>
            </p:cNvPr>
            <p:cNvSpPr txBox="1"/>
            <p:nvPr/>
          </p:nvSpPr>
          <p:spPr>
            <a:xfrm>
              <a:off x="9161158" y="3959896"/>
              <a:ext cx="1371600" cy="1645920"/>
            </a:xfrm>
            <a:prstGeom prst="rect">
              <a:avLst/>
            </a:prstGeom>
          </p:spPr>
          <p:txBody>
            <a:bodyPr wrap="square" lIns="91440" tIns="0" rIns="91440" bIns="0">
              <a:noAutofit/>
            </a:bodyPr>
            <a:lstStyle>
              <a:defPPr>
                <a:defRPr lang="en-US"/>
              </a:defPPr>
              <a:lvl1pPr indent="0" algn="ctr">
                <a:lnSpc>
                  <a:spcPct val="90000"/>
                </a:lnSpc>
                <a:spcBef>
                  <a:spcPts val="0"/>
                </a:spcBef>
                <a:spcAft>
                  <a:spcPts val="1200"/>
                </a:spcAft>
                <a:buSzPct val="90000"/>
                <a:buFont typeface="Arial" panose="020B0604020202020204" pitchFamily="34" charset="0"/>
                <a:buNone/>
                <a:defRPr sz="2000">
                  <a:latin typeface="+mj-lt"/>
                </a:defRPr>
              </a:lvl1pPr>
              <a:lvl2pPr marL="514350" indent="-228600">
                <a:lnSpc>
                  <a:spcPct val="90000"/>
                </a:lnSpc>
                <a:spcBef>
                  <a:spcPts val="0"/>
                </a:spcBef>
                <a:spcAft>
                  <a:spcPts val="1200"/>
                </a:spcAft>
                <a:buSzPct val="90000"/>
                <a:buFont typeface="Wingdings" panose="05000000000000000000" pitchFamily="2" charset="2"/>
                <a:buChar char="§"/>
                <a:defRPr sz="2400"/>
              </a:lvl2pPr>
              <a:lvl3pPr marL="857250" indent="-228600">
                <a:lnSpc>
                  <a:spcPct val="90000"/>
                </a:lnSpc>
                <a:spcBef>
                  <a:spcPts val="0"/>
                </a:spcBef>
                <a:spcAft>
                  <a:spcPts val="1200"/>
                </a:spcAft>
                <a:buFont typeface="Amazon Ember" panose="020B0603020204020204" pitchFamily="34" charset="0"/>
                <a:buChar char="–"/>
                <a:defRPr sz="2000"/>
              </a:lvl3pPr>
              <a:lvl4pPr marL="1030288" indent="-171450">
                <a:lnSpc>
                  <a:spcPct val="90000"/>
                </a:lnSpc>
                <a:spcBef>
                  <a:spcPts val="0"/>
                </a:spcBef>
                <a:spcAft>
                  <a:spcPts val="1200"/>
                </a:spcAft>
                <a:buFont typeface="Arial" panose="020B0604020202020204" pitchFamily="34" charset="0"/>
                <a:buChar char="•"/>
              </a:lvl4pPr>
              <a:lvl5pPr marL="1201738" indent="-171450">
                <a:lnSpc>
                  <a:spcPct val="90000"/>
                </a:lnSpc>
                <a:spcBef>
                  <a:spcPts val="0"/>
                </a:spcBef>
                <a:spcAft>
                  <a:spcPts val="1200"/>
                </a:spcAft>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1200"/>
                </a:spcAft>
                <a:buClrTx/>
                <a:buSzPct val="90000"/>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Human evaluation</a:t>
              </a:r>
            </a:p>
          </p:txBody>
        </p:sp>
        <p:sp>
          <p:nvSpPr>
            <p:cNvPr id="78" name="Freeform: Shape 77">
              <a:extLst>
                <a:ext uri="{FF2B5EF4-FFF2-40B4-BE49-F238E27FC236}">
                  <a16:creationId xmlns:a16="http://schemas.microsoft.com/office/drawing/2014/main" id="{8D2A2419-C858-8D3A-5B5F-4D1CECFA93F4}"/>
                </a:ext>
              </a:extLst>
            </p:cNvPr>
            <p:cNvSpPr/>
            <p:nvPr/>
          </p:nvSpPr>
          <p:spPr>
            <a:xfrm>
              <a:off x="9267342" y="2498441"/>
              <a:ext cx="1315407" cy="1144940"/>
            </a:xfrm>
            <a:custGeom>
              <a:avLst/>
              <a:gdLst>
                <a:gd name="connsiteX0" fmla="*/ 2061646 w 2066765"/>
                <a:gd name="connsiteY0" fmla="*/ 916242 h 1798928"/>
                <a:gd name="connsiteX1" fmla="*/ 2062340 w 2066765"/>
                <a:gd name="connsiteY1" fmla="*/ 914998 h 1798928"/>
                <a:gd name="connsiteX2" fmla="*/ 2064423 w 2066765"/>
                <a:gd name="connsiteY2" fmla="*/ 911064 h 1798928"/>
                <a:gd name="connsiteX3" fmla="*/ 2065001 w 2066765"/>
                <a:gd name="connsiteY3" fmla="*/ 909213 h 1798928"/>
                <a:gd name="connsiteX4" fmla="*/ 2066159 w 2066765"/>
                <a:gd name="connsiteY4" fmla="*/ 905423 h 1798928"/>
                <a:gd name="connsiteX5" fmla="*/ 2066766 w 2066765"/>
                <a:gd name="connsiteY5" fmla="*/ 899464 h 1798928"/>
                <a:gd name="connsiteX6" fmla="*/ 2066159 w 2066765"/>
                <a:gd name="connsiteY6" fmla="*/ 893505 h 1798928"/>
                <a:gd name="connsiteX7" fmla="*/ 2065001 w 2066765"/>
                <a:gd name="connsiteY7" fmla="*/ 889716 h 1798928"/>
                <a:gd name="connsiteX8" fmla="*/ 2064423 w 2066765"/>
                <a:gd name="connsiteY8" fmla="*/ 887865 h 1798928"/>
                <a:gd name="connsiteX9" fmla="*/ 2062340 w 2066765"/>
                <a:gd name="connsiteY9" fmla="*/ 883931 h 1798928"/>
                <a:gd name="connsiteX10" fmla="*/ 2061646 w 2066765"/>
                <a:gd name="connsiteY10" fmla="*/ 882687 h 1798928"/>
                <a:gd name="connsiteX11" fmla="*/ 2057914 w 2066765"/>
                <a:gd name="connsiteY11" fmla="*/ 878116 h 1798928"/>
                <a:gd name="connsiteX12" fmla="*/ 2057914 w 2066765"/>
                <a:gd name="connsiteY12" fmla="*/ 878116 h 1798928"/>
                <a:gd name="connsiteX13" fmla="*/ 1921840 w 2066765"/>
                <a:gd name="connsiteY13" fmla="*/ 742042 h 1798928"/>
                <a:gd name="connsiteX14" fmla="*/ 1879173 w 2066765"/>
                <a:gd name="connsiteY14" fmla="*/ 742042 h 1798928"/>
                <a:gd name="connsiteX15" fmla="*/ 1879173 w 2066765"/>
                <a:gd name="connsiteY15" fmla="*/ 784710 h 1798928"/>
                <a:gd name="connsiteX16" fmla="*/ 1963727 w 2066765"/>
                <a:gd name="connsiteY16" fmla="*/ 869264 h 1798928"/>
                <a:gd name="connsiteX17" fmla="*/ 1651313 w 2066765"/>
                <a:gd name="connsiteY17" fmla="*/ 869264 h 1798928"/>
                <a:gd name="connsiteX18" fmla="*/ 899493 w 2066765"/>
                <a:gd name="connsiteY18" fmla="*/ 146835 h 1798928"/>
                <a:gd name="connsiteX19" fmla="*/ 146864 w 2066765"/>
                <a:gd name="connsiteY19" fmla="*/ 899464 h 1798928"/>
                <a:gd name="connsiteX20" fmla="*/ 899464 w 2066765"/>
                <a:gd name="connsiteY20" fmla="*/ 1652065 h 1798928"/>
                <a:gd name="connsiteX21" fmla="*/ 1633638 w 2066765"/>
                <a:gd name="connsiteY21" fmla="*/ 1065710 h 1798928"/>
                <a:gd name="connsiteX22" fmla="*/ 1722156 w 2066765"/>
                <a:gd name="connsiteY22" fmla="*/ 1065710 h 1798928"/>
                <a:gd name="connsiteX23" fmla="*/ 899464 w 2066765"/>
                <a:gd name="connsiteY23" fmla="*/ 1738558 h 1798928"/>
                <a:gd name="connsiteX24" fmla="*/ 60342 w 2066765"/>
                <a:gd name="connsiteY24" fmla="*/ 899436 h 1798928"/>
                <a:gd name="connsiteX25" fmla="*/ 899464 w 2066765"/>
                <a:gd name="connsiteY25" fmla="*/ 60342 h 1798928"/>
                <a:gd name="connsiteX26" fmla="*/ 1728346 w 2066765"/>
                <a:gd name="connsiteY26" fmla="*/ 768077 h 1798928"/>
                <a:gd name="connsiteX27" fmla="*/ 1762827 w 2066765"/>
                <a:gd name="connsiteY27" fmla="*/ 793186 h 1798928"/>
                <a:gd name="connsiteX28" fmla="*/ 1787965 w 2066765"/>
                <a:gd name="connsiteY28" fmla="*/ 758704 h 1798928"/>
                <a:gd name="connsiteX29" fmla="*/ 1486688 w 2066765"/>
                <a:gd name="connsiteY29" fmla="*/ 218141 h 1798928"/>
                <a:gd name="connsiteX30" fmla="*/ 899464 w 2066765"/>
                <a:gd name="connsiteY30" fmla="*/ 0 h 1798928"/>
                <a:gd name="connsiteX31" fmla="*/ 0 w 2066765"/>
                <a:gd name="connsiteY31" fmla="*/ 899464 h 1798928"/>
                <a:gd name="connsiteX32" fmla="*/ 899464 w 2066765"/>
                <a:gd name="connsiteY32" fmla="*/ 1798929 h 1798928"/>
                <a:gd name="connsiteX33" fmla="*/ 1486717 w 2066765"/>
                <a:gd name="connsiteY33" fmla="*/ 1580788 h 1798928"/>
                <a:gd name="connsiteX34" fmla="*/ 1787994 w 2066765"/>
                <a:gd name="connsiteY34" fmla="*/ 1040225 h 1798928"/>
                <a:gd name="connsiteX35" fmla="*/ 1781109 w 2066765"/>
                <a:gd name="connsiteY35" fmla="*/ 1015926 h 1798928"/>
                <a:gd name="connsiteX36" fmla="*/ 1758170 w 2066765"/>
                <a:gd name="connsiteY36" fmla="*/ 1005367 h 1798928"/>
                <a:gd name="connsiteX37" fmla="*/ 1609108 w 2066765"/>
                <a:gd name="connsiteY37" fmla="*/ 1005367 h 1798928"/>
                <a:gd name="connsiteX38" fmla="*/ 1579457 w 2066765"/>
                <a:gd name="connsiteY38" fmla="*/ 1029898 h 1798928"/>
                <a:gd name="connsiteX39" fmla="*/ 899464 w 2066765"/>
                <a:gd name="connsiteY39" fmla="*/ 1591723 h 1798928"/>
                <a:gd name="connsiteX40" fmla="*/ 207206 w 2066765"/>
                <a:gd name="connsiteY40" fmla="*/ 899464 h 1798928"/>
                <a:gd name="connsiteX41" fmla="*/ 899464 w 2066765"/>
                <a:gd name="connsiteY41" fmla="*/ 207206 h 1798928"/>
                <a:gd name="connsiteX42" fmla="*/ 1591723 w 2066765"/>
                <a:gd name="connsiteY42" fmla="*/ 899464 h 1798928"/>
                <a:gd name="connsiteX43" fmla="*/ 1621894 w 2066765"/>
                <a:gd name="connsiteY43" fmla="*/ 929636 h 1798928"/>
                <a:gd name="connsiteX44" fmla="*/ 1963727 w 2066765"/>
                <a:gd name="connsiteY44" fmla="*/ 929636 h 1798928"/>
                <a:gd name="connsiteX45" fmla="*/ 1879173 w 2066765"/>
                <a:gd name="connsiteY45" fmla="*/ 1014190 h 1798928"/>
                <a:gd name="connsiteX46" fmla="*/ 1879173 w 2066765"/>
                <a:gd name="connsiteY46" fmla="*/ 1056858 h 1798928"/>
                <a:gd name="connsiteX47" fmla="*/ 1900521 w 2066765"/>
                <a:gd name="connsiteY47" fmla="*/ 1065710 h 1798928"/>
                <a:gd name="connsiteX48" fmla="*/ 1921869 w 2066765"/>
                <a:gd name="connsiteY48" fmla="*/ 1056887 h 1798928"/>
                <a:gd name="connsiteX49" fmla="*/ 2057943 w 2066765"/>
                <a:gd name="connsiteY49" fmla="*/ 920813 h 1798928"/>
                <a:gd name="connsiteX50" fmla="*/ 2057943 w 2066765"/>
                <a:gd name="connsiteY50" fmla="*/ 920813 h 1798928"/>
                <a:gd name="connsiteX51" fmla="*/ 2061675 w 2066765"/>
                <a:gd name="connsiteY51" fmla="*/ 916242 h 17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066765" h="1798928">
                  <a:moveTo>
                    <a:pt x="2061646" y="916242"/>
                  </a:moveTo>
                  <a:cubicBezTo>
                    <a:pt x="2061906" y="915837"/>
                    <a:pt x="2062080" y="915403"/>
                    <a:pt x="2062340" y="914998"/>
                  </a:cubicBezTo>
                  <a:cubicBezTo>
                    <a:pt x="2063092" y="913726"/>
                    <a:pt x="2063844" y="912453"/>
                    <a:pt x="2064423" y="911064"/>
                  </a:cubicBezTo>
                  <a:cubicBezTo>
                    <a:pt x="2064683" y="910457"/>
                    <a:pt x="2064799" y="909820"/>
                    <a:pt x="2065001" y="909213"/>
                  </a:cubicBezTo>
                  <a:cubicBezTo>
                    <a:pt x="2065435" y="907969"/>
                    <a:pt x="2065898" y="906754"/>
                    <a:pt x="2066159" y="905423"/>
                  </a:cubicBezTo>
                  <a:cubicBezTo>
                    <a:pt x="2066564" y="903485"/>
                    <a:pt x="2066766" y="901489"/>
                    <a:pt x="2066766" y="899464"/>
                  </a:cubicBezTo>
                  <a:cubicBezTo>
                    <a:pt x="2066766" y="897440"/>
                    <a:pt x="2066564" y="895444"/>
                    <a:pt x="2066159" y="893505"/>
                  </a:cubicBezTo>
                  <a:cubicBezTo>
                    <a:pt x="2065898" y="892204"/>
                    <a:pt x="2065435" y="890960"/>
                    <a:pt x="2065001" y="889716"/>
                  </a:cubicBezTo>
                  <a:cubicBezTo>
                    <a:pt x="2064799" y="889108"/>
                    <a:pt x="2064683" y="888472"/>
                    <a:pt x="2064423" y="887865"/>
                  </a:cubicBezTo>
                  <a:cubicBezTo>
                    <a:pt x="2063844" y="886476"/>
                    <a:pt x="2063092" y="885203"/>
                    <a:pt x="2062340" y="883931"/>
                  </a:cubicBezTo>
                  <a:cubicBezTo>
                    <a:pt x="2062080" y="883526"/>
                    <a:pt x="2061935" y="883063"/>
                    <a:pt x="2061646" y="882687"/>
                  </a:cubicBezTo>
                  <a:cubicBezTo>
                    <a:pt x="2060547" y="881038"/>
                    <a:pt x="2059303" y="879505"/>
                    <a:pt x="2057914" y="878116"/>
                  </a:cubicBezTo>
                  <a:lnTo>
                    <a:pt x="2057914" y="878116"/>
                  </a:lnTo>
                  <a:lnTo>
                    <a:pt x="1921840" y="742042"/>
                  </a:lnTo>
                  <a:cubicBezTo>
                    <a:pt x="1910067" y="730269"/>
                    <a:pt x="1890946" y="730269"/>
                    <a:pt x="1879173" y="742042"/>
                  </a:cubicBezTo>
                  <a:cubicBezTo>
                    <a:pt x="1867399" y="753816"/>
                    <a:pt x="1867399" y="772937"/>
                    <a:pt x="1879173" y="784710"/>
                  </a:cubicBezTo>
                  <a:lnTo>
                    <a:pt x="1963727" y="869264"/>
                  </a:lnTo>
                  <a:lnTo>
                    <a:pt x="1651313" y="869264"/>
                  </a:lnTo>
                  <a:cubicBezTo>
                    <a:pt x="1635403" y="468217"/>
                    <a:pt x="1304359" y="146835"/>
                    <a:pt x="899493" y="146835"/>
                  </a:cubicBezTo>
                  <a:cubicBezTo>
                    <a:pt x="494627" y="146835"/>
                    <a:pt x="146864" y="484474"/>
                    <a:pt x="146864" y="899464"/>
                  </a:cubicBezTo>
                  <a:cubicBezTo>
                    <a:pt x="146864" y="1314455"/>
                    <a:pt x="484474" y="1652065"/>
                    <a:pt x="899464" y="1652065"/>
                  </a:cubicBezTo>
                  <a:cubicBezTo>
                    <a:pt x="1251972" y="1652065"/>
                    <a:pt x="1556778" y="1406964"/>
                    <a:pt x="1633638" y="1065710"/>
                  </a:cubicBezTo>
                  <a:lnTo>
                    <a:pt x="1722156" y="1065710"/>
                  </a:lnTo>
                  <a:cubicBezTo>
                    <a:pt x="1643936" y="1457703"/>
                    <a:pt x="1303404" y="1738558"/>
                    <a:pt x="899464" y="1738558"/>
                  </a:cubicBezTo>
                  <a:cubicBezTo>
                    <a:pt x="436773" y="1738558"/>
                    <a:pt x="60342" y="1362127"/>
                    <a:pt x="60342" y="899436"/>
                  </a:cubicBezTo>
                  <a:cubicBezTo>
                    <a:pt x="60342" y="436744"/>
                    <a:pt x="436773" y="60342"/>
                    <a:pt x="899464" y="60342"/>
                  </a:cubicBezTo>
                  <a:cubicBezTo>
                    <a:pt x="1315265" y="60342"/>
                    <a:pt x="1663867" y="357975"/>
                    <a:pt x="1728346" y="768077"/>
                  </a:cubicBezTo>
                  <a:cubicBezTo>
                    <a:pt x="1730949" y="784536"/>
                    <a:pt x="1746512" y="795789"/>
                    <a:pt x="1762827" y="793186"/>
                  </a:cubicBezTo>
                  <a:cubicBezTo>
                    <a:pt x="1779287" y="790611"/>
                    <a:pt x="1790540" y="775164"/>
                    <a:pt x="1787965" y="758704"/>
                  </a:cubicBezTo>
                  <a:cubicBezTo>
                    <a:pt x="1755046" y="549300"/>
                    <a:pt x="1648044" y="357339"/>
                    <a:pt x="1486688" y="218141"/>
                  </a:cubicBezTo>
                  <a:cubicBezTo>
                    <a:pt x="1323625" y="77467"/>
                    <a:pt x="1115088" y="0"/>
                    <a:pt x="899464" y="0"/>
                  </a:cubicBezTo>
                  <a:cubicBezTo>
                    <a:pt x="403506" y="0"/>
                    <a:pt x="0" y="403506"/>
                    <a:pt x="0" y="899464"/>
                  </a:cubicBezTo>
                  <a:cubicBezTo>
                    <a:pt x="0" y="1395423"/>
                    <a:pt x="403506" y="1798929"/>
                    <a:pt x="899464" y="1798929"/>
                  </a:cubicBezTo>
                  <a:cubicBezTo>
                    <a:pt x="1115088" y="1798929"/>
                    <a:pt x="1323625" y="1721462"/>
                    <a:pt x="1486717" y="1580788"/>
                  </a:cubicBezTo>
                  <a:cubicBezTo>
                    <a:pt x="1648073" y="1441590"/>
                    <a:pt x="1755046" y="1249629"/>
                    <a:pt x="1787994" y="1040225"/>
                  </a:cubicBezTo>
                  <a:cubicBezTo>
                    <a:pt x="1789354" y="1031517"/>
                    <a:pt x="1786837" y="1022637"/>
                    <a:pt x="1781109" y="1015926"/>
                  </a:cubicBezTo>
                  <a:cubicBezTo>
                    <a:pt x="1775382" y="1009215"/>
                    <a:pt x="1766993" y="1005367"/>
                    <a:pt x="1758170" y="1005367"/>
                  </a:cubicBezTo>
                  <a:lnTo>
                    <a:pt x="1609108" y="1005367"/>
                  </a:lnTo>
                  <a:cubicBezTo>
                    <a:pt x="1594615" y="1005367"/>
                    <a:pt x="1582177" y="1015665"/>
                    <a:pt x="1579457" y="1029898"/>
                  </a:cubicBezTo>
                  <a:cubicBezTo>
                    <a:pt x="1517408" y="1355445"/>
                    <a:pt x="1231434" y="1591723"/>
                    <a:pt x="899464" y="1591723"/>
                  </a:cubicBezTo>
                  <a:cubicBezTo>
                    <a:pt x="517740" y="1591723"/>
                    <a:pt x="207206" y="1281189"/>
                    <a:pt x="207206" y="899464"/>
                  </a:cubicBezTo>
                  <a:cubicBezTo>
                    <a:pt x="207206" y="517740"/>
                    <a:pt x="517769" y="207206"/>
                    <a:pt x="899464" y="207206"/>
                  </a:cubicBezTo>
                  <a:cubicBezTo>
                    <a:pt x="1281159" y="207206"/>
                    <a:pt x="1591723" y="517740"/>
                    <a:pt x="1591723" y="899464"/>
                  </a:cubicBezTo>
                  <a:cubicBezTo>
                    <a:pt x="1591723" y="916127"/>
                    <a:pt x="1605231" y="929636"/>
                    <a:pt x="1621894" y="929636"/>
                  </a:cubicBezTo>
                  <a:lnTo>
                    <a:pt x="1963727" y="929636"/>
                  </a:lnTo>
                  <a:lnTo>
                    <a:pt x="1879173" y="1014190"/>
                  </a:lnTo>
                  <a:cubicBezTo>
                    <a:pt x="1867399" y="1025963"/>
                    <a:pt x="1867399" y="1045084"/>
                    <a:pt x="1879173" y="1056858"/>
                  </a:cubicBezTo>
                  <a:cubicBezTo>
                    <a:pt x="1885074" y="1062759"/>
                    <a:pt x="1892797" y="1065710"/>
                    <a:pt x="1900521" y="1065710"/>
                  </a:cubicBezTo>
                  <a:cubicBezTo>
                    <a:pt x="1908245" y="1065710"/>
                    <a:pt x="1915968" y="1062759"/>
                    <a:pt x="1921869" y="1056887"/>
                  </a:cubicBezTo>
                  <a:lnTo>
                    <a:pt x="2057943" y="920813"/>
                  </a:lnTo>
                  <a:lnTo>
                    <a:pt x="2057943" y="920813"/>
                  </a:lnTo>
                  <a:cubicBezTo>
                    <a:pt x="2059332" y="919424"/>
                    <a:pt x="2060576" y="917891"/>
                    <a:pt x="2061675" y="916242"/>
                  </a:cubicBezTo>
                  <a:close/>
                </a:path>
              </a:pathLst>
            </a:custGeom>
            <a:solidFill>
              <a:srgbClr val="4158FB"/>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107" name="Group 106">
              <a:extLst>
                <a:ext uri="{FF2B5EF4-FFF2-40B4-BE49-F238E27FC236}">
                  <a16:creationId xmlns:a16="http://schemas.microsoft.com/office/drawing/2014/main" id="{20E84C86-84C6-1C8B-13D2-1630BE0A0D67}"/>
                </a:ext>
              </a:extLst>
            </p:cNvPr>
            <p:cNvGrpSpPr/>
            <p:nvPr/>
          </p:nvGrpSpPr>
          <p:grpSpPr>
            <a:xfrm>
              <a:off x="9593448" y="2871228"/>
              <a:ext cx="507017" cy="405716"/>
              <a:chOff x="9175225" y="530369"/>
              <a:chExt cx="1745422" cy="1396690"/>
            </a:xfrm>
          </p:grpSpPr>
          <p:grpSp>
            <p:nvGrpSpPr>
              <p:cNvPr id="92" name="Group 91">
                <a:extLst>
                  <a:ext uri="{FF2B5EF4-FFF2-40B4-BE49-F238E27FC236}">
                    <a16:creationId xmlns:a16="http://schemas.microsoft.com/office/drawing/2014/main" id="{2BF3F3EF-E58A-EBC2-16E7-D963146945CB}"/>
                  </a:ext>
                </a:extLst>
              </p:cNvPr>
              <p:cNvGrpSpPr/>
              <p:nvPr/>
            </p:nvGrpSpPr>
            <p:grpSpPr>
              <a:xfrm>
                <a:off x="9175225" y="1164900"/>
                <a:ext cx="1030112" cy="762159"/>
                <a:chOff x="9175225" y="1164900"/>
                <a:chExt cx="1030112" cy="762159"/>
              </a:xfrm>
            </p:grpSpPr>
            <p:sp>
              <p:nvSpPr>
                <p:cNvPr id="35" name="Freeform: Shape 34">
                  <a:extLst>
                    <a:ext uri="{FF2B5EF4-FFF2-40B4-BE49-F238E27FC236}">
                      <a16:creationId xmlns:a16="http://schemas.microsoft.com/office/drawing/2014/main" id="{E578109B-7E0B-39B4-D33D-6AC242968CFB}"/>
                    </a:ext>
                  </a:extLst>
                </p:cNvPr>
                <p:cNvSpPr/>
                <p:nvPr/>
              </p:nvSpPr>
              <p:spPr>
                <a:xfrm>
                  <a:off x="9175225" y="1458719"/>
                  <a:ext cx="143596" cy="33136"/>
                </a:xfrm>
                <a:custGeom>
                  <a:avLst/>
                  <a:gdLst>
                    <a:gd name="connsiteX0" fmla="*/ 38005 w 42961"/>
                    <a:gd name="connsiteY0" fmla="*/ 4957 h 9914"/>
                    <a:gd name="connsiteX1" fmla="*/ 4957 w 42961"/>
                    <a:gd name="connsiteY1" fmla="*/ 4957 h 9914"/>
                  </a:gdLst>
                  <a:ahLst/>
                  <a:cxnLst>
                    <a:cxn ang="0">
                      <a:pos x="connsiteX0" y="connsiteY0"/>
                    </a:cxn>
                    <a:cxn ang="0">
                      <a:pos x="connsiteX1" y="connsiteY1"/>
                    </a:cxn>
                  </a:cxnLst>
                  <a:rect l="l" t="t" r="r" b="b"/>
                  <a:pathLst>
                    <a:path w="42961" h="9914">
                      <a:moveTo>
                        <a:pt x="38005" y="4957"/>
                      </a:moveTo>
                      <a:lnTo>
                        <a:pt x="4957" y="4957"/>
                      </a:lnTo>
                    </a:path>
                  </a:pathLst>
                </a:custGeom>
                <a:ln w="15875" cap="flat">
                  <a:solidFill>
                    <a:schemeClr val="accent6">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36" name="Freeform: Shape 35">
                  <a:extLst>
                    <a:ext uri="{FF2B5EF4-FFF2-40B4-BE49-F238E27FC236}">
                      <a16:creationId xmlns:a16="http://schemas.microsoft.com/office/drawing/2014/main" id="{8E523115-9880-1B78-DA11-0E7058DA5780}"/>
                    </a:ext>
                  </a:extLst>
                </p:cNvPr>
                <p:cNvSpPr/>
                <p:nvPr/>
              </p:nvSpPr>
              <p:spPr>
                <a:xfrm>
                  <a:off x="9230721" y="1477497"/>
                  <a:ext cx="339753" cy="436653"/>
                </a:xfrm>
                <a:custGeom>
                  <a:avLst/>
                  <a:gdLst>
                    <a:gd name="connsiteX0" fmla="*/ 93525 w 175152"/>
                    <a:gd name="connsiteY0" fmla="*/ 4957 h 138799"/>
                    <a:gd name="connsiteX1" fmla="*/ 170195 w 175152"/>
                    <a:gd name="connsiteY1" fmla="*/ 4957 h 138799"/>
                    <a:gd name="connsiteX2" fmla="*/ 170195 w 175152"/>
                    <a:gd name="connsiteY2" fmla="*/ 134173 h 138799"/>
                    <a:gd name="connsiteX3" fmla="*/ 4957 w 175152"/>
                    <a:gd name="connsiteY3" fmla="*/ 134173 h 138799"/>
                    <a:gd name="connsiteX0" fmla="*/ 32628 w 109298"/>
                    <a:gd name="connsiteY0" fmla="*/ 0 h 129928"/>
                    <a:gd name="connsiteX1" fmla="*/ 109298 w 109298"/>
                    <a:gd name="connsiteY1" fmla="*/ 0 h 129928"/>
                    <a:gd name="connsiteX2" fmla="*/ 109298 w 109298"/>
                    <a:gd name="connsiteY2" fmla="*/ 129216 h 129928"/>
                    <a:gd name="connsiteX3" fmla="*/ 0 w 109298"/>
                    <a:gd name="connsiteY3" fmla="*/ 129928 h 129928"/>
                    <a:gd name="connsiteX0" fmla="*/ 34182 w 110852"/>
                    <a:gd name="connsiteY0" fmla="*/ 0 h 130640"/>
                    <a:gd name="connsiteX1" fmla="*/ 110852 w 110852"/>
                    <a:gd name="connsiteY1" fmla="*/ 0 h 130640"/>
                    <a:gd name="connsiteX2" fmla="*/ 110852 w 110852"/>
                    <a:gd name="connsiteY2" fmla="*/ 129216 h 130640"/>
                    <a:gd name="connsiteX3" fmla="*/ 0 w 110852"/>
                    <a:gd name="connsiteY3" fmla="*/ 130640 h 130640"/>
                  </a:gdLst>
                  <a:ahLst/>
                  <a:cxnLst>
                    <a:cxn ang="0">
                      <a:pos x="connsiteX0" y="connsiteY0"/>
                    </a:cxn>
                    <a:cxn ang="0">
                      <a:pos x="connsiteX1" y="connsiteY1"/>
                    </a:cxn>
                    <a:cxn ang="0">
                      <a:pos x="connsiteX2" y="connsiteY2"/>
                    </a:cxn>
                    <a:cxn ang="0">
                      <a:pos x="connsiteX3" y="connsiteY3"/>
                    </a:cxn>
                  </a:cxnLst>
                  <a:rect l="l" t="t" r="r" b="b"/>
                  <a:pathLst>
                    <a:path w="110852" h="130640">
                      <a:moveTo>
                        <a:pt x="34182" y="0"/>
                      </a:moveTo>
                      <a:lnTo>
                        <a:pt x="110852" y="0"/>
                      </a:lnTo>
                      <a:lnTo>
                        <a:pt x="110852" y="129216"/>
                      </a:lnTo>
                      <a:lnTo>
                        <a:pt x="0" y="130640"/>
                      </a:lnTo>
                    </a:path>
                  </a:pathLst>
                </a:custGeom>
                <a:noFill/>
                <a:ln w="15875" cap="flat">
                  <a:solidFill>
                    <a:srgbClr val="4158FB"/>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37" name="Freeform: Shape 36">
                  <a:extLst>
                    <a:ext uri="{FF2B5EF4-FFF2-40B4-BE49-F238E27FC236}">
                      <a16:creationId xmlns:a16="http://schemas.microsoft.com/office/drawing/2014/main" id="{FDAC4731-F909-2C74-96E0-BC9409D6915C}"/>
                    </a:ext>
                  </a:extLst>
                </p:cNvPr>
                <p:cNvSpPr/>
                <p:nvPr/>
              </p:nvSpPr>
              <p:spPr>
                <a:xfrm>
                  <a:off x="9608864" y="1164900"/>
                  <a:ext cx="596473" cy="762159"/>
                </a:xfrm>
                <a:custGeom>
                  <a:avLst/>
                  <a:gdLst>
                    <a:gd name="connsiteX0" fmla="*/ 4957 w 178457"/>
                    <a:gd name="connsiteY0" fmla="*/ 93525 h 228028"/>
                    <a:gd name="connsiteX1" fmla="*/ 4957 w 178457"/>
                    <a:gd name="connsiteY1" fmla="*/ 93525 h 228028"/>
                    <a:gd name="connsiteX2" fmla="*/ 24786 w 178457"/>
                    <a:gd name="connsiteY2" fmla="*/ 85263 h 228028"/>
                    <a:gd name="connsiteX3" fmla="*/ 60808 w 178457"/>
                    <a:gd name="connsiteY3" fmla="*/ 49241 h 228028"/>
                    <a:gd name="connsiteX4" fmla="*/ 70391 w 178457"/>
                    <a:gd name="connsiteY4" fmla="*/ 30073 h 228028"/>
                    <a:gd name="connsiteX5" fmla="*/ 77992 w 178457"/>
                    <a:gd name="connsiteY5" fmla="*/ 12228 h 228028"/>
                    <a:gd name="connsiteX6" fmla="*/ 89229 w 178457"/>
                    <a:gd name="connsiteY6" fmla="*/ 4957 h 228028"/>
                    <a:gd name="connsiteX7" fmla="*/ 105422 w 178457"/>
                    <a:gd name="connsiteY7" fmla="*/ 21150 h 228028"/>
                    <a:gd name="connsiteX8" fmla="*/ 101456 w 178457"/>
                    <a:gd name="connsiteY8" fmla="*/ 45275 h 228028"/>
                    <a:gd name="connsiteX9" fmla="*/ 82619 w 178457"/>
                    <a:gd name="connsiteY9" fmla="*/ 86254 h 228028"/>
                    <a:gd name="connsiteX10" fmla="*/ 83610 w 178457"/>
                    <a:gd name="connsiteY10" fmla="*/ 91872 h 228028"/>
                    <a:gd name="connsiteX11" fmla="*/ 83610 w 178457"/>
                    <a:gd name="connsiteY11" fmla="*/ 91872 h 228028"/>
                    <a:gd name="connsiteX12" fmla="*/ 87246 w 178457"/>
                    <a:gd name="connsiteY12" fmla="*/ 93525 h 228028"/>
                    <a:gd name="connsiteX13" fmla="*/ 149375 w 178457"/>
                    <a:gd name="connsiteY13" fmla="*/ 93525 h 228028"/>
                    <a:gd name="connsiteX14" fmla="*/ 165569 w 178457"/>
                    <a:gd name="connsiteY14" fmla="*/ 106413 h 228028"/>
                    <a:gd name="connsiteX15" fmla="*/ 149706 w 178457"/>
                    <a:gd name="connsiteY15" fmla="*/ 125911 h 228028"/>
                    <a:gd name="connsiteX16" fmla="*/ 157307 w 178457"/>
                    <a:gd name="connsiteY16" fmla="*/ 125911 h 228028"/>
                    <a:gd name="connsiteX17" fmla="*/ 173500 w 178457"/>
                    <a:gd name="connsiteY17" fmla="*/ 138800 h 228028"/>
                    <a:gd name="connsiteX18" fmla="*/ 157637 w 178457"/>
                    <a:gd name="connsiteY18" fmla="*/ 158298 h 228028"/>
                    <a:gd name="connsiteX19" fmla="*/ 149706 w 178457"/>
                    <a:gd name="connsiteY19" fmla="*/ 158298 h 228028"/>
                    <a:gd name="connsiteX20" fmla="*/ 165569 w 178457"/>
                    <a:gd name="connsiteY20" fmla="*/ 177796 h 228028"/>
                    <a:gd name="connsiteX21" fmla="*/ 149375 w 178457"/>
                    <a:gd name="connsiteY21" fmla="*/ 190685 h 228028"/>
                    <a:gd name="connsiteX22" fmla="*/ 141774 w 178457"/>
                    <a:gd name="connsiteY22" fmla="*/ 190685 h 228028"/>
                    <a:gd name="connsiteX23" fmla="*/ 157637 w 178457"/>
                    <a:gd name="connsiteY23" fmla="*/ 210183 h 228028"/>
                    <a:gd name="connsiteX24" fmla="*/ 141444 w 178457"/>
                    <a:gd name="connsiteY24" fmla="*/ 223071 h 228028"/>
                    <a:gd name="connsiteX25" fmla="*/ 45936 w 178457"/>
                    <a:gd name="connsiteY25" fmla="*/ 223071 h 228028"/>
                    <a:gd name="connsiteX26" fmla="*/ 28751 w 178457"/>
                    <a:gd name="connsiteY26" fmla="*/ 219106 h 228028"/>
                    <a:gd name="connsiteX27" fmla="*/ 28751 w 178457"/>
                    <a:gd name="connsiteY27" fmla="*/ 219106 h 228028"/>
                    <a:gd name="connsiteX28" fmla="*/ 11567 w 178457"/>
                    <a:gd name="connsiteY28" fmla="*/ 215140 h 228028"/>
                    <a:gd name="connsiteX29" fmla="*/ 8592 w 178457"/>
                    <a:gd name="connsiteY29" fmla="*/ 215140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457" h="228028">
                      <a:moveTo>
                        <a:pt x="4957" y="93525"/>
                      </a:moveTo>
                      <a:lnTo>
                        <a:pt x="4957" y="93525"/>
                      </a:lnTo>
                      <a:cubicBezTo>
                        <a:pt x="12228" y="93525"/>
                        <a:pt x="19498" y="90550"/>
                        <a:pt x="24786" y="85263"/>
                      </a:cubicBezTo>
                      <a:lnTo>
                        <a:pt x="60808" y="49241"/>
                      </a:lnTo>
                      <a:lnTo>
                        <a:pt x="70391" y="30073"/>
                      </a:lnTo>
                      <a:lnTo>
                        <a:pt x="77992" y="12228"/>
                      </a:lnTo>
                      <a:cubicBezTo>
                        <a:pt x="79975" y="7931"/>
                        <a:pt x="84271" y="4957"/>
                        <a:pt x="89229" y="4957"/>
                      </a:cubicBezTo>
                      <a:cubicBezTo>
                        <a:pt x="98151" y="4957"/>
                        <a:pt x="105422" y="12228"/>
                        <a:pt x="105422" y="21150"/>
                      </a:cubicBezTo>
                      <a:cubicBezTo>
                        <a:pt x="105422" y="30073"/>
                        <a:pt x="101456" y="45275"/>
                        <a:pt x="101456" y="45275"/>
                      </a:cubicBezTo>
                      <a:lnTo>
                        <a:pt x="82619" y="86254"/>
                      </a:lnTo>
                      <a:cubicBezTo>
                        <a:pt x="81628" y="88237"/>
                        <a:pt x="82289" y="90550"/>
                        <a:pt x="83610" y="91872"/>
                      </a:cubicBezTo>
                      <a:lnTo>
                        <a:pt x="83610" y="91872"/>
                      </a:lnTo>
                      <a:cubicBezTo>
                        <a:pt x="84602" y="92864"/>
                        <a:pt x="85924" y="93525"/>
                        <a:pt x="87246" y="93525"/>
                      </a:cubicBezTo>
                      <a:lnTo>
                        <a:pt x="149375" y="93525"/>
                      </a:lnTo>
                      <a:cubicBezTo>
                        <a:pt x="156976" y="93525"/>
                        <a:pt x="163916" y="98812"/>
                        <a:pt x="165569" y="106413"/>
                      </a:cubicBezTo>
                      <a:cubicBezTo>
                        <a:pt x="167551" y="116658"/>
                        <a:pt x="159620" y="125911"/>
                        <a:pt x="149706" y="125911"/>
                      </a:cubicBezTo>
                      <a:lnTo>
                        <a:pt x="157307" y="125911"/>
                      </a:lnTo>
                      <a:cubicBezTo>
                        <a:pt x="164908" y="125911"/>
                        <a:pt x="171848" y="131199"/>
                        <a:pt x="173500" y="138800"/>
                      </a:cubicBezTo>
                      <a:cubicBezTo>
                        <a:pt x="175483" y="149045"/>
                        <a:pt x="167551" y="158298"/>
                        <a:pt x="157637" y="158298"/>
                      </a:cubicBezTo>
                      <a:lnTo>
                        <a:pt x="149706" y="158298"/>
                      </a:lnTo>
                      <a:cubicBezTo>
                        <a:pt x="159620" y="158298"/>
                        <a:pt x="167551" y="167551"/>
                        <a:pt x="165569" y="177796"/>
                      </a:cubicBezTo>
                      <a:cubicBezTo>
                        <a:pt x="163916" y="185397"/>
                        <a:pt x="156976" y="190685"/>
                        <a:pt x="149375" y="190685"/>
                      </a:cubicBezTo>
                      <a:lnTo>
                        <a:pt x="141774" y="190685"/>
                      </a:lnTo>
                      <a:cubicBezTo>
                        <a:pt x="151689" y="190685"/>
                        <a:pt x="159620" y="199938"/>
                        <a:pt x="157637" y="210183"/>
                      </a:cubicBezTo>
                      <a:cubicBezTo>
                        <a:pt x="155985" y="217784"/>
                        <a:pt x="149045" y="223071"/>
                        <a:pt x="141444" y="223071"/>
                      </a:cubicBezTo>
                      <a:lnTo>
                        <a:pt x="45936" y="223071"/>
                      </a:lnTo>
                      <a:cubicBezTo>
                        <a:pt x="39988" y="223071"/>
                        <a:pt x="34039" y="221749"/>
                        <a:pt x="28751" y="219106"/>
                      </a:cubicBezTo>
                      <a:lnTo>
                        <a:pt x="28751" y="219106"/>
                      </a:lnTo>
                      <a:cubicBezTo>
                        <a:pt x="23464" y="216462"/>
                        <a:pt x="17515" y="215140"/>
                        <a:pt x="11567" y="215140"/>
                      </a:cubicBezTo>
                      <a:lnTo>
                        <a:pt x="8592" y="215140"/>
                      </a:ln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41" name="Freeform: Shape 40">
                  <a:extLst>
                    <a:ext uri="{FF2B5EF4-FFF2-40B4-BE49-F238E27FC236}">
                      <a16:creationId xmlns:a16="http://schemas.microsoft.com/office/drawing/2014/main" id="{4C1B110F-1FB2-0B25-FB82-BD0BF75139EA}"/>
                    </a:ext>
                  </a:extLst>
                </p:cNvPr>
                <p:cNvSpPr/>
                <p:nvPr/>
              </p:nvSpPr>
              <p:spPr>
                <a:xfrm>
                  <a:off x="9363649" y="1460929"/>
                  <a:ext cx="33136" cy="463923"/>
                </a:xfrm>
                <a:custGeom>
                  <a:avLst/>
                  <a:gdLst>
                    <a:gd name="connsiteX0" fmla="*/ 4957 w 9914"/>
                    <a:gd name="connsiteY0" fmla="*/ 4957 h 138799"/>
                    <a:gd name="connsiteX1" fmla="*/ 4957 w 9914"/>
                    <a:gd name="connsiteY1" fmla="*/ 134173 h 138799"/>
                  </a:gdLst>
                  <a:ahLst/>
                  <a:cxnLst>
                    <a:cxn ang="0">
                      <a:pos x="connsiteX0" y="connsiteY0"/>
                    </a:cxn>
                    <a:cxn ang="0">
                      <a:pos x="connsiteX1" y="connsiteY1"/>
                    </a:cxn>
                  </a:cxnLst>
                  <a:rect l="l" t="t" r="r" b="b"/>
                  <a:pathLst>
                    <a:path w="9914" h="138799">
                      <a:moveTo>
                        <a:pt x="4957" y="4957"/>
                      </a:moveTo>
                      <a:lnTo>
                        <a:pt x="4957" y="134173"/>
                      </a:lnTo>
                    </a:path>
                  </a:pathLst>
                </a:custGeom>
                <a:ln w="15875" cap="flat">
                  <a:solidFill>
                    <a:srgbClr val="4158FB"/>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42" name="Freeform: Shape 41">
                  <a:extLst>
                    <a:ext uri="{FF2B5EF4-FFF2-40B4-BE49-F238E27FC236}">
                      <a16:creationId xmlns:a16="http://schemas.microsoft.com/office/drawing/2014/main" id="{F9C8022D-3F29-AA84-0422-BE9C83B56198}"/>
                    </a:ext>
                  </a:extLst>
                </p:cNvPr>
                <p:cNvSpPr/>
                <p:nvPr/>
              </p:nvSpPr>
              <p:spPr>
                <a:xfrm>
                  <a:off x="9944659" y="1569175"/>
                  <a:ext cx="176732" cy="33136"/>
                </a:xfrm>
                <a:custGeom>
                  <a:avLst/>
                  <a:gdLst>
                    <a:gd name="connsiteX0" fmla="*/ 49241 w 52876"/>
                    <a:gd name="connsiteY0" fmla="*/ 4957 h 9914"/>
                    <a:gd name="connsiteX1" fmla="*/ 4957 w 52876"/>
                    <a:gd name="connsiteY1" fmla="*/ 4957 h 9914"/>
                  </a:gdLst>
                  <a:ahLst/>
                  <a:cxnLst>
                    <a:cxn ang="0">
                      <a:pos x="connsiteX0" y="connsiteY0"/>
                    </a:cxn>
                    <a:cxn ang="0">
                      <a:pos x="connsiteX1" y="connsiteY1"/>
                    </a:cxn>
                  </a:cxnLst>
                  <a:rect l="l" t="t" r="r" b="b"/>
                  <a:pathLst>
                    <a:path w="52876" h="9914">
                      <a:moveTo>
                        <a:pt x="49241" y="4957"/>
                      </a:moveTo>
                      <a:lnTo>
                        <a:pt x="4957" y="495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43" name="Freeform: Shape 42">
                  <a:extLst>
                    <a:ext uri="{FF2B5EF4-FFF2-40B4-BE49-F238E27FC236}">
                      <a16:creationId xmlns:a16="http://schemas.microsoft.com/office/drawing/2014/main" id="{FF506ECB-27BF-5FC8-2EFC-D31EB04CF1B0}"/>
                    </a:ext>
                  </a:extLst>
                </p:cNvPr>
                <p:cNvSpPr/>
                <p:nvPr/>
              </p:nvSpPr>
              <p:spPr>
                <a:xfrm>
                  <a:off x="9957914" y="1676320"/>
                  <a:ext cx="165686" cy="33136"/>
                </a:xfrm>
                <a:custGeom>
                  <a:avLst/>
                  <a:gdLst>
                    <a:gd name="connsiteX0" fmla="*/ 45275 w 49571"/>
                    <a:gd name="connsiteY0" fmla="*/ 4957 h 9914"/>
                    <a:gd name="connsiteX1" fmla="*/ 4957 w 49571"/>
                    <a:gd name="connsiteY1" fmla="*/ 4957 h 9914"/>
                  </a:gdLst>
                  <a:ahLst/>
                  <a:cxnLst>
                    <a:cxn ang="0">
                      <a:pos x="connsiteX0" y="connsiteY0"/>
                    </a:cxn>
                    <a:cxn ang="0">
                      <a:pos x="connsiteX1" y="connsiteY1"/>
                    </a:cxn>
                  </a:cxnLst>
                  <a:rect l="l" t="t" r="r" b="b"/>
                  <a:pathLst>
                    <a:path w="49571" h="9914">
                      <a:moveTo>
                        <a:pt x="45275" y="4957"/>
                      </a:moveTo>
                      <a:lnTo>
                        <a:pt x="4957" y="495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44" name="Freeform: Shape 43">
                  <a:extLst>
                    <a:ext uri="{FF2B5EF4-FFF2-40B4-BE49-F238E27FC236}">
                      <a16:creationId xmlns:a16="http://schemas.microsoft.com/office/drawing/2014/main" id="{AA683ED9-DFCA-D69B-907B-2F107447AA2B}"/>
                    </a:ext>
                  </a:extLst>
                </p:cNvPr>
                <p:cNvSpPr/>
                <p:nvPr/>
              </p:nvSpPr>
              <p:spPr>
                <a:xfrm>
                  <a:off x="9957914" y="1784570"/>
                  <a:ext cx="132550" cy="33136"/>
                </a:xfrm>
                <a:custGeom>
                  <a:avLst/>
                  <a:gdLst>
                    <a:gd name="connsiteX0" fmla="*/ 37344 w 39657"/>
                    <a:gd name="connsiteY0" fmla="*/ 4957 h 9914"/>
                    <a:gd name="connsiteX1" fmla="*/ 4957 w 39657"/>
                    <a:gd name="connsiteY1" fmla="*/ 4957 h 9914"/>
                  </a:gdLst>
                  <a:ahLst/>
                  <a:cxnLst>
                    <a:cxn ang="0">
                      <a:pos x="connsiteX0" y="connsiteY0"/>
                    </a:cxn>
                    <a:cxn ang="0">
                      <a:pos x="connsiteX1" y="connsiteY1"/>
                    </a:cxn>
                  </a:cxnLst>
                  <a:rect l="l" t="t" r="r" b="b"/>
                  <a:pathLst>
                    <a:path w="39657" h="9914">
                      <a:moveTo>
                        <a:pt x="37344" y="4957"/>
                      </a:moveTo>
                      <a:lnTo>
                        <a:pt x="4957" y="495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45" name="Freeform: Shape 44">
                  <a:extLst>
                    <a:ext uri="{FF2B5EF4-FFF2-40B4-BE49-F238E27FC236}">
                      <a16:creationId xmlns:a16="http://schemas.microsoft.com/office/drawing/2014/main" id="{AB0A295A-BA6E-AF08-ED72-0DB3DD256B37}"/>
                    </a:ext>
                  </a:extLst>
                </p:cNvPr>
                <p:cNvSpPr/>
                <p:nvPr/>
              </p:nvSpPr>
              <p:spPr>
                <a:xfrm>
                  <a:off x="9917043" y="1460929"/>
                  <a:ext cx="77321" cy="132550"/>
                </a:xfrm>
                <a:custGeom>
                  <a:avLst/>
                  <a:gdLst>
                    <a:gd name="connsiteX0" fmla="*/ 21150 w 23133"/>
                    <a:gd name="connsiteY0" fmla="*/ 37344 h 39657"/>
                    <a:gd name="connsiteX1" fmla="*/ 4957 w 23133"/>
                    <a:gd name="connsiteY1" fmla="*/ 21150 h 39657"/>
                    <a:gd name="connsiteX2" fmla="*/ 21150 w 23133"/>
                    <a:gd name="connsiteY2" fmla="*/ 4957 h 39657"/>
                  </a:gdLst>
                  <a:ahLst/>
                  <a:cxnLst>
                    <a:cxn ang="0">
                      <a:pos x="connsiteX0" y="connsiteY0"/>
                    </a:cxn>
                    <a:cxn ang="0">
                      <a:pos x="connsiteX1" y="connsiteY1"/>
                    </a:cxn>
                    <a:cxn ang="0">
                      <a:pos x="connsiteX2" y="connsiteY2"/>
                    </a:cxn>
                  </a:cxnLst>
                  <a:rect l="l" t="t" r="r" b="b"/>
                  <a:pathLst>
                    <a:path w="23133" h="39657">
                      <a:moveTo>
                        <a:pt x="21150" y="37344"/>
                      </a:moveTo>
                      <a:cubicBezTo>
                        <a:pt x="12228" y="37344"/>
                        <a:pt x="4957" y="30073"/>
                        <a:pt x="4957" y="21150"/>
                      </a:cubicBezTo>
                      <a:cubicBezTo>
                        <a:pt x="4957" y="12228"/>
                        <a:pt x="12228" y="4957"/>
                        <a:pt x="21150" y="4957"/>
                      </a:cubicBez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46" name="Freeform: Shape 45">
                  <a:extLst>
                    <a:ext uri="{FF2B5EF4-FFF2-40B4-BE49-F238E27FC236}">
                      <a16:creationId xmlns:a16="http://schemas.microsoft.com/office/drawing/2014/main" id="{151B11BD-1A53-5249-7F1A-63A18A2395BB}"/>
                    </a:ext>
                  </a:extLst>
                </p:cNvPr>
                <p:cNvSpPr/>
                <p:nvPr/>
              </p:nvSpPr>
              <p:spPr>
                <a:xfrm>
                  <a:off x="9890535" y="1568072"/>
                  <a:ext cx="77321" cy="132550"/>
                </a:xfrm>
                <a:custGeom>
                  <a:avLst/>
                  <a:gdLst>
                    <a:gd name="connsiteX0" fmla="*/ 21150 w 23133"/>
                    <a:gd name="connsiteY0" fmla="*/ 37344 h 39657"/>
                    <a:gd name="connsiteX1" fmla="*/ 4957 w 23133"/>
                    <a:gd name="connsiteY1" fmla="*/ 21150 h 39657"/>
                    <a:gd name="connsiteX2" fmla="*/ 21150 w 23133"/>
                    <a:gd name="connsiteY2" fmla="*/ 4957 h 39657"/>
                  </a:gdLst>
                  <a:ahLst/>
                  <a:cxnLst>
                    <a:cxn ang="0">
                      <a:pos x="connsiteX0" y="connsiteY0"/>
                    </a:cxn>
                    <a:cxn ang="0">
                      <a:pos x="connsiteX1" y="connsiteY1"/>
                    </a:cxn>
                    <a:cxn ang="0">
                      <a:pos x="connsiteX2" y="connsiteY2"/>
                    </a:cxn>
                  </a:cxnLst>
                  <a:rect l="l" t="t" r="r" b="b"/>
                  <a:pathLst>
                    <a:path w="23133" h="39657">
                      <a:moveTo>
                        <a:pt x="21150" y="37344"/>
                      </a:moveTo>
                      <a:cubicBezTo>
                        <a:pt x="12228" y="37344"/>
                        <a:pt x="4957" y="30073"/>
                        <a:pt x="4957" y="21150"/>
                      </a:cubicBezTo>
                      <a:cubicBezTo>
                        <a:pt x="4957" y="12228"/>
                        <a:pt x="12228" y="4957"/>
                        <a:pt x="21150" y="4957"/>
                      </a:cubicBez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47" name="Freeform: Shape 46">
                  <a:extLst>
                    <a:ext uri="{FF2B5EF4-FFF2-40B4-BE49-F238E27FC236}">
                      <a16:creationId xmlns:a16="http://schemas.microsoft.com/office/drawing/2014/main" id="{01B038FA-F90F-EF2A-7D0D-F5337031DAC1}"/>
                    </a:ext>
                  </a:extLst>
                </p:cNvPr>
                <p:cNvSpPr/>
                <p:nvPr/>
              </p:nvSpPr>
              <p:spPr>
                <a:xfrm>
                  <a:off x="9903790" y="1676320"/>
                  <a:ext cx="77321" cy="132550"/>
                </a:xfrm>
                <a:custGeom>
                  <a:avLst/>
                  <a:gdLst>
                    <a:gd name="connsiteX0" fmla="*/ 21150 w 23133"/>
                    <a:gd name="connsiteY0" fmla="*/ 37344 h 39657"/>
                    <a:gd name="connsiteX1" fmla="*/ 4957 w 23133"/>
                    <a:gd name="connsiteY1" fmla="*/ 21150 h 39657"/>
                    <a:gd name="connsiteX2" fmla="*/ 21150 w 23133"/>
                    <a:gd name="connsiteY2" fmla="*/ 4957 h 39657"/>
                  </a:gdLst>
                  <a:ahLst/>
                  <a:cxnLst>
                    <a:cxn ang="0">
                      <a:pos x="connsiteX0" y="connsiteY0"/>
                    </a:cxn>
                    <a:cxn ang="0">
                      <a:pos x="connsiteX1" y="connsiteY1"/>
                    </a:cxn>
                    <a:cxn ang="0">
                      <a:pos x="connsiteX2" y="connsiteY2"/>
                    </a:cxn>
                  </a:cxnLst>
                  <a:rect l="l" t="t" r="r" b="b"/>
                  <a:pathLst>
                    <a:path w="23133" h="39657">
                      <a:moveTo>
                        <a:pt x="21150" y="37344"/>
                      </a:moveTo>
                      <a:cubicBezTo>
                        <a:pt x="12228" y="37344"/>
                        <a:pt x="4957" y="30073"/>
                        <a:pt x="4957" y="21150"/>
                      </a:cubicBezTo>
                      <a:cubicBezTo>
                        <a:pt x="4957" y="12228"/>
                        <a:pt x="12228" y="4957"/>
                        <a:pt x="21150" y="4957"/>
                      </a:cubicBez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48" name="Freeform: Shape 47">
                  <a:extLst>
                    <a:ext uri="{FF2B5EF4-FFF2-40B4-BE49-F238E27FC236}">
                      <a16:creationId xmlns:a16="http://schemas.microsoft.com/office/drawing/2014/main" id="{AF4207EE-CCFE-D990-93E4-25320B6D66F8}"/>
                    </a:ext>
                  </a:extLst>
                </p:cNvPr>
                <p:cNvSpPr/>
                <p:nvPr/>
              </p:nvSpPr>
              <p:spPr>
                <a:xfrm>
                  <a:off x="9930298" y="1784570"/>
                  <a:ext cx="77321" cy="132550"/>
                </a:xfrm>
                <a:custGeom>
                  <a:avLst/>
                  <a:gdLst>
                    <a:gd name="connsiteX0" fmla="*/ 21150 w 23133"/>
                    <a:gd name="connsiteY0" fmla="*/ 37344 h 39657"/>
                    <a:gd name="connsiteX1" fmla="*/ 4957 w 23133"/>
                    <a:gd name="connsiteY1" fmla="*/ 21150 h 39657"/>
                    <a:gd name="connsiteX2" fmla="*/ 21150 w 23133"/>
                    <a:gd name="connsiteY2" fmla="*/ 4957 h 39657"/>
                  </a:gdLst>
                  <a:ahLst/>
                  <a:cxnLst>
                    <a:cxn ang="0">
                      <a:pos x="connsiteX0" y="connsiteY0"/>
                    </a:cxn>
                    <a:cxn ang="0">
                      <a:pos x="connsiteX1" y="connsiteY1"/>
                    </a:cxn>
                    <a:cxn ang="0">
                      <a:pos x="connsiteX2" y="connsiteY2"/>
                    </a:cxn>
                  </a:cxnLst>
                  <a:rect l="l" t="t" r="r" b="b"/>
                  <a:pathLst>
                    <a:path w="23133" h="39657">
                      <a:moveTo>
                        <a:pt x="21150" y="37344"/>
                      </a:moveTo>
                      <a:cubicBezTo>
                        <a:pt x="12228" y="37344"/>
                        <a:pt x="4957" y="30073"/>
                        <a:pt x="4957" y="21150"/>
                      </a:cubicBezTo>
                      <a:cubicBezTo>
                        <a:pt x="4957" y="12228"/>
                        <a:pt x="12228" y="4957"/>
                        <a:pt x="21150" y="4957"/>
                      </a:cubicBez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grpSp>
            <p:nvGrpSpPr>
              <p:cNvPr id="93" name="Group 92">
                <a:extLst>
                  <a:ext uri="{FF2B5EF4-FFF2-40B4-BE49-F238E27FC236}">
                    <a16:creationId xmlns:a16="http://schemas.microsoft.com/office/drawing/2014/main" id="{67D52320-CB56-8989-20A3-D59D9579765D}"/>
                  </a:ext>
                </a:extLst>
              </p:cNvPr>
              <p:cNvGrpSpPr/>
              <p:nvPr/>
            </p:nvGrpSpPr>
            <p:grpSpPr>
              <a:xfrm flipH="1" flipV="1">
                <a:off x="9890535" y="530369"/>
                <a:ext cx="1030112" cy="762159"/>
                <a:chOff x="9175225" y="1164900"/>
                <a:chExt cx="1030112" cy="762159"/>
              </a:xfrm>
            </p:grpSpPr>
            <p:sp>
              <p:nvSpPr>
                <p:cNvPr id="94" name="Freeform: Shape 93">
                  <a:extLst>
                    <a:ext uri="{FF2B5EF4-FFF2-40B4-BE49-F238E27FC236}">
                      <a16:creationId xmlns:a16="http://schemas.microsoft.com/office/drawing/2014/main" id="{D40132C4-DDD1-A9DD-EA42-618A46A0767D}"/>
                    </a:ext>
                  </a:extLst>
                </p:cNvPr>
                <p:cNvSpPr/>
                <p:nvPr/>
              </p:nvSpPr>
              <p:spPr>
                <a:xfrm>
                  <a:off x="9175225" y="1458719"/>
                  <a:ext cx="143596" cy="33136"/>
                </a:xfrm>
                <a:custGeom>
                  <a:avLst/>
                  <a:gdLst>
                    <a:gd name="connsiteX0" fmla="*/ 38005 w 42961"/>
                    <a:gd name="connsiteY0" fmla="*/ 4957 h 9914"/>
                    <a:gd name="connsiteX1" fmla="*/ 4957 w 42961"/>
                    <a:gd name="connsiteY1" fmla="*/ 4957 h 9914"/>
                  </a:gdLst>
                  <a:ahLst/>
                  <a:cxnLst>
                    <a:cxn ang="0">
                      <a:pos x="connsiteX0" y="connsiteY0"/>
                    </a:cxn>
                    <a:cxn ang="0">
                      <a:pos x="connsiteX1" y="connsiteY1"/>
                    </a:cxn>
                  </a:cxnLst>
                  <a:rect l="l" t="t" r="r" b="b"/>
                  <a:pathLst>
                    <a:path w="42961" h="9914">
                      <a:moveTo>
                        <a:pt x="38005" y="4957"/>
                      </a:moveTo>
                      <a:lnTo>
                        <a:pt x="4957" y="4957"/>
                      </a:lnTo>
                    </a:path>
                  </a:pathLst>
                </a:custGeom>
                <a:ln w="15875" cap="flat">
                  <a:solidFill>
                    <a:schemeClr val="accent6">
                      <a:lumMod val="60000"/>
                      <a:lumOff val="40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95" name="Freeform: Shape 94">
                  <a:extLst>
                    <a:ext uri="{FF2B5EF4-FFF2-40B4-BE49-F238E27FC236}">
                      <a16:creationId xmlns:a16="http://schemas.microsoft.com/office/drawing/2014/main" id="{8C2DB32D-205E-3F9A-3F7C-ACC726CC8E23}"/>
                    </a:ext>
                  </a:extLst>
                </p:cNvPr>
                <p:cNvSpPr/>
                <p:nvPr/>
              </p:nvSpPr>
              <p:spPr>
                <a:xfrm>
                  <a:off x="9230721" y="1477497"/>
                  <a:ext cx="339753" cy="436653"/>
                </a:xfrm>
                <a:custGeom>
                  <a:avLst/>
                  <a:gdLst>
                    <a:gd name="connsiteX0" fmla="*/ 93525 w 175152"/>
                    <a:gd name="connsiteY0" fmla="*/ 4957 h 138799"/>
                    <a:gd name="connsiteX1" fmla="*/ 170195 w 175152"/>
                    <a:gd name="connsiteY1" fmla="*/ 4957 h 138799"/>
                    <a:gd name="connsiteX2" fmla="*/ 170195 w 175152"/>
                    <a:gd name="connsiteY2" fmla="*/ 134173 h 138799"/>
                    <a:gd name="connsiteX3" fmla="*/ 4957 w 175152"/>
                    <a:gd name="connsiteY3" fmla="*/ 134173 h 138799"/>
                    <a:gd name="connsiteX0" fmla="*/ 32628 w 109298"/>
                    <a:gd name="connsiteY0" fmla="*/ 0 h 129928"/>
                    <a:gd name="connsiteX1" fmla="*/ 109298 w 109298"/>
                    <a:gd name="connsiteY1" fmla="*/ 0 h 129928"/>
                    <a:gd name="connsiteX2" fmla="*/ 109298 w 109298"/>
                    <a:gd name="connsiteY2" fmla="*/ 129216 h 129928"/>
                    <a:gd name="connsiteX3" fmla="*/ 0 w 109298"/>
                    <a:gd name="connsiteY3" fmla="*/ 129928 h 129928"/>
                    <a:gd name="connsiteX0" fmla="*/ 34182 w 110852"/>
                    <a:gd name="connsiteY0" fmla="*/ 0 h 130640"/>
                    <a:gd name="connsiteX1" fmla="*/ 110852 w 110852"/>
                    <a:gd name="connsiteY1" fmla="*/ 0 h 130640"/>
                    <a:gd name="connsiteX2" fmla="*/ 110852 w 110852"/>
                    <a:gd name="connsiteY2" fmla="*/ 129216 h 130640"/>
                    <a:gd name="connsiteX3" fmla="*/ 0 w 110852"/>
                    <a:gd name="connsiteY3" fmla="*/ 130640 h 130640"/>
                  </a:gdLst>
                  <a:ahLst/>
                  <a:cxnLst>
                    <a:cxn ang="0">
                      <a:pos x="connsiteX0" y="connsiteY0"/>
                    </a:cxn>
                    <a:cxn ang="0">
                      <a:pos x="connsiteX1" y="connsiteY1"/>
                    </a:cxn>
                    <a:cxn ang="0">
                      <a:pos x="connsiteX2" y="connsiteY2"/>
                    </a:cxn>
                    <a:cxn ang="0">
                      <a:pos x="connsiteX3" y="connsiteY3"/>
                    </a:cxn>
                  </a:cxnLst>
                  <a:rect l="l" t="t" r="r" b="b"/>
                  <a:pathLst>
                    <a:path w="110852" h="130640">
                      <a:moveTo>
                        <a:pt x="34182" y="0"/>
                      </a:moveTo>
                      <a:lnTo>
                        <a:pt x="110852" y="0"/>
                      </a:lnTo>
                      <a:lnTo>
                        <a:pt x="110852" y="129216"/>
                      </a:lnTo>
                      <a:lnTo>
                        <a:pt x="0" y="130640"/>
                      </a:lnTo>
                    </a:path>
                  </a:pathLst>
                </a:custGeom>
                <a:noFill/>
                <a:ln w="15875" cap="flat">
                  <a:solidFill>
                    <a:srgbClr val="4158FB"/>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96" name="Freeform: Shape 95">
                  <a:extLst>
                    <a:ext uri="{FF2B5EF4-FFF2-40B4-BE49-F238E27FC236}">
                      <a16:creationId xmlns:a16="http://schemas.microsoft.com/office/drawing/2014/main" id="{C35553CD-C7A3-3155-1178-47664AA7D78C}"/>
                    </a:ext>
                  </a:extLst>
                </p:cNvPr>
                <p:cNvSpPr/>
                <p:nvPr/>
              </p:nvSpPr>
              <p:spPr>
                <a:xfrm>
                  <a:off x="9608864" y="1164900"/>
                  <a:ext cx="596473" cy="762159"/>
                </a:xfrm>
                <a:custGeom>
                  <a:avLst/>
                  <a:gdLst>
                    <a:gd name="connsiteX0" fmla="*/ 4957 w 178457"/>
                    <a:gd name="connsiteY0" fmla="*/ 93525 h 228028"/>
                    <a:gd name="connsiteX1" fmla="*/ 4957 w 178457"/>
                    <a:gd name="connsiteY1" fmla="*/ 93525 h 228028"/>
                    <a:gd name="connsiteX2" fmla="*/ 24786 w 178457"/>
                    <a:gd name="connsiteY2" fmla="*/ 85263 h 228028"/>
                    <a:gd name="connsiteX3" fmla="*/ 60808 w 178457"/>
                    <a:gd name="connsiteY3" fmla="*/ 49241 h 228028"/>
                    <a:gd name="connsiteX4" fmla="*/ 70391 w 178457"/>
                    <a:gd name="connsiteY4" fmla="*/ 30073 h 228028"/>
                    <a:gd name="connsiteX5" fmla="*/ 77992 w 178457"/>
                    <a:gd name="connsiteY5" fmla="*/ 12228 h 228028"/>
                    <a:gd name="connsiteX6" fmla="*/ 89229 w 178457"/>
                    <a:gd name="connsiteY6" fmla="*/ 4957 h 228028"/>
                    <a:gd name="connsiteX7" fmla="*/ 105422 w 178457"/>
                    <a:gd name="connsiteY7" fmla="*/ 21150 h 228028"/>
                    <a:gd name="connsiteX8" fmla="*/ 101456 w 178457"/>
                    <a:gd name="connsiteY8" fmla="*/ 45275 h 228028"/>
                    <a:gd name="connsiteX9" fmla="*/ 82619 w 178457"/>
                    <a:gd name="connsiteY9" fmla="*/ 86254 h 228028"/>
                    <a:gd name="connsiteX10" fmla="*/ 83610 w 178457"/>
                    <a:gd name="connsiteY10" fmla="*/ 91872 h 228028"/>
                    <a:gd name="connsiteX11" fmla="*/ 83610 w 178457"/>
                    <a:gd name="connsiteY11" fmla="*/ 91872 h 228028"/>
                    <a:gd name="connsiteX12" fmla="*/ 87246 w 178457"/>
                    <a:gd name="connsiteY12" fmla="*/ 93525 h 228028"/>
                    <a:gd name="connsiteX13" fmla="*/ 149375 w 178457"/>
                    <a:gd name="connsiteY13" fmla="*/ 93525 h 228028"/>
                    <a:gd name="connsiteX14" fmla="*/ 165569 w 178457"/>
                    <a:gd name="connsiteY14" fmla="*/ 106413 h 228028"/>
                    <a:gd name="connsiteX15" fmla="*/ 149706 w 178457"/>
                    <a:gd name="connsiteY15" fmla="*/ 125911 h 228028"/>
                    <a:gd name="connsiteX16" fmla="*/ 157307 w 178457"/>
                    <a:gd name="connsiteY16" fmla="*/ 125911 h 228028"/>
                    <a:gd name="connsiteX17" fmla="*/ 173500 w 178457"/>
                    <a:gd name="connsiteY17" fmla="*/ 138800 h 228028"/>
                    <a:gd name="connsiteX18" fmla="*/ 157637 w 178457"/>
                    <a:gd name="connsiteY18" fmla="*/ 158298 h 228028"/>
                    <a:gd name="connsiteX19" fmla="*/ 149706 w 178457"/>
                    <a:gd name="connsiteY19" fmla="*/ 158298 h 228028"/>
                    <a:gd name="connsiteX20" fmla="*/ 165569 w 178457"/>
                    <a:gd name="connsiteY20" fmla="*/ 177796 h 228028"/>
                    <a:gd name="connsiteX21" fmla="*/ 149375 w 178457"/>
                    <a:gd name="connsiteY21" fmla="*/ 190685 h 228028"/>
                    <a:gd name="connsiteX22" fmla="*/ 141774 w 178457"/>
                    <a:gd name="connsiteY22" fmla="*/ 190685 h 228028"/>
                    <a:gd name="connsiteX23" fmla="*/ 157637 w 178457"/>
                    <a:gd name="connsiteY23" fmla="*/ 210183 h 228028"/>
                    <a:gd name="connsiteX24" fmla="*/ 141444 w 178457"/>
                    <a:gd name="connsiteY24" fmla="*/ 223071 h 228028"/>
                    <a:gd name="connsiteX25" fmla="*/ 45936 w 178457"/>
                    <a:gd name="connsiteY25" fmla="*/ 223071 h 228028"/>
                    <a:gd name="connsiteX26" fmla="*/ 28751 w 178457"/>
                    <a:gd name="connsiteY26" fmla="*/ 219106 h 228028"/>
                    <a:gd name="connsiteX27" fmla="*/ 28751 w 178457"/>
                    <a:gd name="connsiteY27" fmla="*/ 219106 h 228028"/>
                    <a:gd name="connsiteX28" fmla="*/ 11567 w 178457"/>
                    <a:gd name="connsiteY28" fmla="*/ 215140 h 228028"/>
                    <a:gd name="connsiteX29" fmla="*/ 8592 w 178457"/>
                    <a:gd name="connsiteY29" fmla="*/ 215140 h 22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457" h="228028">
                      <a:moveTo>
                        <a:pt x="4957" y="93525"/>
                      </a:moveTo>
                      <a:lnTo>
                        <a:pt x="4957" y="93525"/>
                      </a:lnTo>
                      <a:cubicBezTo>
                        <a:pt x="12228" y="93525"/>
                        <a:pt x="19498" y="90550"/>
                        <a:pt x="24786" y="85263"/>
                      </a:cubicBezTo>
                      <a:lnTo>
                        <a:pt x="60808" y="49241"/>
                      </a:lnTo>
                      <a:lnTo>
                        <a:pt x="70391" y="30073"/>
                      </a:lnTo>
                      <a:lnTo>
                        <a:pt x="77992" y="12228"/>
                      </a:lnTo>
                      <a:cubicBezTo>
                        <a:pt x="79975" y="7931"/>
                        <a:pt x="84271" y="4957"/>
                        <a:pt x="89229" y="4957"/>
                      </a:cubicBezTo>
                      <a:cubicBezTo>
                        <a:pt x="98151" y="4957"/>
                        <a:pt x="105422" y="12228"/>
                        <a:pt x="105422" y="21150"/>
                      </a:cubicBezTo>
                      <a:cubicBezTo>
                        <a:pt x="105422" y="30073"/>
                        <a:pt x="101456" y="45275"/>
                        <a:pt x="101456" y="45275"/>
                      </a:cubicBezTo>
                      <a:lnTo>
                        <a:pt x="82619" y="86254"/>
                      </a:lnTo>
                      <a:cubicBezTo>
                        <a:pt x="81628" y="88237"/>
                        <a:pt x="82289" y="90550"/>
                        <a:pt x="83610" y="91872"/>
                      </a:cubicBezTo>
                      <a:lnTo>
                        <a:pt x="83610" y="91872"/>
                      </a:lnTo>
                      <a:cubicBezTo>
                        <a:pt x="84602" y="92864"/>
                        <a:pt x="85924" y="93525"/>
                        <a:pt x="87246" y="93525"/>
                      </a:cubicBezTo>
                      <a:lnTo>
                        <a:pt x="149375" y="93525"/>
                      </a:lnTo>
                      <a:cubicBezTo>
                        <a:pt x="156976" y="93525"/>
                        <a:pt x="163916" y="98812"/>
                        <a:pt x="165569" y="106413"/>
                      </a:cubicBezTo>
                      <a:cubicBezTo>
                        <a:pt x="167551" y="116658"/>
                        <a:pt x="159620" y="125911"/>
                        <a:pt x="149706" y="125911"/>
                      </a:cubicBezTo>
                      <a:lnTo>
                        <a:pt x="157307" y="125911"/>
                      </a:lnTo>
                      <a:cubicBezTo>
                        <a:pt x="164908" y="125911"/>
                        <a:pt x="171848" y="131199"/>
                        <a:pt x="173500" y="138800"/>
                      </a:cubicBezTo>
                      <a:cubicBezTo>
                        <a:pt x="175483" y="149045"/>
                        <a:pt x="167551" y="158298"/>
                        <a:pt x="157637" y="158298"/>
                      </a:cubicBezTo>
                      <a:lnTo>
                        <a:pt x="149706" y="158298"/>
                      </a:lnTo>
                      <a:cubicBezTo>
                        <a:pt x="159620" y="158298"/>
                        <a:pt x="167551" y="167551"/>
                        <a:pt x="165569" y="177796"/>
                      </a:cubicBezTo>
                      <a:cubicBezTo>
                        <a:pt x="163916" y="185397"/>
                        <a:pt x="156976" y="190685"/>
                        <a:pt x="149375" y="190685"/>
                      </a:cubicBezTo>
                      <a:lnTo>
                        <a:pt x="141774" y="190685"/>
                      </a:lnTo>
                      <a:cubicBezTo>
                        <a:pt x="151689" y="190685"/>
                        <a:pt x="159620" y="199938"/>
                        <a:pt x="157637" y="210183"/>
                      </a:cubicBezTo>
                      <a:cubicBezTo>
                        <a:pt x="155985" y="217784"/>
                        <a:pt x="149045" y="223071"/>
                        <a:pt x="141444" y="223071"/>
                      </a:cubicBezTo>
                      <a:lnTo>
                        <a:pt x="45936" y="223071"/>
                      </a:lnTo>
                      <a:cubicBezTo>
                        <a:pt x="39988" y="223071"/>
                        <a:pt x="34039" y="221749"/>
                        <a:pt x="28751" y="219106"/>
                      </a:cubicBezTo>
                      <a:lnTo>
                        <a:pt x="28751" y="219106"/>
                      </a:lnTo>
                      <a:cubicBezTo>
                        <a:pt x="23464" y="216462"/>
                        <a:pt x="17515" y="215140"/>
                        <a:pt x="11567" y="215140"/>
                      </a:cubicBezTo>
                      <a:lnTo>
                        <a:pt x="8592" y="215140"/>
                      </a:ln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99" name="Freeform: Shape 98">
                  <a:extLst>
                    <a:ext uri="{FF2B5EF4-FFF2-40B4-BE49-F238E27FC236}">
                      <a16:creationId xmlns:a16="http://schemas.microsoft.com/office/drawing/2014/main" id="{06133002-50D9-492B-6D77-2D2F005C494B}"/>
                    </a:ext>
                  </a:extLst>
                </p:cNvPr>
                <p:cNvSpPr/>
                <p:nvPr/>
              </p:nvSpPr>
              <p:spPr>
                <a:xfrm>
                  <a:off x="9363649" y="1460929"/>
                  <a:ext cx="33136" cy="463923"/>
                </a:xfrm>
                <a:custGeom>
                  <a:avLst/>
                  <a:gdLst>
                    <a:gd name="connsiteX0" fmla="*/ 4957 w 9914"/>
                    <a:gd name="connsiteY0" fmla="*/ 4957 h 138799"/>
                    <a:gd name="connsiteX1" fmla="*/ 4957 w 9914"/>
                    <a:gd name="connsiteY1" fmla="*/ 134173 h 138799"/>
                  </a:gdLst>
                  <a:ahLst/>
                  <a:cxnLst>
                    <a:cxn ang="0">
                      <a:pos x="connsiteX0" y="connsiteY0"/>
                    </a:cxn>
                    <a:cxn ang="0">
                      <a:pos x="connsiteX1" y="connsiteY1"/>
                    </a:cxn>
                  </a:cxnLst>
                  <a:rect l="l" t="t" r="r" b="b"/>
                  <a:pathLst>
                    <a:path w="9914" h="138799">
                      <a:moveTo>
                        <a:pt x="4957" y="4957"/>
                      </a:moveTo>
                      <a:lnTo>
                        <a:pt x="4957" y="134173"/>
                      </a:lnTo>
                    </a:path>
                  </a:pathLst>
                </a:custGeom>
                <a:ln w="15875" cap="flat">
                  <a:solidFill>
                    <a:srgbClr val="4158FB"/>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00" name="Freeform: Shape 99">
                  <a:extLst>
                    <a:ext uri="{FF2B5EF4-FFF2-40B4-BE49-F238E27FC236}">
                      <a16:creationId xmlns:a16="http://schemas.microsoft.com/office/drawing/2014/main" id="{7FD2A819-9494-67F7-CDC8-899F56FC40CD}"/>
                    </a:ext>
                  </a:extLst>
                </p:cNvPr>
                <p:cNvSpPr/>
                <p:nvPr/>
              </p:nvSpPr>
              <p:spPr>
                <a:xfrm>
                  <a:off x="9944659" y="1569175"/>
                  <a:ext cx="176732" cy="33136"/>
                </a:xfrm>
                <a:custGeom>
                  <a:avLst/>
                  <a:gdLst>
                    <a:gd name="connsiteX0" fmla="*/ 49241 w 52876"/>
                    <a:gd name="connsiteY0" fmla="*/ 4957 h 9914"/>
                    <a:gd name="connsiteX1" fmla="*/ 4957 w 52876"/>
                    <a:gd name="connsiteY1" fmla="*/ 4957 h 9914"/>
                  </a:gdLst>
                  <a:ahLst/>
                  <a:cxnLst>
                    <a:cxn ang="0">
                      <a:pos x="connsiteX0" y="connsiteY0"/>
                    </a:cxn>
                    <a:cxn ang="0">
                      <a:pos x="connsiteX1" y="connsiteY1"/>
                    </a:cxn>
                  </a:cxnLst>
                  <a:rect l="l" t="t" r="r" b="b"/>
                  <a:pathLst>
                    <a:path w="52876" h="9914">
                      <a:moveTo>
                        <a:pt x="49241" y="4957"/>
                      </a:moveTo>
                      <a:lnTo>
                        <a:pt x="4957" y="495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01" name="Freeform: Shape 100">
                  <a:extLst>
                    <a:ext uri="{FF2B5EF4-FFF2-40B4-BE49-F238E27FC236}">
                      <a16:creationId xmlns:a16="http://schemas.microsoft.com/office/drawing/2014/main" id="{2B6F1AF2-146C-0C68-790E-55BA03FCB194}"/>
                    </a:ext>
                  </a:extLst>
                </p:cNvPr>
                <p:cNvSpPr/>
                <p:nvPr/>
              </p:nvSpPr>
              <p:spPr>
                <a:xfrm>
                  <a:off x="9957914" y="1676320"/>
                  <a:ext cx="165686" cy="33136"/>
                </a:xfrm>
                <a:custGeom>
                  <a:avLst/>
                  <a:gdLst>
                    <a:gd name="connsiteX0" fmla="*/ 45275 w 49571"/>
                    <a:gd name="connsiteY0" fmla="*/ 4957 h 9914"/>
                    <a:gd name="connsiteX1" fmla="*/ 4957 w 49571"/>
                    <a:gd name="connsiteY1" fmla="*/ 4957 h 9914"/>
                  </a:gdLst>
                  <a:ahLst/>
                  <a:cxnLst>
                    <a:cxn ang="0">
                      <a:pos x="connsiteX0" y="connsiteY0"/>
                    </a:cxn>
                    <a:cxn ang="0">
                      <a:pos x="connsiteX1" y="connsiteY1"/>
                    </a:cxn>
                  </a:cxnLst>
                  <a:rect l="l" t="t" r="r" b="b"/>
                  <a:pathLst>
                    <a:path w="49571" h="9914">
                      <a:moveTo>
                        <a:pt x="45275" y="4957"/>
                      </a:moveTo>
                      <a:lnTo>
                        <a:pt x="4957" y="495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02" name="Freeform: Shape 101">
                  <a:extLst>
                    <a:ext uri="{FF2B5EF4-FFF2-40B4-BE49-F238E27FC236}">
                      <a16:creationId xmlns:a16="http://schemas.microsoft.com/office/drawing/2014/main" id="{C84AD63B-D230-4BCC-5085-EEA810A634ED}"/>
                    </a:ext>
                  </a:extLst>
                </p:cNvPr>
                <p:cNvSpPr/>
                <p:nvPr/>
              </p:nvSpPr>
              <p:spPr>
                <a:xfrm>
                  <a:off x="9957914" y="1784570"/>
                  <a:ext cx="132550" cy="33136"/>
                </a:xfrm>
                <a:custGeom>
                  <a:avLst/>
                  <a:gdLst>
                    <a:gd name="connsiteX0" fmla="*/ 37344 w 39657"/>
                    <a:gd name="connsiteY0" fmla="*/ 4957 h 9914"/>
                    <a:gd name="connsiteX1" fmla="*/ 4957 w 39657"/>
                    <a:gd name="connsiteY1" fmla="*/ 4957 h 9914"/>
                  </a:gdLst>
                  <a:ahLst/>
                  <a:cxnLst>
                    <a:cxn ang="0">
                      <a:pos x="connsiteX0" y="connsiteY0"/>
                    </a:cxn>
                    <a:cxn ang="0">
                      <a:pos x="connsiteX1" y="connsiteY1"/>
                    </a:cxn>
                  </a:cxnLst>
                  <a:rect l="l" t="t" r="r" b="b"/>
                  <a:pathLst>
                    <a:path w="39657" h="9914">
                      <a:moveTo>
                        <a:pt x="37344" y="4957"/>
                      </a:moveTo>
                      <a:lnTo>
                        <a:pt x="4957" y="495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03" name="Freeform: Shape 102">
                  <a:extLst>
                    <a:ext uri="{FF2B5EF4-FFF2-40B4-BE49-F238E27FC236}">
                      <a16:creationId xmlns:a16="http://schemas.microsoft.com/office/drawing/2014/main" id="{1823F5AB-F526-A275-4C59-3B9153D00EB5}"/>
                    </a:ext>
                  </a:extLst>
                </p:cNvPr>
                <p:cNvSpPr/>
                <p:nvPr/>
              </p:nvSpPr>
              <p:spPr>
                <a:xfrm>
                  <a:off x="9917043" y="1460929"/>
                  <a:ext cx="77321" cy="132550"/>
                </a:xfrm>
                <a:custGeom>
                  <a:avLst/>
                  <a:gdLst>
                    <a:gd name="connsiteX0" fmla="*/ 21150 w 23133"/>
                    <a:gd name="connsiteY0" fmla="*/ 37344 h 39657"/>
                    <a:gd name="connsiteX1" fmla="*/ 4957 w 23133"/>
                    <a:gd name="connsiteY1" fmla="*/ 21150 h 39657"/>
                    <a:gd name="connsiteX2" fmla="*/ 21150 w 23133"/>
                    <a:gd name="connsiteY2" fmla="*/ 4957 h 39657"/>
                  </a:gdLst>
                  <a:ahLst/>
                  <a:cxnLst>
                    <a:cxn ang="0">
                      <a:pos x="connsiteX0" y="connsiteY0"/>
                    </a:cxn>
                    <a:cxn ang="0">
                      <a:pos x="connsiteX1" y="connsiteY1"/>
                    </a:cxn>
                    <a:cxn ang="0">
                      <a:pos x="connsiteX2" y="connsiteY2"/>
                    </a:cxn>
                  </a:cxnLst>
                  <a:rect l="l" t="t" r="r" b="b"/>
                  <a:pathLst>
                    <a:path w="23133" h="39657">
                      <a:moveTo>
                        <a:pt x="21150" y="37344"/>
                      </a:moveTo>
                      <a:cubicBezTo>
                        <a:pt x="12228" y="37344"/>
                        <a:pt x="4957" y="30073"/>
                        <a:pt x="4957" y="21150"/>
                      </a:cubicBezTo>
                      <a:cubicBezTo>
                        <a:pt x="4957" y="12228"/>
                        <a:pt x="12228" y="4957"/>
                        <a:pt x="21150" y="4957"/>
                      </a:cubicBez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04" name="Freeform: Shape 103">
                  <a:extLst>
                    <a:ext uri="{FF2B5EF4-FFF2-40B4-BE49-F238E27FC236}">
                      <a16:creationId xmlns:a16="http://schemas.microsoft.com/office/drawing/2014/main" id="{9469B966-3AF9-AAAC-D01E-925C0B29CD48}"/>
                    </a:ext>
                  </a:extLst>
                </p:cNvPr>
                <p:cNvSpPr/>
                <p:nvPr/>
              </p:nvSpPr>
              <p:spPr>
                <a:xfrm>
                  <a:off x="9890535" y="1568072"/>
                  <a:ext cx="77321" cy="132550"/>
                </a:xfrm>
                <a:custGeom>
                  <a:avLst/>
                  <a:gdLst>
                    <a:gd name="connsiteX0" fmla="*/ 21150 w 23133"/>
                    <a:gd name="connsiteY0" fmla="*/ 37344 h 39657"/>
                    <a:gd name="connsiteX1" fmla="*/ 4957 w 23133"/>
                    <a:gd name="connsiteY1" fmla="*/ 21150 h 39657"/>
                    <a:gd name="connsiteX2" fmla="*/ 21150 w 23133"/>
                    <a:gd name="connsiteY2" fmla="*/ 4957 h 39657"/>
                  </a:gdLst>
                  <a:ahLst/>
                  <a:cxnLst>
                    <a:cxn ang="0">
                      <a:pos x="connsiteX0" y="connsiteY0"/>
                    </a:cxn>
                    <a:cxn ang="0">
                      <a:pos x="connsiteX1" y="connsiteY1"/>
                    </a:cxn>
                    <a:cxn ang="0">
                      <a:pos x="connsiteX2" y="connsiteY2"/>
                    </a:cxn>
                  </a:cxnLst>
                  <a:rect l="l" t="t" r="r" b="b"/>
                  <a:pathLst>
                    <a:path w="23133" h="39657">
                      <a:moveTo>
                        <a:pt x="21150" y="37344"/>
                      </a:moveTo>
                      <a:cubicBezTo>
                        <a:pt x="12228" y="37344"/>
                        <a:pt x="4957" y="30073"/>
                        <a:pt x="4957" y="21150"/>
                      </a:cubicBezTo>
                      <a:cubicBezTo>
                        <a:pt x="4957" y="12228"/>
                        <a:pt x="12228" y="4957"/>
                        <a:pt x="21150" y="4957"/>
                      </a:cubicBez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05" name="Freeform: Shape 104">
                  <a:extLst>
                    <a:ext uri="{FF2B5EF4-FFF2-40B4-BE49-F238E27FC236}">
                      <a16:creationId xmlns:a16="http://schemas.microsoft.com/office/drawing/2014/main" id="{BDA4A33D-8AB8-D073-8475-CEDFAACED6D9}"/>
                    </a:ext>
                  </a:extLst>
                </p:cNvPr>
                <p:cNvSpPr/>
                <p:nvPr/>
              </p:nvSpPr>
              <p:spPr>
                <a:xfrm>
                  <a:off x="9903790" y="1676320"/>
                  <a:ext cx="77321" cy="132550"/>
                </a:xfrm>
                <a:custGeom>
                  <a:avLst/>
                  <a:gdLst>
                    <a:gd name="connsiteX0" fmla="*/ 21150 w 23133"/>
                    <a:gd name="connsiteY0" fmla="*/ 37344 h 39657"/>
                    <a:gd name="connsiteX1" fmla="*/ 4957 w 23133"/>
                    <a:gd name="connsiteY1" fmla="*/ 21150 h 39657"/>
                    <a:gd name="connsiteX2" fmla="*/ 21150 w 23133"/>
                    <a:gd name="connsiteY2" fmla="*/ 4957 h 39657"/>
                  </a:gdLst>
                  <a:ahLst/>
                  <a:cxnLst>
                    <a:cxn ang="0">
                      <a:pos x="connsiteX0" y="connsiteY0"/>
                    </a:cxn>
                    <a:cxn ang="0">
                      <a:pos x="connsiteX1" y="connsiteY1"/>
                    </a:cxn>
                    <a:cxn ang="0">
                      <a:pos x="connsiteX2" y="connsiteY2"/>
                    </a:cxn>
                  </a:cxnLst>
                  <a:rect l="l" t="t" r="r" b="b"/>
                  <a:pathLst>
                    <a:path w="23133" h="39657">
                      <a:moveTo>
                        <a:pt x="21150" y="37344"/>
                      </a:moveTo>
                      <a:cubicBezTo>
                        <a:pt x="12228" y="37344"/>
                        <a:pt x="4957" y="30073"/>
                        <a:pt x="4957" y="21150"/>
                      </a:cubicBezTo>
                      <a:cubicBezTo>
                        <a:pt x="4957" y="12228"/>
                        <a:pt x="12228" y="4957"/>
                        <a:pt x="21150" y="4957"/>
                      </a:cubicBez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06" name="Freeform: Shape 105">
                  <a:extLst>
                    <a:ext uri="{FF2B5EF4-FFF2-40B4-BE49-F238E27FC236}">
                      <a16:creationId xmlns:a16="http://schemas.microsoft.com/office/drawing/2014/main" id="{6B823C87-97E5-0090-7978-4DECEDEC25F0}"/>
                    </a:ext>
                  </a:extLst>
                </p:cNvPr>
                <p:cNvSpPr/>
                <p:nvPr/>
              </p:nvSpPr>
              <p:spPr>
                <a:xfrm>
                  <a:off x="9930298" y="1784570"/>
                  <a:ext cx="77321" cy="132550"/>
                </a:xfrm>
                <a:custGeom>
                  <a:avLst/>
                  <a:gdLst>
                    <a:gd name="connsiteX0" fmla="*/ 21150 w 23133"/>
                    <a:gd name="connsiteY0" fmla="*/ 37344 h 39657"/>
                    <a:gd name="connsiteX1" fmla="*/ 4957 w 23133"/>
                    <a:gd name="connsiteY1" fmla="*/ 21150 h 39657"/>
                    <a:gd name="connsiteX2" fmla="*/ 21150 w 23133"/>
                    <a:gd name="connsiteY2" fmla="*/ 4957 h 39657"/>
                  </a:gdLst>
                  <a:ahLst/>
                  <a:cxnLst>
                    <a:cxn ang="0">
                      <a:pos x="connsiteX0" y="connsiteY0"/>
                    </a:cxn>
                    <a:cxn ang="0">
                      <a:pos x="connsiteX1" y="connsiteY1"/>
                    </a:cxn>
                    <a:cxn ang="0">
                      <a:pos x="connsiteX2" y="connsiteY2"/>
                    </a:cxn>
                  </a:cxnLst>
                  <a:rect l="l" t="t" r="r" b="b"/>
                  <a:pathLst>
                    <a:path w="23133" h="39657">
                      <a:moveTo>
                        <a:pt x="21150" y="37344"/>
                      </a:moveTo>
                      <a:cubicBezTo>
                        <a:pt x="12228" y="37344"/>
                        <a:pt x="4957" y="30073"/>
                        <a:pt x="4957" y="21150"/>
                      </a:cubicBezTo>
                      <a:cubicBezTo>
                        <a:pt x="4957" y="12228"/>
                        <a:pt x="12228" y="4957"/>
                        <a:pt x="21150" y="4957"/>
                      </a:cubicBez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grpSp>
      </p:grpSp>
      <p:grpSp>
        <p:nvGrpSpPr>
          <p:cNvPr id="232" name="Group 231" descr="Step 1, choose 1 or 2 models.">
            <a:extLst>
              <a:ext uri="{FF2B5EF4-FFF2-40B4-BE49-F238E27FC236}">
                <a16:creationId xmlns:a16="http://schemas.microsoft.com/office/drawing/2014/main" id="{698B0605-12B8-27DE-D51C-C170FDFC852D}"/>
              </a:ext>
            </a:extLst>
          </p:cNvPr>
          <p:cNvGrpSpPr/>
          <p:nvPr/>
        </p:nvGrpSpPr>
        <p:grpSpPr>
          <a:xfrm>
            <a:off x="201483" y="2498441"/>
            <a:ext cx="1434870" cy="3107375"/>
            <a:chOff x="201483" y="2498441"/>
            <a:chExt cx="1434870" cy="3107375"/>
          </a:xfrm>
        </p:grpSpPr>
        <p:sp>
          <p:nvSpPr>
            <p:cNvPr id="2" name="TextBox 1">
              <a:extLst>
                <a:ext uri="{FF2B5EF4-FFF2-40B4-BE49-F238E27FC236}">
                  <a16:creationId xmlns:a16="http://schemas.microsoft.com/office/drawing/2014/main" id="{0132CB1C-DFF4-8710-ECF2-3D63CFACB543}"/>
                </a:ext>
              </a:extLst>
            </p:cNvPr>
            <p:cNvSpPr txBox="1"/>
            <p:nvPr/>
          </p:nvSpPr>
          <p:spPr>
            <a:xfrm>
              <a:off x="201483" y="3959896"/>
              <a:ext cx="1371600" cy="1645920"/>
            </a:xfrm>
            <a:prstGeom prst="rect">
              <a:avLst/>
            </a:prstGeom>
          </p:spPr>
          <p:txBody>
            <a:bodyPr wrap="square" lIns="91440" tIns="0" rIns="91440" bIns="0">
              <a:noAutofit/>
            </a:bodyPr>
            <a:lstStyle>
              <a:defPPr>
                <a:defRPr lang="en-US"/>
              </a:defPPr>
              <a:lvl1pPr indent="0" algn="ctr">
                <a:lnSpc>
                  <a:spcPct val="90000"/>
                </a:lnSpc>
                <a:spcBef>
                  <a:spcPts val="0"/>
                </a:spcBef>
                <a:spcAft>
                  <a:spcPts val="1200"/>
                </a:spcAft>
                <a:buSzPct val="90000"/>
                <a:buFont typeface="Arial" panose="020B0604020202020204" pitchFamily="34" charset="0"/>
                <a:buNone/>
                <a:defRPr sz="2000">
                  <a:latin typeface="+mj-lt"/>
                </a:defRPr>
              </a:lvl1pPr>
              <a:lvl2pPr marL="514350" indent="-228600">
                <a:lnSpc>
                  <a:spcPct val="90000"/>
                </a:lnSpc>
                <a:spcBef>
                  <a:spcPts val="0"/>
                </a:spcBef>
                <a:spcAft>
                  <a:spcPts val="1200"/>
                </a:spcAft>
                <a:buSzPct val="90000"/>
                <a:buFont typeface="Wingdings" panose="05000000000000000000" pitchFamily="2" charset="2"/>
                <a:buChar char="§"/>
                <a:defRPr sz="2400"/>
              </a:lvl2pPr>
              <a:lvl3pPr marL="857250" indent="-228600">
                <a:lnSpc>
                  <a:spcPct val="90000"/>
                </a:lnSpc>
                <a:spcBef>
                  <a:spcPts val="0"/>
                </a:spcBef>
                <a:spcAft>
                  <a:spcPts val="1200"/>
                </a:spcAft>
                <a:buFont typeface="Amazon Ember" panose="020B0603020204020204" pitchFamily="34" charset="0"/>
                <a:buChar char="–"/>
                <a:defRPr sz="2000"/>
              </a:lvl3pPr>
              <a:lvl4pPr marL="1030288" indent="-171450">
                <a:lnSpc>
                  <a:spcPct val="90000"/>
                </a:lnSpc>
                <a:spcBef>
                  <a:spcPts val="0"/>
                </a:spcBef>
                <a:spcAft>
                  <a:spcPts val="1200"/>
                </a:spcAft>
                <a:buFont typeface="Arial" panose="020B0604020202020204" pitchFamily="34" charset="0"/>
                <a:buChar char="•"/>
              </a:lvl4pPr>
              <a:lvl5pPr marL="1201738" indent="-171450">
                <a:lnSpc>
                  <a:spcPct val="90000"/>
                </a:lnSpc>
                <a:spcBef>
                  <a:spcPts val="0"/>
                </a:spcBef>
                <a:spcAft>
                  <a:spcPts val="1200"/>
                </a:spcAft>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1200"/>
                </a:spcAft>
                <a:buClrTx/>
                <a:buSzPct val="90000"/>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Choose 1 </a:t>
              </a:r>
              <a:br>
                <a:rPr kumimoji="0" lang="en-US" sz="1800" b="0" i="0" u="none" strike="noStrike" kern="1200" cap="none" spc="0" normalizeH="0" baseline="0" noProof="0" dirty="0">
                  <a:ln>
                    <a:noFill/>
                  </a:ln>
                  <a:solidFill>
                    <a:srgbClr val="232F3E"/>
                  </a:solidFill>
                  <a:effectLst/>
                  <a:uLnTx/>
                  <a:uFillTx/>
                  <a:latin typeface="Amazon Ember Light"/>
                  <a:ea typeface="+mn-ea"/>
                  <a:cs typeface="+mn-cs"/>
                </a:rPr>
              </a:b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or 2 models</a:t>
              </a:r>
            </a:p>
          </p:txBody>
        </p:sp>
        <p:sp>
          <p:nvSpPr>
            <p:cNvPr id="63" name="Freeform: Shape 62">
              <a:extLst>
                <a:ext uri="{FF2B5EF4-FFF2-40B4-BE49-F238E27FC236}">
                  <a16:creationId xmlns:a16="http://schemas.microsoft.com/office/drawing/2014/main" id="{898B011E-2BAC-A330-B5B7-EF1333FAFFF5}"/>
                </a:ext>
              </a:extLst>
            </p:cNvPr>
            <p:cNvSpPr/>
            <p:nvPr/>
          </p:nvSpPr>
          <p:spPr>
            <a:xfrm>
              <a:off x="320946" y="2498441"/>
              <a:ext cx="1315407" cy="1144940"/>
            </a:xfrm>
            <a:custGeom>
              <a:avLst/>
              <a:gdLst>
                <a:gd name="connsiteX0" fmla="*/ 2061646 w 2066765"/>
                <a:gd name="connsiteY0" fmla="*/ 916242 h 1798928"/>
                <a:gd name="connsiteX1" fmla="*/ 2062340 w 2066765"/>
                <a:gd name="connsiteY1" fmla="*/ 914998 h 1798928"/>
                <a:gd name="connsiteX2" fmla="*/ 2064423 w 2066765"/>
                <a:gd name="connsiteY2" fmla="*/ 911064 h 1798928"/>
                <a:gd name="connsiteX3" fmla="*/ 2065001 w 2066765"/>
                <a:gd name="connsiteY3" fmla="*/ 909213 h 1798928"/>
                <a:gd name="connsiteX4" fmla="*/ 2066159 w 2066765"/>
                <a:gd name="connsiteY4" fmla="*/ 905423 h 1798928"/>
                <a:gd name="connsiteX5" fmla="*/ 2066766 w 2066765"/>
                <a:gd name="connsiteY5" fmla="*/ 899464 h 1798928"/>
                <a:gd name="connsiteX6" fmla="*/ 2066159 w 2066765"/>
                <a:gd name="connsiteY6" fmla="*/ 893505 h 1798928"/>
                <a:gd name="connsiteX7" fmla="*/ 2065001 w 2066765"/>
                <a:gd name="connsiteY7" fmla="*/ 889716 h 1798928"/>
                <a:gd name="connsiteX8" fmla="*/ 2064423 w 2066765"/>
                <a:gd name="connsiteY8" fmla="*/ 887865 h 1798928"/>
                <a:gd name="connsiteX9" fmla="*/ 2062340 w 2066765"/>
                <a:gd name="connsiteY9" fmla="*/ 883931 h 1798928"/>
                <a:gd name="connsiteX10" fmla="*/ 2061646 w 2066765"/>
                <a:gd name="connsiteY10" fmla="*/ 882687 h 1798928"/>
                <a:gd name="connsiteX11" fmla="*/ 2057914 w 2066765"/>
                <a:gd name="connsiteY11" fmla="*/ 878116 h 1798928"/>
                <a:gd name="connsiteX12" fmla="*/ 2057914 w 2066765"/>
                <a:gd name="connsiteY12" fmla="*/ 878116 h 1798928"/>
                <a:gd name="connsiteX13" fmla="*/ 1921840 w 2066765"/>
                <a:gd name="connsiteY13" fmla="*/ 742042 h 1798928"/>
                <a:gd name="connsiteX14" fmla="*/ 1879173 w 2066765"/>
                <a:gd name="connsiteY14" fmla="*/ 742042 h 1798928"/>
                <a:gd name="connsiteX15" fmla="*/ 1879173 w 2066765"/>
                <a:gd name="connsiteY15" fmla="*/ 784710 h 1798928"/>
                <a:gd name="connsiteX16" fmla="*/ 1963727 w 2066765"/>
                <a:gd name="connsiteY16" fmla="*/ 869264 h 1798928"/>
                <a:gd name="connsiteX17" fmla="*/ 1651313 w 2066765"/>
                <a:gd name="connsiteY17" fmla="*/ 869264 h 1798928"/>
                <a:gd name="connsiteX18" fmla="*/ 899493 w 2066765"/>
                <a:gd name="connsiteY18" fmla="*/ 146835 h 1798928"/>
                <a:gd name="connsiteX19" fmla="*/ 146864 w 2066765"/>
                <a:gd name="connsiteY19" fmla="*/ 899464 h 1798928"/>
                <a:gd name="connsiteX20" fmla="*/ 899464 w 2066765"/>
                <a:gd name="connsiteY20" fmla="*/ 1652065 h 1798928"/>
                <a:gd name="connsiteX21" fmla="*/ 1633638 w 2066765"/>
                <a:gd name="connsiteY21" fmla="*/ 1065710 h 1798928"/>
                <a:gd name="connsiteX22" fmla="*/ 1722156 w 2066765"/>
                <a:gd name="connsiteY22" fmla="*/ 1065710 h 1798928"/>
                <a:gd name="connsiteX23" fmla="*/ 899464 w 2066765"/>
                <a:gd name="connsiteY23" fmla="*/ 1738558 h 1798928"/>
                <a:gd name="connsiteX24" fmla="*/ 60342 w 2066765"/>
                <a:gd name="connsiteY24" fmla="*/ 899436 h 1798928"/>
                <a:gd name="connsiteX25" fmla="*/ 899464 w 2066765"/>
                <a:gd name="connsiteY25" fmla="*/ 60342 h 1798928"/>
                <a:gd name="connsiteX26" fmla="*/ 1728346 w 2066765"/>
                <a:gd name="connsiteY26" fmla="*/ 768077 h 1798928"/>
                <a:gd name="connsiteX27" fmla="*/ 1762827 w 2066765"/>
                <a:gd name="connsiteY27" fmla="*/ 793186 h 1798928"/>
                <a:gd name="connsiteX28" fmla="*/ 1787965 w 2066765"/>
                <a:gd name="connsiteY28" fmla="*/ 758704 h 1798928"/>
                <a:gd name="connsiteX29" fmla="*/ 1486688 w 2066765"/>
                <a:gd name="connsiteY29" fmla="*/ 218141 h 1798928"/>
                <a:gd name="connsiteX30" fmla="*/ 899464 w 2066765"/>
                <a:gd name="connsiteY30" fmla="*/ 0 h 1798928"/>
                <a:gd name="connsiteX31" fmla="*/ 0 w 2066765"/>
                <a:gd name="connsiteY31" fmla="*/ 899464 h 1798928"/>
                <a:gd name="connsiteX32" fmla="*/ 899464 w 2066765"/>
                <a:gd name="connsiteY32" fmla="*/ 1798929 h 1798928"/>
                <a:gd name="connsiteX33" fmla="*/ 1486717 w 2066765"/>
                <a:gd name="connsiteY33" fmla="*/ 1580788 h 1798928"/>
                <a:gd name="connsiteX34" fmla="*/ 1787994 w 2066765"/>
                <a:gd name="connsiteY34" fmla="*/ 1040225 h 1798928"/>
                <a:gd name="connsiteX35" fmla="*/ 1781109 w 2066765"/>
                <a:gd name="connsiteY35" fmla="*/ 1015926 h 1798928"/>
                <a:gd name="connsiteX36" fmla="*/ 1758170 w 2066765"/>
                <a:gd name="connsiteY36" fmla="*/ 1005367 h 1798928"/>
                <a:gd name="connsiteX37" fmla="*/ 1609108 w 2066765"/>
                <a:gd name="connsiteY37" fmla="*/ 1005367 h 1798928"/>
                <a:gd name="connsiteX38" fmla="*/ 1579457 w 2066765"/>
                <a:gd name="connsiteY38" fmla="*/ 1029898 h 1798928"/>
                <a:gd name="connsiteX39" fmla="*/ 899464 w 2066765"/>
                <a:gd name="connsiteY39" fmla="*/ 1591723 h 1798928"/>
                <a:gd name="connsiteX40" fmla="*/ 207206 w 2066765"/>
                <a:gd name="connsiteY40" fmla="*/ 899464 h 1798928"/>
                <a:gd name="connsiteX41" fmla="*/ 899464 w 2066765"/>
                <a:gd name="connsiteY41" fmla="*/ 207206 h 1798928"/>
                <a:gd name="connsiteX42" fmla="*/ 1591723 w 2066765"/>
                <a:gd name="connsiteY42" fmla="*/ 899464 h 1798928"/>
                <a:gd name="connsiteX43" fmla="*/ 1621894 w 2066765"/>
                <a:gd name="connsiteY43" fmla="*/ 929636 h 1798928"/>
                <a:gd name="connsiteX44" fmla="*/ 1963727 w 2066765"/>
                <a:gd name="connsiteY44" fmla="*/ 929636 h 1798928"/>
                <a:gd name="connsiteX45" fmla="*/ 1879173 w 2066765"/>
                <a:gd name="connsiteY45" fmla="*/ 1014190 h 1798928"/>
                <a:gd name="connsiteX46" fmla="*/ 1879173 w 2066765"/>
                <a:gd name="connsiteY46" fmla="*/ 1056858 h 1798928"/>
                <a:gd name="connsiteX47" fmla="*/ 1900521 w 2066765"/>
                <a:gd name="connsiteY47" fmla="*/ 1065710 h 1798928"/>
                <a:gd name="connsiteX48" fmla="*/ 1921869 w 2066765"/>
                <a:gd name="connsiteY48" fmla="*/ 1056887 h 1798928"/>
                <a:gd name="connsiteX49" fmla="*/ 2057943 w 2066765"/>
                <a:gd name="connsiteY49" fmla="*/ 920813 h 1798928"/>
                <a:gd name="connsiteX50" fmla="*/ 2057943 w 2066765"/>
                <a:gd name="connsiteY50" fmla="*/ 920813 h 1798928"/>
                <a:gd name="connsiteX51" fmla="*/ 2061675 w 2066765"/>
                <a:gd name="connsiteY51" fmla="*/ 916242 h 17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066765" h="1798928">
                  <a:moveTo>
                    <a:pt x="2061646" y="916242"/>
                  </a:moveTo>
                  <a:cubicBezTo>
                    <a:pt x="2061906" y="915837"/>
                    <a:pt x="2062080" y="915403"/>
                    <a:pt x="2062340" y="914998"/>
                  </a:cubicBezTo>
                  <a:cubicBezTo>
                    <a:pt x="2063092" y="913726"/>
                    <a:pt x="2063844" y="912453"/>
                    <a:pt x="2064423" y="911064"/>
                  </a:cubicBezTo>
                  <a:cubicBezTo>
                    <a:pt x="2064683" y="910457"/>
                    <a:pt x="2064799" y="909820"/>
                    <a:pt x="2065001" y="909213"/>
                  </a:cubicBezTo>
                  <a:cubicBezTo>
                    <a:pt x="2065435" y="907969"/>
                    <a:pt x="2065898" y="906754"/>
                    <a:pt x="2066159" y="905423"/>
                  </a:cubicBezTo>
                  <a:cubicBezTo>
                    <a:pt x="2066564" y="903485"/>
                    <a:pt x="2066766" y="901489"/>
                    <a:pt x="2066766" y="899464"/>
                  </a:cubicBezTo>
                  <a:cubicBezTo>
                    <a:pt x="2066766" y="897440"/>
                    <a:pt x="2066564" y="895444"/>
                    <a:pt x="2066159" y="893505"/>
                  </a:cubicBezTo>
                  <a:cubicBezTo>
                    <a:pt x="2065898" y="892204"/>
                    <a:pt x="2065435" y="890960"/>
                    <a:pt x="2065001" y="889716"/>
                  </a:cubicBezTo>
                  <a:cubicBezTo>
                    <a:pt x="2064799" y="889108"/>
                    <a:pt x="2064683" y="888472"/>
                    <a:pt x="2064423" y="887865"/>
                  </a:cubicBezTo>
                  <a:cubicBezTo>
                    <a:pt x="2063844" y="886476"/>
                    <a:pt x="2063092" y="885203"/>
                    <a:pt x="2062340" y="883931"/>
                  </a:cubicBezTo>
                  <a:cubicBezTo>
                    <a:pt x="2062080" y="883526"/>
                    <a:pt x="2061935" y="883063"/>
                    <a:pt x="2061646" y="882687"/>
                  </a:cubicBezTo>
                  <a:cubicBezTo>
                    <a:pt x="2060547" y="881038"/>
                    <a:pt x="2059303" y="879505"/>
                    <a:pt x="2057914" y="878116"/>
                  </a:cubicBezTo>
                  <a:lnTo>
                    <a:pt x="2057914" y="878116"/>
                  </a:lnTo>
                  <a:lnTo>
                    <a:pt x="1921840" y="742042"/>
                  </a:lnTo>
                  <a:cubicBezTo>
                    <a:pt x="1910067" y="730269"/>
                    <a:pt x="1890946" y="730269"/>
                    <a:pt x="1879173" y="742042"/>
                  </a:cubicBezTo>
                  <a:cubicBezTo>
                    <a:pt x="1867399" y="753816"/>
                    <a:pt x="1867399" y="772937"/>
                    <a:pt x="1879173" y="784710"/>
                  </a:cubicBezTo>
                  <a:lnTo>
                    <a:pt x="1963727" y="869264"/>
                  </a:lnTo>
                  <a:lnTo>
                    <a:pt x="1651313" y="869264"/>
                  </a:lnTo>
                  <a:cubicBezTo>
                    <a:pt x="1635403" y="468217"/>
                    <a:pt x="1304359" y="146835"/>
                    <a:pt x="899493" y="146835"/>
                  </a:cubicBezTo>
                  <a:cubicBezTo>
                    <a:pt x="494627" y="146835"/>
                    <a:pt x="146864" y="484474"/>
                    <a:pt x="146864" y="899464"/>
                  </a:cubicBezTo>
                  <a:cubicBezTo>
                    <a:pt x="146864" y="1314455"/>
                    <a:pt x="484474" y="1652065"/>
                    <a:pt x="899464" y="1652065"/>
                  </a:cubicBezTo>
                  <a:cubicBezTo>
                    <a:pt x="1251972" y="1652065"/>
                    <a:pt x="1556778" y="1406964"/>
                    <a:pt x="1633638" y="1065710"/>
                  </a:cubicBezTo>
                  <a:lnTo>
                    <a:pt x="1722156" y="1065710"/>
                  </a:lnTo>
                  <a:cubicBezTo>
                    <a:pt x="1643936" y="1457703"/>
                    <a:pt x="1303404" y="1738558"/>
                    <a:pt x="899464" y="1738558"/>
                  </a:cubicBezTo>
                  <a:cubicBezTo>
                    <a:pt x="436773" y="1738558"/>
                    <a:pt x="60342" y="1362127"/>
                    <a:pt x="60342" y="899436"/>
                  </a:cubicBezTo>
                  <a:cubicBezTo>
                    <a:pt x="60342" y="436744"/>
                    <a:pt x="436773" y="60342"/>
                    <a:pt x="899464" y="60342"/>
                  </a:cubicBezTo>
                  <a:cubicBezTo>
                    <a:pt x="1315265" y="60342"/>
                    <a:pt x="1663867" y="357975"/>
                    <a:pt x="1728346" y="768077"/>
                  </a:cubicBezTo>
                  <a:cubicBezTo>
                    <a:pt x="1730949" y="784536"/>
                    <a:pt x="1746512" y="795789"/>
                    <a:pt x="1762827" y="793186"/>
                  </a:cubicBezTo>
                  <a:cubicBezTo>
                    <a:pt x="1779287" y="790611"/>
                    <a:pt x="1790540" y="775164"/>
                    <a:pt x="1787965" y="758704"/>
                  </a:cubicBezTo>
                  <a:cubicBezTo>
                    <a:pt x="1755046" y="549300"/>
                    <a:pt x="1648044" y="357339"/>
                    <a:pt x="1486688" y="218141"/>
                  </a:cubicBezTo>
                  <a:cubicBezTo>
                    <a:pt x="1323625" y="77467"/>
                    <a:pt x="1115088" y="0"/>
                    <a:pt x="899464" y="0"/>
                  </a:cubicBezTo>
                  <a:cubicBezTo>
                    <a:pt x="403506" y="0"/>
                    <a:pt x="0" y="403506"/>
                    <a:pt x="0" y="899464"/>
                  </a:cubicBezTo>
                  <a:cubicBezTo>
                    <a:pt x="0" y="1395423"/>
                    <a:pt x="403506" y="1798929"/>
                    <a:pt x="899464" y="1798929"/>
                  </a:cubicBezTo>
                  <a:cubicBezTo>
                    <a:pt x="1115088" y="1798929"/>
                    <a:pt x="1323625" y="1721462"/>
                    <a:pt x="1486717" y="1580788"/>
                  </a:cubicBezTo>
                  <a:cubicBezTo>
                    <a:pt x="1648073" y="1441590"/>
                    <a:pt x="1755046" y="1249629"/>
                    <a:pt x="1787994" y="1040225"/>
                  </a:cubicBezTo>
                  <a:cubicBezTo>
                    <a:pt x="1789354" y="1031517"/>
                    <a:pt x="1786837" y="1022637"/>
                    <a:pt x="1781109" y="1015926"/>
                  </a:cubicBezTo>
                  <a:cubicBezTo>
                    <a:pt x="1775382" y="1009215"/>
                    <a:pt x="1766993" y="1005367"/>
                    <a:pt x="1758170" y="1005367"/>
                  </a:cubicBezTo>
                  <a:lnTo>
                    <a:pt x="1609108" y="1005367"/>
                  </a:lnTo>
                  <a:cubicBezTo>
                    <a:pt x="1594615" y="1005367"/>
                    <a:pt x="1582177" y="1015665"/>
                    <a:pt x="1579457" y="1029898"/>
                  </a:cubicBezTo>
                  <a:cubicBezTo>
                    <a:pt x="1517408" y="1355445"/>
                    <a:pt x="1231434" y="1591723"/>
                    <a:pt x="899464" y="1591723"/>
                  </a:cubicBezTo>
                  <a:cubicBezTo>
                    <a:pt x="517740" y="1591723"/>
                    <a:pt x="207206" y="1281189"/>
                    <a:pt x="207206" y="899464"/>
                  </a:cubicBezTo>
                  <a:cubicBezTo>
                    <a:pt x="207206" y="517740"/>
                    <a:pt x="517769" y="207206"/>
                    <a:pt x="899464" y="207206"/>
                  </a:cubicBezTo>
                  <a:cubicBezTo>
                    <a:pt x="1281159" y="207206"/>
                    <a:pt x="1591723" y="517740"/>
                    <a:pt x="1591723" y="899464"/>
                  </a:cubicBezTo>
                  <a:cubicBezTo>
                    <a:pt x="1591723" y="916127"/>
                    <a:pt x="1605231" y="929636"/>
                    <a:pt x="1621894" y="929636"/>
                  </a:cubicBezTo>
                  <a:lnTo>
                    <a:pt x="1963727" y="929636"/>
                  </a:lnTo>
                  <a:lnTo>
                    <a:pt x="1879173" y="1014190"/>
                  </a:lnTo>
                  <a:cubicBezTo>
                    <a:pt x="1867399" y="1025963"/>
                    <a:pt x="1867399" y="1045084"/>
                    <a:pt x="1879173" y="1056858"/>
                  </a:cubicBezTo>
                  <a:cubicBezTo>
                    <a:pt x="1885074" y="1062759"/>
                    <a:pt x="1892797" y="1065710"/>
                    <a:pt x="1900521" y="1065710"/>
                  </a:cubicBezTo>
                  <a:cubicBezTo>
                    <a:pt x="1908245" y="1065710"/>
                    <a:pt x="1915968" y="1062759"/>
                    <a:pt x="1921869" y="1056887"/>
                  </a:cubicBezTo>
                  <a:lnTo>
                    <a:pt x="2057943" y="920813"/>
                  </a:lnTo>
                  <a:lnTo>
                    <a:pt x="2057943" y="920813"/>
                  </a:lnTo>
                  <a:cubicBezTo>
                    <a:pt x="2059332" y="919424"/>
                    <a:pt x="2060576" y="917891"/>
                    <a:pt x="2061675" y="916242"/>
                  </a:cubicBezTo>
                  <a:close/>
                </a:path>
              </a:pathLst>
            </a:custGeom>
            <a:solidFill>
              <a:srgbClr val="FF2BE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131" name="Group 130">
              <a:extLst>
                <a:ext uri="{FF2B5EF4-FFF2-40B4-BE49-F238E27FC236}">
                  <a16:creationId xmlns:a16="http://schemas.microsoft.com/office/drawing/2014/main" id="{3D3E538B-1DCA-B014-BB3E-3FC65DDFCADD}"/>
                </a:ext>
              </a:extLst>
            </p:cNvPr>
            <p:cNvGrpSpPr/>
            <p:nvPr/>
          </p:nvGrpSpPr>
          <p:grpSpPr>
            <a:xfrm>
              <a:off x="632329" y="2871228"/>
              <a:ext cx="509908" cy="405716"/>
              <a:chOff x="7631283" y="486501"/>
              <a:chExt cx="1292491" cy="1028389"/>
            </a:xfrm>
          </p:grpSpPr>
          <p:sp>
            <p:nvSpPr>
              <p:cNvPr id="129" name="Rectangle 128">
                <a:extLst>
                  <a:ext uri="{FF2B5EF4-FFF2-40B4-BE49-F238E27FC236}">
                    <a16:creationId xmlns:a16="http://schemas.microsoft.com/office/drawing/2014/main" id="{CE260057-E468-D619-F196-2748A1CE454B}"/>
                  </a:ext>
                </a:extLst>
              </p:cNvPr>
              <p:cNvSpPr/>
              <p:nvPr/>
            </p:nvSpPr>
            <p:spPr>
              <a:xfrm>
                <a:off x="7803479" y="738443"/>
                <a:ext cx="266737" cy="440532"/>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130" name="Rectangle 129">
                <a:extLst>
                  <a:ext uri="{FF2B5EF4-FFF2-40B4-BE49-F238E27FC236}">
                    <a16:creationId xmlns:a16="http://schemas.microsoft.com/office/drawing/2014/main" id="{85312813-77B4-3E36-CAF4-DEE554E69FC5}"/>
                  </a:ext>
                </a:extLst>
              </p:cNvPr>
              <p:cNvSpPr/>
              <p:nvPr/>
            </p:nvSpPr>
            <p:spPr>
              <a:xfrm>
                <a:off x="8267632" y="738441"/>
                <a:ext cx="269279" cy="391138"/>
              </a:xfrm>
              <a:custGeom>
                <a:avLst/>
                <a:gdLst>
                  <a:gd name="connsiteX0" fmla="*/ 0 w 266738"/>
                  <a:gd name="connsiteY0" fmla="*/ 0 h 440532"/>
                  <a:gd name="connsiteX1" fmla="*/ 266738 w 266738"/>
                  <a:gd name="connsiteY1" fmla="*/ 0 h 440532"/>
                  <a:gd name="connsiteX2" fmla="*/ 266738 w 266738"/>
                  <a:gd name="connsiteY2" fmla="*/ 440532 h 440532"/>
                  <a:gd name="connsiteX3" fmla="*/ 0 w 266738"/>
                  <a:gd name="connsiteY3" fmla="*/ 440532 h 440532"/>
                  <a:gd name="connsiteX4" fmla="*/ 0 w 266738"/>
                  <a:gd name="connsiteY4" fmla="*/ 0 h 440532"/>
                  <a:gd name="connsiteX0" fmla="*/ 0 w 266738"/>
                  <a:gd name="connsiteY0" fmla="*/ 0 h 440532"/>
                  <a:gd name="connsiteX1" fmla="*/ 266738 w 266738"/>
                  <a:gd name="connsiteY1" fmla="*/ 0 h 440532"/>
                  <a:gd name="connsiteX2" fmla="*/ 264097 w 266738"/>
                  <a:gd name="connsiteY2" fmla="*/ 242633 h 440532"/>
                  <a:gd name="connsiteX3" fmla="*/ 266738 w 266738"/>
                  <a:gd name="connsiteY3" fmla="*/ 440532 h 440532"/>
                  <a:gd name="connsiteX4" fmla="*/ 0 w 266738"/>
                  <a:gd name="connsiteY4" fmla="*/ 440532 h 440532"/>
                  <a:gd name="connsiteX5" fmla="*/ 0 w 266738"/>
                  <a:gd name="connsiteY5" fmla="*/ 0 h 440532"/>
                  <a:gd name="connsiteX0" fmla="*/ 0 w 268990"/>
                  <a:gd name="connsiteY0" fmla="*/ 0 h 440532"/>
                  <a:gd name="connsiteX1" fmla="*/ 266738 w 268990"/>
                  <a:gd name="connsiteY1" fmla="*/ 0 h 440532"/>
                  <a:gd name="connsiteX2" fmla="*/ 268860 w 268990"/>
                  <a:gd name="connsiteY2" fmla="*/ 237871 h 440532"/>
                  <a:gd name="connsiteX3" fmla="*/ 266738 w 268990"/>
                  <a:gd name="connsiteY3" fmla="*/ 440532 h 440532"/>
                  <a:gd name="connsiteX4" fmla="*/ 0 w 268990"/>
                  <a:gd name="connsiteY4" fmla="*/ 440532 h 440532"/>
                  <a:gd name="connsiteX5" fmla="*/ 0 w 268990"/>
                  <a:gd name="connsiteY5" fmla="*/ 0 h 440532"/>
                  <a:gd name="connsiteX0" fmla="*/ 266738 w 358178"/>
                  <a:gd name="connsiteY0" fmla="*/ 440532 h 531972"/>
                  <a:gd name="connsiteX1" fmla="*/ 0 w 358178"/>
                  <a:gd name="connsiteY1" fmla="*/ 440532 h 531972"/>
                  <a:gd name="connsiteX2" fmla="*/ 0 w 358178"/>
                  <a:gd name="connsiteY2" fmla="*/ 0 h 531972"/>
                  <a:gd name="connsiteX3" fmla="*/ 266738 w 358178"/>
                  <a:gd name="connsiteY3" fmla="*/ 0 h 531972"/>
                  <a:gd name="connsiteX4" fmla="*/ 268860 w 358178"/>
                  <a:gd name="connsiteY4" fmla="*/ 237871 h 531972"/>
                  <a:gd name="connsiteX5" fmla="*/ 358178 w 358178"/>
                  <a:gd name="connsiteY5" fmla="*/ 531972 h 531972"/>
                  <a:gd name="connsiteX0" fmla="*/ 266738 w 268990"/>
                  <a:gd name="connsiteY0" fmla="*/ 440532 h 440532"/>
                  <a:gd name="connsiteX1" fmla="*/ 0 w 268990"/>
                  <a:gd name="connsiteY1" fmla="*/ 440532 h 440532"/>
                  <a:gd name="connsiteX2" fmla="*/ 0 w 268990"/>
                  <a:gd name="connsiteY2" fmla="*/ 0 h 440532"/>
                  <a:gd name="connsiteX3" fmla="*/ 266738 w 268990"/>
                  <a:gd name="connsiteY3" fmla="*/ 0 h 440532"/>
                  <a:gd name="connsiteX4" fmla="*/ 268860 w 268990"/>
                  <a:gd name="connsiteY4" fmla="*/ 237871 h 440532"/>
                  <a:gd name="connsiteX0" fmla="*/ 0 w 268990"/>
                  <a:gd name="connsiteY0" fmla="*/ 440532 h 440532"/>
                  <a:gd name="connsiteX1" fmla="*/ 0 w 268990"/>
                  <a:gd name="connsiteY1" fmla="*/ 0 h 440532"/>
                  <a:gd name="connsiteX2" fmla="*/ 266738 w 268990"/>
                  <a:gd name="connsiteY2" fmla="*/ 0 h 440532"/>
                  <a:gd name="connsiteX3" fmla="*/ 268860 w 268990"/>
                  <a:gd name="connsiteY3" fmla="*/ 237871 h 440532"/>
                  <a:gd name="connsiteX0" fmla="*/ 0 w 273753"/>
                  <a:gd name="connsiteY0" fmla="*/ 361951 h 361951"/>
                  <a:gd name="connsiteX1" fmla="*/ 4763 w 273753"/>
                  <a:gd name="connsiteY1" fmla="*/ 0 h 361951"/>
                  <a:gd name="connsiteX2" fmla="*/ 271501 w 273753"/>
                  <a:gd name="connsiteY2" fmla="*/ 0 h 361951"/>
                  <a:gd name="connsiteX3" fmla="*/ 273623 w 273753"/>
                  <a:gd name="connsiteY3" fmla="*/ 237871 h 361951"/>
                  <a:gd name="connsiteX0" fmla="*/ 2670 w 269279"/>
                  <a:gd name="connsiteY0" fmla="*/ 361951 h 361951"/>
                  <a:gd name="connsiteX1" fmla="*/ 289 w 269279"/>
                  <a:gd name="connsiteY1" fmla="*/ 0 h 361951"/>
                  <a:gd name="connsiteX2" fmla="*/ 267027 w 269279"/>
                  <a:gd name="connsiteY2" fmla="*/ 0 h 361951"/>
                  <a:gd name="connsiteX3" fmla="*/ 269149 w 269279"/>
                  <a:gd name="connsiteY3" fmla="*/ 237871 h 361951"/>
                </a:gdLst>
                <a:ahLst/>
                <a:cxnLst>
                  <a:cxn ang="0">
                    <a:pos x="connsiteX0" y="connsiteY0"/>
                  </a:cxn>
                  <a:cxn ang="0">
                    <a:pos x="connsiteX1" y="connsiteY1"/>
                  </a:cxn>
                  <a:cxn ang="0">
                    <a:pos x="connsiteX2" y="connsiteY2"/>
                  </a:cxn>
                  <a:cxn ang="0">
                    <a:pos x="connsiteX3" y="connsiteY3"/>
                  </a:cxn>
                </a:cxnLst>
                <a:rect l="l" t="t" r="r" b="b"/>
                <a:pathLst>
                  <a:path w="269279" h="361951">
                    <a:moveTo>
                      <a:pt x="2670" y="361951"/>
                    </a:moveTo>
                    <a:cubicBezTo>
                      <a:pt x="4258" y="241301"/>
                      <a:pt x="-1299" y="120650"/>
                      <a:pt x="289" y="0"/>
                    </a:cubicBezTo>
                    <a:lnTo>
                      <a:pt x="267027" y="0"/>
                    </a:lnTo>
                    <a:cubicBezTo>
                      <a:pt x="266147" y="80878"/>
                      <a:pt x="270029" y="156993"/>
                      <a:pt x="269149" y="237871"/>
                    </a:cubicBezTo>
                  </a:path>
                </a:pathLst>
              </a:cu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110" name="Freeform: Shape 109">
                <a:extLst>
                  <a:ext uri="{FF2B5EF4-FFF2-40B4-BE49-F238E27FC236}">
                    <a16:creationId xmlns:a16="http://schemas.microsoft.com/office/drawing/2014/main" id="{E5805B66-5065-A877-90C6-F684628B2A99}"/>
                  </a:ext>
                </a:extLst>
              </p:cNvPr>
              <p:cNvSpPr/>
              <p:nvPr/>
            </p:nvSpPr>
            <p:spPr>
              <a:xfrm>
                <a:off x="8612404" y="794735"/>
                <a:ext cx="8500" cy="161508"/>
              </a:xfrm>
              <a:custGeom>
                <a:avLst/>
                <a:gdLst>
                  <a:gd name="connsiteX0" fmla="*/ 0 w 2286"/>
                  <a:gd name="connsiteY0" fmla="*/ 0 h 43434"/>
                  <a:gd name="connsiteX1" fmla="*/ 0 w 2286"/>
                  <a:gd name="connsiteY1" fmla="*/ 43434 h 43434"/>
                </a:gdLst>
                <a:ahLst/>
                <a:cxnLst>
                  <a:cxn ang="0">
                    <a:pos x="connsiteX0" y="connsiteY0"/>
                  </a:cxn>
                  <a:cxn ang="0">
                    <a:pos x="connsiteX1" y="connsiteY1"/>
                  </a:cxn>
                </a:cxnLst>
                <a:rect l="l" t="t" r="r" b="b"/>
                <a:pathLst>
                  <a:path w="2286" h="43434">
                    <a:moveTo>
                      <a:pt x="0" y="0"/>
                    </a:moveTo>
                    <a:lnTo>
                      <a:pt x="0" y="43434"/>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11" name="Freeform: Shape 110">
                <a:extLst>
                  <a:ext uri="{FF2B5EF4-FFF2-40B4-BE49-F238E27FC236}">
                    <a16:creationId xmlns:a16="http://schemas.microsoft.com/office/drawing/2014/main" id="{F31E2D1E-8A47-ECBC-4117-1AE39AE2BDBF}"/>
                  </a:ext>
                </a:extLst>
              </p:cNvPr>
              <p:cNvSpPr/>
              <p:nvPr/>
            </p:nvSpPr>
            <p:spPr>
              <a:xfrm>
                <a:off x="8612404" y="1011752"/>
                <a:ext cx="8500" cy="53464"/>
              </a:xfrm>
              <a:custGeom>
                <a:avLst/>
                <a:gdLst>
                  <a:gd name="connsiteX0" fmla="*/ 0 w 2286"/>
                  <a:gd name="connsiteY0" fmla="*/ 0 h 14378"/>
                  <a:gd name="connsiteX1" fmla="*/ 0 w 2286"/>
                  <a:gd name="connsiteY1" fmla="*/ 14379 h 14378"/>
                </a:gdLst>
                <a:ahLst/>
                <a:cxnLst>
                  <a:cxn ang="0">
                    <a:pos x="connsiteX0" y="connsiteY0"/>
                  </a:cxn>
                  <a:cxn ang="0">
                    <a:pos x="connsiteX1" y="connsiteY1"/>
                  </a:cxn>
                </a:cxnLst>
                <a:rect l="l" t="t" r="r" b="b"/>
                <a:pathLst>
                  <a:path w="2286" h="14378">
                    <a:moveTo>
                      <a:pt x="0" y="0"/>
                    </a:moveTo>
                    <a:lnTo>
                      <a:pt x="0" y="14379"/>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12" name="Freeform: Shape 111">
                <a:extLst>
                  <a:ext uri="{FF2B5EF4-FFF2-40B4-BE49-F238E27FC236}">
                    <a16:creationId xmlns:a16="http://schemas.microsoft.com/office/drawing/2014/main" id="{941EA096-6533-C107-F284-E53C40471EB6}"/>
                  </a:ext>
                </a:extLst>
              </p:cNvPr>
              <p:cNvSpPr/>
              <p:nvPr/>
            </p:nvSpPr>
            <p:spPr>
              <a:xfrm>
                <a:off x="8233113" y="1173941"/>
                <a:ext cx="161508" cy="8500"/>
              </a:xfrm>
              <a:custGeom>
                <a:avLst/>
                <a:gdLst>
                  <a:gd name="connsiteX0" fmla="*/ 0 w 43434"/>
                  <a:gd name="connsiteY0" fmla="*/ 0 h 2286"/>
                  <a:gd name="connsiteX1" fmla="*/ 43434 w 43434"/>
                  <a:gd name="connsiteY1" fmla="*/ 0 h 2286"/>
                </a:gdLst>
                <a:ahLst/>
                <a:cxnLst>
                  <a:cxn ang="0">
                    <a:pos x="connsiteX0" y="connsiteY0"/>
                  </a:cxn>
                  <a:cxn ang="0">
                    <a:pos x="connsiteX1" y="connsiteY1"/>
                  </a:cxn>
                </a:cxnLst>
                <a:rect l="l" t="t" r="r" b="b"/>
                <a:pathLst>
                  <a:path w="43434" h="2286">
                    <a:moveTo>
                      <a:pt x="0" y="0"/>
                    </a:moveTo>
                    <a:lnTo>
                      <a:pt x="43434" y="0"/>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13" name="Freeform: Shape 112">
                <a:extLst>
                  <a:ext uri="{FF2B5EF4-FFF2-40B4-BE49-F238E27FC236}">
                    <a16:creationId xmlns:a16="http://schemas.microsoft.com/office/drawing/2014/main" id="{EC2E2238-A5EF-765A-2D7F-7FDAE80421E1}"/>
                  </a:ext>
                </a:extLst>
              </p:cNvPr>
              <p:cNvSpPr/>
              <p:nvPr/>
            </p:nvSpPr>
            <p:spPr>
              <a:xfrm>
                <a:off x="8450130" y="1173941"/>
                <a:ext cx="53550" cy="8500"/>
              </a:xfrm>
              <a:custGeom>
                <a:avLst/>
                <a:gdLst>
                  <a:gd name="connsiteX0" fmla="*/ 0 w 14401"/>
                  <a:gd name="connsiteY0" fmla="*/ 0 h 2286"/>
                  <a:gd name="connsiteX1" fmla="*/ 14402 w 14401"/>
                  <a:gd name="connsiteY1" fmla="*/ 0 h 2286"/>
                </a:gdLst>
                <a:ahLst/>
                <a:cxnLst>
                  <a:cxn ang="0">
                    <a:pos x="connsiteX0" y="connsiteY0"/>
                  </a:cxn>
                  <a:cxn ang="0">
                    <a:pos x="connsiteX1" y="connsiteY1"/>
                  </a:cxn>
                </a:cxnLst>
                <a:rect l="l" t="t" r="r" b="b"/>
                <a:pathLst>
                  <a:path w="14401" h="2286">
                    <a:moveTo>
                      <a:pt x="0" y="0"/>
                    </a:moveTo>
                    <a:lnTo>
                      <a:pt x="14402" y="0"/>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14" name="Freeform: Shape 113">
                <a:extLst>
                  <a:ext uri="{FF2B5EF4-FFF2-40B4-BE49-F238E27FC236}">
                    <a16:creationId xmlns:a16="http://schemas.microsoft.com/office/drawing/2014/main" id="{E15BFD83-81E3-5F86-709B-12E49021E7CF}"/>
                  </a:ext>
                </a:extLst>
              </p:cNvPr>
              <p:cNvSpPr/>
              <p:nvPr/>
            </p:nvSpPr>
            <p:spPr>
              <a:xfrm>
                <a:off x="8344213" y="905836"/>
                <a:ext cx="114157" cy="114157"/>
              </a:xfrm>
              <a:custGeom>
                <a:avLst/>
                <a:gdLst>
                  <a:gd name="connsiteX0" fmla="*/ 0 w 30700"/>
                  <a:gd name="connsiteY0" fmla="*/ 0 h 30700"/>
                  <a:gd name="connsiteX1" fmla="*/ 30701 w 30700"/>
                  <a:gd name="connsiteY1" fmla="*/ 30701 h 30700"/>
                </a:gdLst>
                <a:ahLst/>
                <a:cxnLst>
                  <a:cxn ang="0">
                    <a:pos x="connsiteX0" y="connsiteY0"/>
                  </a:cxn>
                  <a:cxn ang="0">
                    <a:pos x="connsiteX1" y="connsiteY1"/>
                  </a:cxn>
                </a:cxnLst>
                <a:rect l="l" t="t" r="r" b="b"/>
                <a:pathLst>
                  <a:path w="30700" h="30700">
                    <a:moveTo>
                      <a:pt x="0" y="0"/>
                    </a:moveTo>
                    <a:lnTo>
                      <a:pt x="30701" y="30701"/>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15" name="Freeform: Shape 114">
                <a:extLst>
                  <a:ext uri="{FF2B5EF4-FFF2-40B4-BE49-F238E27FC236}">
                    <a16:creationId xmlns:a16="http://schemas.microsoft.com/office/drawing/2014/main" id="{F0D023CF-1950-3CF9-1004-C881C9030134}"/>
                  </a:ext>
                </a:extLst>
              </p:cNvPr>
              <p:cNvSpPr/>
              <p:nvPr/>
            </p:nvSpPr>
            <p:spPr>
              <a:xfrm>
                <a:off x="8497648" y="1059267"/>
                <a:ext cx="37824" cy="37824"/>
              </a:xfrm>
              <a:custGeom>
                <a:avLst/>
                <a:gdLst>
                  <a:gd name="connsiteX0" fmla="*/ 10173 w 10172"/>
                  <a:gd name="connsiteY0" fmla="*/ 10173 h 10172"/>
                  <a:gd name="connsiteX1" fmla="*/ 0 w 10172"/>
                  <a:gd name="connsiteY1" fmla="*/ 0 h 10172"/>
                </a:gdLst>
                <a:ahLst/>
                <a:cxnLst>
                  <a:cxn ang="0">
                    <a:pos x="connsiteX0" y="connsiteY0"/>
                  </a:cxn>
                  <a:cxn ang="0">
                    <a:pos x="connsiteX1" y="connsiteY1"/>
                  </a:cxn>
                </a:cxnLst>
                <a:rect l="l" t="t" r="r" b="b"/>
                <a:pathLst>
                  <a:path w="10172" h="10172">
                    <a:moveTo>
                      <a:pt x="10173" y="10173"/>
                    </a:moveTo>
                    <a:lnTo>
                      <a:pt x="0" y="0"/>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16" name="Freeform: Shape 115">
                <a:extLst>
                  <a:ext uri="{FF2B5EF4-FFF2-40B4-BE49-F238E27FC236}">
                    <a16:creationId xmlns:a16="http://schemas.microsoft.com/office/drawing/2014/main" id="{221EDB89-7402-2FFA-3916-B30E3F5D68B4}"/>
                  </a:ext>
                </a:extLst>
              </p:cNvPr>
              <p:cNvSpPr/>
              <p:nvPr/>
            </p:nvSpPr>
            <p:spPr>
              <a:xfrm>
                <a:off x="8689246" y="1059267"/>
                <a:ext cx="37824" cy="37824"/>
              </a:xfrm>
              <a:custGeom>
                <a:avLst/>
                <a:gdLst>
                  <a:gd name="connsiteX0" fmla="*/ 0 w 10172"/>
                  <a:gd name="connsiteY0" fmla="*/ 10173 h 10172"/>
                  <a:gd name="connsiteX1" fmla="*/ 10173 w 10172"/>
                  <a:gd name="connsiteY1" fmla="*/ 0 h 10172"/>
                </a:gdLst>
                <a:ahLst/>
                <a:cxnLst>
                  <a:cxn ang="0">
                    <a:pos x="connsiteX0" y="connsiteY0"/>
                  </a:cxn>
                  <a:cxn ang="0">
                    <a:pos x="connsiteX1" y="connsiteY1"/>
                  </a:cxn>
                </a:cxnLst>
                <a:rect l="l" t="t" r="r" b="b"/>
                <a:pathLst>
                  <a:path w="10172" h="10172">
                    <a:moveTo>
                      <a:pt x="0" y="10173"/>
                    </a:moveTo>
                    <a:lnTo>
                      <a:pt x="10173" y="0"/>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17" name="Freeform: Shape 116">
                <a:extLst>
                  <a:ext uri="{FF2B5EF4-FFF2-40B4-BE49-F238E27FC236}">
                    <a16:creationId xmlns:a16="http://schemas.microsoft.com/office/drawing/2014/main" id="{607E6340-AB92-C59C-60A8-43148CE9C132}"/>
                  </a:ext>
                </a:extLst>
              </p:cNvPr>
              <p:cNvSpPr/>
              <p:nvPr/>
            </p:nvSpPr>
            <p:spPr>
              <a:xfrm>
                <a:off x="8766344" y="905836"/>
                <a:ext cx="114157" cy="114157"/>
              </a:xfrm>
              <a:custGeom>
                <a:avLst/>
                <a:gdLst>
                  <a:gd name="connsiteX0" fmla="*/ 0 w 30700"/>
                  <a:gd name="connsiteY0" fmla="*/ 30701 h 30700"/>
                  <a:gd name="connsiteX1" fmla="*/ 30701 w 30700"/>
                  <a:gd name="connsiteY1" fmla="*/ 0 h 30700"/>
                </a:gdLst>
                <a:ahLst/>
                <a:cxnLst>
                  <a:cxn ang="0">
                    <a:pos x="connsiteX0" y="connsiteY0"/>
                  </a:cxn>
                  <a:cxn ang="0">
                    <a:pos x="connsiteX1" y="connsiteY1"/>
                  </a:cxn>
                </a:cxnLst>
                <a:rect l="l" t="t" r="r" b="b"/>
                <a:pathLst>
                  <a:path w="30700" h="30700">
                    <a:moveTo>
                      <a:pt x="0" y="30701"/>
                    </a:moveTo>
                    <a:lnTo>
                      <a:pt x="30701" y="0"/>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18" name="Freeform: Shape 117">
                <a:extLst>
                  <a:ext uri="{FF2B5EF4-FFF2-40B4-BE49-F238E27FC236}">
                    <a16:creationId xmlns:a16="http://schemas.microsoft.com/office/drawing/2014/main" id="{AF3EA51D-DA3E-1FBD-429A-0647846C863A}"/>
                  </a:ext>
                </a:extLst>
              </p:cNvPr>
              <p:cNvSpPr/>
              <p:nvPr/>
            </p:nvSpPr>
            <p:spPr>
              <a:xfrm>
                <a:off x="8497648" y="1250868"/>
                <a:ext cx="37824" cy="37824"/>
              </a:xfrm>
              <a:custGeom>
                <a:avLst/>
                <a:gdLst>
                  <a:gd name="connsiteX0" fmla="*/ 0 w 10172"/>
                  <a:gd name="connsiteY0" fmla="*/ 10173 h 10172"/>
                  <a:gd name="connsiteX1" fmla="*/ 10173 w 10172"/>
                  <a:gd name="connsiteY1" fmla="*/ 0 h 10172"/>
                </a:gdLst>
                <a:ahLst/>
                <a:cxnLst>
                  <a:cxn ang="0">
                    <a:pos x="connsiteX0" y="connsiteY0"/>
                  </a:cxn>
                  <a:cxn ang="0">
                    <a:pos x="connsiteX1" y="connsiteY1"/>
                  </a:cxn>
                </a:cxnLst>
                <a:rect l="l" t="t" r="r" b="b"/>
                <a:pathLst>
                  <a:path w="10172" h="10172">
                    <a:moveTo>
                      <a:pt x="0" y="10173"/>
                    </a:moveTo>
                    <a:lnTo>
                      <a:pt x="10173" y="0"/>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19" name="Freeform: Shape 118">
                <a:extLst>
                  <a:ext uri="{FF2B5EF4-FFF2-40B4-BE49-F238E27FC236}">
                    <a16:creationId xmlns:a16="http://schemas.microsoft.com/office/drawing/2014/main" id="{307D840B-1D1D-5ECD-E78D-D81EDADBE284}"/>
                  </a:ext>
                </a:extLst>
              </p:cNvPr>
              <p:cNvSpPr/>
              <p:nvPr/>
            </p:nvSpPr>
            <p:spPr>
              <a:xfrm>
                <a:off x="8344213" y="1327967"/>
                <a:ext cx="114157" cy="114157"/>
              </a:xfrm>
              <a:custGeom>
                <a:avLst/>
                <a:gdLst>
                  <a:gd name="connsiteX0" fmla="*/ 30701 w 30700"/>
                  <a:gd name="connsiteY0" fmla="*/ 0 h 30700"/>
                  <a:gd name="connsiteX1" fmla="*/ 0 w 30700"/>
                  <a:gd name="connsiteY1" fmla="*/ 30701 h 30700"/>
                </a:gdLst>
                <a:ahLst/>
                <a:cxnLst>
                  <a:cxn ang="0">
                    <a:pos x="connsiteX0" y="connsiteY0"/>
                  </a:cxn>
                  <a:cxn ang="0">
                    <a:pos x="connsiteX1" y="connsiteY1"/>
                  </a:cxn>
                </a:cxnLst>
                <a:rect l="l" t="t" r="r" b="b"/>
                <a:pathLst>
                  <a:path w="30700" h="30700">
                    <a:moveTo>
                      <a:pt x="30701" y="0"/>
                    </a:moveTo>
                    <a:lnTo>
                      <a:pt x="0" y="30701"/>
                    </a:lnTo>
                  </a:path>
                </a:pathLst>
              </a:custGeom>
              <a:ln w="15875" cap="flat">
                <a:solidFill>
                  <a:srgbClr val="FF2BEF"/>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20" name="Freeform: Shape 119">
                <a:extLst>
                  <a:ext uri="{FF2B5EF4-FFF2-40B4-BE49-F238E27FC236}">
                    <a16:creationId xmlns:a16="http://schemas.microsoft.com/office/drawing/2014/main" id="{B3B0CB56-76AF-6FCC-B942-4A636A99B6BD}"/>
                  </a:ext>
                </a:extLst>
              </p:cNvPr>
              <p:cNvSpPr/>
              <p:nvPr/>
            </p:nvSpPr>
            <p:spPr>
              <a:xfrm>
                <a:off x="8571687" y="1122938"/>
                <a:ext cx="352087" cy="391952"/>
              </a:xfrm>
              <a:custGeom>
                <a:avLst/>
                <a:gdLst>
                  <a:gd name="connsiteX0" fmla="*/ 58042 w 94686"/>
                  <a:gd name="connsiteY0" fmla="*/ 49172 h 105407"/>
                  <a:gd name="connsiteX1" fmla="*/ 94686 w 94686"/>
                  <a:gd name="connsiteY1" fmla="*/ 40805 h 105407"/>
                  <a:gd name="connsiteX2" fmla="*/ 0 w 94686"/>
                  <a:gd name="connsiteY2" fmla="*/ 0 h 105407"/>
                  <a:gd name="connsiteX3" fmla="*/ 22837 w 94686"/>
                  <a:gd name="connsiteY3" fmla="*/ 100515 h 105407"/>
                  <a:gd name="connsiteX4" fmla="*/ 37673 w 94686"/>
                  <a:gd name="connsiteY4" fmla="*/ 66043 h 105407"/>
                  <a:gd name="connsiteX5" fmla="*/ 37696 w 94686"/>
                  <a:gd name="connsiteY5" fmla="*/ 66043 h 105407"/>
                  <a:gd name="connsiteX6" fmla="*/ 57401 w 94686"/>
                  <a:gd name="connsiteY6" fmla="*/ 89771 h 105407"/>
                  <a:gd name="connsiteX7" fmla="*/ 70409 w 94686"/>
                  <a:gd name="connsiteY7" fmla="*/ 105407 h 105407"/>
                  <a:gd name="connsiteX8" fmla="*/ 78227 w 94686"/>
                  <a:gd name="connsiteY8" fmla="*/ 98870 h 105407"/>
                  <a:gd name="connsiteX9" fmla="*/ 90754 w 94686"/>
                  <a:gd name="connsiteY9" fmla="*/ 88468 h 105407"/>
                  <a:gd name="connsiteX10" fmla="*/ 78227 w 94686"/>
                  <a:gd name="connsiteY10" fmla="*/ 73426 h 105407"/>
                  <a:gd name="connsiteX11" fmla="*/ 58042 w 94686"/>
                  <a:gd name="connsiteY11" fmla="*/ 49126 h 105407"/>
                  <a:gd name="connsiteX12" fmla="*/ 58042 w 94686"/>
                  <a:gd name="connsiteY12" fmla="*/ 49172 h 105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686" h="105407">
                    <a:moveTo>
                      <a:pt x="58042" y="49172"/>
                    </a:moveTo>
                    <a:lnTo>
                      <a:pt x="94686" y="40805"/>
                    </a:lnTo>
                    <a:lnTo>
                      <a:pt x="0" y="0"/>
                    </a:lnTo>
                    <a:lnTo>
                      <a:pt x="22837" y="100515"/>
                    </a:lnTo>
                    <a:lnTo>
                      <a:pt x="37673" y="66043"/>
                    </a:lnTo>
                    <a:lnTo>
                      <a:pt x="37696" y="66043"/>
                    </a:lnTo>
                    <a:lnTo>
                      <a:pt x="57401" y="89771"/>
                    </a:lnTo>
                    <a:lnTo>
                      <a:pt x="70409" y="105407"/>
                    </a:lnTo>
                    <a:lnTo>
                      <a:pt x="78227" y="98870"/>
                    </a:lnTo>
                    <a:lnTo>
                      <a:pt x="90754" y="88468"/>
                    </a:lnTo>
                    <a:lnTo>
                      <a:pt x="78227" y="73426"/>
                    </a:lnTo>
                    <a:lnTo>
                      <a:pt x="58042" y="49126"/>
                    </a:lnTo>
                    <a:lnTo>
                      <a:pt x="58042" y="49172"/>
                    </a:lnTo>
                    <a:close/>
                  </a:path>
                </a:pathLst>
              </a:custGeom>
              <a:noFill/>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25" name="Freeform: Shape 124">
                <a:extLst>
                  <a:ext uri="{FF2B5EF4-FFF2-40B4-BE49-F238E27FC236}">
                    <a16:creationId xmlns:a16="http://schemas.microsoft.com/office/drawing/2014/main" id="{E2A659A3-B87F-50F9-2D38-09F42E0B6290}"/>
                  </a:ext>
                </a:extLst>
              </p:cNvPr>
              <p:cNvSpPr/>
              <p:nvPr/>
            </p:nvSpPr>
            <p:spPr>
              <a:xfrm>
                <a:off x="8771446" y="1060874"/>
                <a:ext cx="8500" cy="71997"/>
              </a:xfrm>
              <a:custGeom>
                <a:avLst/>
                <a:gdLst>
                  <a:gd name="connsiteX0" fmla="*/ 0 w 2286"/>
                  <a:gd name="connsiteY0" fmla="*/ 0 h 19362"/>
                  <a:gd name="connsiteX1" fmla="*/ 0 w 2286"/>
                  <a:gd name="connsiteY1" fmla="*/ 19362 h 19362"/>
                </a:gdLst>
                <a:ahLst/>
                <a:cxnLst>
                  <a:cxn ang="0">
                    <a:pos x="connsiteX0" y="connsiteY0"/>
                  </a:cxn>
                  <a:cxn ang="0">
                    <a:pos x="connsiteX1" y="connsiteY1"/>
                  </a:cxn>
                </a:cxnLst>
                <a:rect l="l" t="t" r="r" b="b"/>
                <a:pathLst>
                  <a:path w="2286" h="19362">
                    <a:moveTo>
                      <a:pt x="0" y="0"/>
                    </a:moveTo>
                    <a:lnTo>
                      <a:pt x="0" y="19362"/>
                    </a:lnTo>
                  </a:path>
                </a:pathLst>
              </a:custGeom>
              <a:ln w="15875" cap="flat">
                <a:solidFill>
                  <a:srgbClr val="F1F2F2"/>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26" name="Freeform: Shape 125">
                <a:extLst>
                  <a:ext uri="{FF2B5EF4-FFF2-40B4-BE49-F238E27FC236}">
                    <a16:creationId xmlns:a16="http://schemas.microsoft.com/office/drawing/2014/main" id="{01364A97-1137-8BCF-F201-07737909F922}"/>
                  </a:ext>
                </a:extLst>
              </p:cNvPr>
              <p:cNvSpPr/>
              <p:nvPr/>
            </p:nvSpPr>
            <p:spPr>
              <a:xfrm>
                <a:off x="7631283" y="486501"/>
                <a:ext cx="1140583" cy="846553"/>
              </a:xfrm>
              <a:custGeom>
                <a:avLst/>
                <a:gdLst>
                  <a:gd name="connsiteX0" fmla="*/ 196596 w 306735"/>
                  <a:gd name="connsiteY0" fmla="*/ 227663 h 227662"/>
                  <a:gd name="connsiteX1" fmla="*/ 6264 w 306735"/>
                  <a:gd name="connsiteY1" fmla="*/ 227663 h 227662"/>
                  <a:gd name="connsiteX2" fmla="*/ 0 w 306735"/>
                  <a:gd name="connsiteY2" fmla="*/ 221285 h 227662"/>
                  <a:gd name="connsiteX3" fmla="*/ 0 w 306735"/>
                  <a:gd name="connsiteY3" fmla="*/ 6401 h 227662"/>
                  <a:gd name="connsiteX4" fmla="*/ 6355 w 306735"/>
                  <a:gd name="connsiteY4" fmla="*/ 0 h 227662"/>
                  <a:gd name="connsiteX5" fmla="*/ 6378 w 306735"/>
                  <a:gd name="connsiteY5" fmla="*/ 0 h 227662"/>
                  <a:gd name="connsiteX6" fmla="*/ 300358 w 306735"/>
                  <a:gd name="connsiteY6" fmla="*/ 0 h 227662"/>
                  <a:gd name="connsiteX7" fmla="*/ 306736 w 306735"/>
                  <a:gd name="connsiteY7" fmla="*/ 6378 h 227662"/>
                  <a:gd name="connsiteX8" fmla="*/ 306736 w 306735"/>
                  <a:gd name="connsiteY8" fmla="*/ 6401 h 227662"/>
                  <a:gd name="connsiteX9" fmla="*/ 306736 w 306735"/>
                  <a:gd name="connsiteY9" fmla="*/ 120701 h 227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735" h="227662">
                    <a:moveTo>
                      <a:pt x="196596" y="227663"/>
                    </a:moveTo>
                    <a:lnTo>
                      <a:pt x="6264" y="227663"/>
                    </a:lnTo>
                    <a:cubicBezTo>
                      <a:pt x="2786" y="227601"/>
                      <a:pt x="0" y="224764"/>
                      <a:pt x="0" y="221285"/>
                    </a:cubicBezTo>
                    <a:lnTo>
                      <a:pt x="0" y="6401"/>
                    </a:lnTo>
                    <a:cubicBezTo>
                      <a:pt x="-13" y="2878"/>
                      <a:pt x="2833" y="13"/>
                      <a:pt x="6355" y="0"/>
                    </a:cubicBezTo>
                    <a:cubicBezTo>
                      <a:pt x="6363" y="0"/>
                      <a:pt x="6370" y="0"/>
                      <a:pt x="6378" y="0"/>
                    </a:cubicBezTo>
                    <a:lnTo>
                      <a:pt x="300358" y="0"/>
                    </a:lnTo>
                    <a:cubicBezTo>
                      <a:pt x="303880" y="0"/>
                      <a:pt x="306736" y="2855"/>
                      <a:pt x="306736" y="6378"/>
                    </a:cubicBezTo>
                    <a:cubicBezTo>
                      <a:pt x="306736" y="6385"/>
                      <a:pt x="306736" y="6393"/>
                      <a:pt x="306736" y="6401"/>
                    </a:cubicBezTo>
                    <a:lnTo>
                      <a:pt x="306736" y="120701"/>
                    </a:lnTo>
                  </a:path>
                </a:pathLst>
              </a:custGeom>
              <a:noFill/>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27" name="Freeform: Shape 126">
                <a:extLst>
                  <a:ext uri="{FF2B5EF4-FFF2-40B4-BE49-F238E27FC236}">
                    <a16:creationId xmlns:a16="http://schemas.microsoft.com/office/drawing/2014/main" id="{62BE495F-DC94-F15D-5737-F67164015672}"/>
                  </a:ext>
                </a:extLst>
              </p:cNvPr>
              <p:cNvSpPr/>
              <p:nvPr/>
            </p:nvSpPr>
            <p:spPr>
              <a:xfrm>
                <a:off x="8513969" y="1333058"/>
                <a:ext cx="48024" cy="8500"/>
              </a:xfrm>
              <a:custGeom>
                <a:avLst/>
                <a:gdLst>
                  <a:gd name="connsiteX0" fmla="*/ 12916 w 12915"/>
                  <a:gd name="connsiteY0" fmla="*/ 0 h 2286"/>
                  <a:gd name="connsiteX1" fmla="*/ 12916 w 12915"/>
                  <a:gd name="connsiteY1" fmla="*/ 0 h 2286"/>
                  <a:gd name="connsiteX2" fmla="*/ 0 w 12915"/>
                  <a:gd name="connsiteY2" fmla="*/ 0 h 2286"/>
                </a:gdLst>
                <a:ahLst/>
                <a:cxnLst>
                  <a:cxn ang="0">
                    <a:pos x="connsiteX0" y="connsiteY0"/>
                  </a:cxn>
                  <a:cxn ang="0">
                    <a:pos x="connsiteX1" y="connsiteY1"/>
                  </a:cxn>
                  <a:cxn ang="0">
                    <a:pos x="connsiteX2" y="connsiteY2"/>
                  </a:cxn>
                </a:cxnLst>
                <a:rect l="l" t="t" r="r" b="b"/>
                <a:pathLst>
                  <a:path w="12915" h="2286">
                    <a:moveTo>
                      <a:pt x="12916" y="0"/>
                    </a:moveTo>
                    <a:lnTo>
                      <a:pt x="12916" y="0"/>
                    </a:lnTo>
                    <a:lnTo>
                      <a:pt x="0" y="0"/>
                    </a:lnTo>
                  </a:path>
                </a:pathLst>
              </a:custGeom>
              <a:noFill/>
              <a:ln w="15875" cap="flat">
                <a:solidFill>
                  <a:srgbClr val="F1F2F2"/>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28" name="Freeform: Shape 127">
                <a:extLst>
                  <a:ext uri="{FF2B5EF4-FFF2-40B4-BE49-F238E27FC236}">
                    <a16:creationId xmlns:a16="http://schemas.microsoft.com/office/drawing/2014/main" id="{D19F084E-28CF-6E3D-B17B-3394DAB5E605}"/>
                  </a:ext>
                </a:extLst>
              </p:cNvPr>
              <p:cNvSpPr/>
              <p:nvPr/>
            </p:nvSpPr>
            <p:spPr>
              <a:xfrm>
                <a:off x="7631540" y="567999"/>
                <a:ext cx="1138203" cy="8500"/>
              </a:xfrm>
              <a:custGeom>
                <a:avLst/>
                <a:gdLst>
                  <a:gd name="connsiteX0" fmla="*/ 0 w 306095"/>
                  <a:gd name="connsiteY0" fmla="*/ 0 h 2286"/>
                  <a:gd name="connsiteX1" fmla="*/ 306095 w 306095"/>
                  <a:gd name="connsiteY1" fmla="*/ 0 h 2286"/>
                </a:gdLst>
                <a:ahLst/>
                <a:cxnLst>
                  <a:cxn ang="0">
                    <a:pos x="connsiteX0" y="connsiteY0"/>
                  </a:cxn>
                  <a:cxn ang="0">
                    <a:pos x="connsiteX1" y="connsiteY1"/>
                  </a:cxn>
                </a:cxnLst>
                <a:rect l="l" t="t" r="r" b="b"/>
                <a:pathLst>
                  <a:path w="306095" h="2286">
                    <a:moveTo>
                      <a:pt x="0" y="0"/>
                    </a:moveTo>
                    <a:lnTo>
                      <a:pt x="306095" y="0"/>
                    </a:lnTo>
                  </a:path>
                </a:pathLst>
              </a:custGeom>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grpSp>
      </p:grpSp>
      <p:grpSp>
        <p:nvGrpSpPr>
          <p:cNvPr id="233" name="Group 232" descr="Step 2, choose task type.">
            <a:extLst>
              <a:ext uri="{FF2B5EF4-FFF2-40B4-BE49-F238E27FC236}">
                <a16:creationId xmlns:a16="http://schemas.microsoft.com/office/drawing/2014/main" id="{56370447-1622-268D-5D5C-C0D707D73565}"/>
              </a:ext>
            </a:extLst>
          </p:cNvPr>
          <p:cNvGrpSpPr/>
          <p:nvPr/>
        </p:nvGrpSpPr>
        <p:grpSpPr>
          <a:xfrm>
            <a:off x="1701513" y="2498441"/>
            <a:ext cx="1425906" cy="3107375"/>
            <a:chOff x="1701513" y="2498441"/>
            <a:chExt cx="1425906" cy="3107375"/>
          </a:xfrm>
        </p:grpSpPr>
        <p:sp>
          <p:nvSpPr>
            <p:cNvPr id="3" name="TextBox 2">
              <a:extLst>
                <a:ext uri="{FF2B5EF4-FFF2-40B4-BE49-F238E27FC236}">
                  <a16:creationId xmlns:a16="http://schemas.microsoft.com/office/drawing/2014/main" id="{C68DB887-11F1-1C87-44A7-E1E2AA32E9C0}"/>
                </a:ext>
              </a:extLst>
            </p:cNvPr>
            <p:cNvSpPr txBox="1"/>
            <p:nvPr/>
          </p:nvSpPr>
          <p:spPr>
            <a:xfrm>
              <a:off x="1701513" y="3959896"/>
              <a:ext cx="1371600" cy="1645920"/>
            </a:xfrm>
            <a:prstGeom prst="rect">
              <a:avLst/>
            </a:prstGeom>
          </p:spPr>
          <p:txBody>
            <a:bodyPr wrap="square" lIns="91440" tIns="0" rIns="91440" bIns="0">
              <a:noAutofit/>
            </a:bodyPr>
            <a:lstStyle>
              <a:defPPr>
                <a:defRPr lang="en-US"/>
              </a:defPPr>
              <a:lvl1pPr indent="0" algn="ctr">
                <a:lnSpc>
                  <a:spcPct val="90000"/>
                </a:lnSpc>
                <a:spcBef>
                  <a:spcPts val="0"/>
                </a:spcBef>
                <a:spcAft>
                  <a:spcPts val="1200"/>
                </a:spcAft>
                <a:buSzPct val="90000"/>
                <a:buFont typeface="Arial" panose="020B0604020202020204" pitchFamily="34" charset="0"/>
                <a:buNone/>
                <a:defRPr sz="2000">
                  <a:latin typeface="+mj-lt"/>
                </a:defRPr>
              </a:lvl1pPr>
              <a:lvl2pPr marL="514350" indent="-228600">
                <a:lnSpc>
                  <a:spcPct val="90000"/>
                </a:lnSpc>
                <a:spcBef>
                  <a:spcPts val="0"/>
                </a:spcBef>
                <a:spcAft>
                  <a:spcPts val="1200"/>
                </a:spcAft>
                <a:buSzPct val="90000"/>
                <a:buFont typeface="Wingdings" panose="05000000000000000000" pitchFamily="2" charset="2"/>
                <a:buChar char="§"/>
                <a:defRPr sz="2400"/>
              </a:lvl2pPr>
              <a:lvl3pPr marL="857250" indent="-228600">
                <a:lnSpc>
                  <a:spcPct val="90000"/>
                </a:lnSpc>
                <a:spcBef>
                  <a:spcPts val="0"/>
                </a:spcBef>
                <a:spcAft>
                  <a:spcPts val="1200"/>
                </a:spcAft>
                <a:buFont typeface="Amazon Ember" panose="020B0603020204020204" pitchFamily="34" charset="0"/>
                <a:buChar char="–"/>
                <a:defRPr sz="2000"/>
              </a:lvl3pPr>
              <a:lvl4pPr marL="1030288" indent="-171450">
                <a:lnSpc>
                  <a:spcPct val="90000"/>
                </a:lnSpc>
                <a:spcBef>
                  <a:spcPts val="0"/>
                </a:spcBef>
                <a:spcAft>
                  <a:spcPts val="1200"/>
                </a:spcAft>
                <a:buFont typeface="Arial" panose="020B0604020202020204" pitchFamily="34" charset="0"/>
                <a:buChar char="•"/>
              </a:lvl4pPr>
              <a:lvl5pPr marL="1201738" indent="-171450">
                <a:lnSpc>
                  <a:spcPct val="90000"/>
                </a:lnSpc>
                <a:spcBef>
                  <a:spcPts val="0"/>
                </a:spcBef>
                <a:spcAft>
                  <a:spcPts val="1200"/>
                </a:spcAft>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1200"/>
                </a:spcAft>
                <a:buClrTx/>
                <a:buSzPct val="90000"/>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Choose </a:t>
              </a:r>
              <a:br>
                <a:rPr kumimoji="0" lang="en-US" sz="1800" b="0" i="0" u="none" strike="noStrike" kern="1200" cap="none" spc="0" normalizeH="0" baseline="0" noProof="0" dirty="0">
                  <a:ln>
                    <a:noFill/>
                  </a:ln>
                  <a:solidFill>
                    <a:srgbClr val="232F3E"/>
                  </a:solidFill>
                  <a:effectLst/>
                  <a:uLnTx/>
                  <a:uFillTx/>
                  <a:latin typeface="Amazon Ember Light"/>
                  <a:ea typeface="+mn-ea"/>
                  <a:cs typeface="+mn-cs"/>
                </a:rPr>
              </a:b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task type</a:t>
              </a:r>
            </a:p>
          </p:txBody>
        </p:sp>
        <p:sp>
          <p:nvSpPr>
            <p:cNvPr id="66" name="Freeform: Shape 65">
              <a:extLst>
                <a:ext uri="{FF2B5EF4-FFF2-40B4-BE49-F238E27FC236}">
                  <a16:creationId xmlns:a16="http://schemas.microsoft.com/office/drawing/2014/main" id="{C08FBAB5-B984-86C1-AB93-A386319CD3A8}"/>
                </a:ext>
              </a:extLst>
            </p:cNvPr>
            <p:cNvSpPr/>
            <p:nvPr/>
          </p:nvSpPr>
          <p:spPr>
            <a:xfrm>
              <a:off x="1812012" y="2498441"/>
              <a:ext cx="1315407" cy="1144940"/>
            </a:xfrm>
            <a:custGeom>
              <a:avLst/>
              <a:gdLst>
                <a:gd name="connsiteX0" fmla="*/ 2061646 w 2066765"/>
                <a:gd name="connsiteY0" fmla="*/ 916242 h 1798928"/>
                <a:gd name="connsiteX1" fmla="*/ 2062340 w 2066765"/>
                <a:gd name="connsiteY1" fmla="*/ 914998 h 1798928"/>
                <a:gd name="connsiteX2" fmla="*/ 2064423 w 2066765"/>
                <a:gd name="connsiteY2" fmla="*/ 911064 h 1798928"/>
                <a:gd name="connsiteX3" fmla="*/ 2065001 w 2066765"/>
                <a:gd name="connsiteY3" fmla="*/ 909213 h 1798928"/>
                <a:gd name="connsiteX4" fmla="*/ 2066159 w 2066765"/>
                <a:gd name="connsiteY4" fmla="*/ 905423 h 1798928"/>
                <a:gd name="connsiteX5" fmla="*/ 2066766 w 2066765"/>
                <a:gd name="connsiteY5" fmla="*/ 899464 h 1798928"/>
                <a:gd name="connsiteX6" fmla="*/ 2066159 w 2066765"/>
                <a:gd name="connsiteY6" fmla="*/ 893505 h 1798928"/>
                <a:gd name="connsiteX7" fmla="*/ 2065001 w 2066765"/>
                <a:gd name="connsiteY7" fmla="*/ 889716 h 1798928"/>
                <a:gd name="connsiteX8" fmla="*/ 2064423 w 2066765"/>
                <a:gd name="connsiteY8" fmla="*/ 887865 h 1798928"/>
                <a:gd name="connsiteX9" fmla="*/ 2062340 w 2066765"/>
                <a:gd name="connsiteY9" fmla="*/ 883931 h 1798928"/>
                <a:gd name="connsiteX10" fmla="*/ 2061646 w 2066765"/>
                <a:gd name="connsiteY10" fmla="*/ 882687 h 1798928"/>
                <a:gd name="connsiteX11" fmla="*/ 2057914 w 2066765"/>
                <a:gd name="connsiteY11" fmla="*/ 878116 h 1798928"/>
                <a:gd name="connsiteX12" fmla="*/ 2057914 w 2066765"/>
                <a:gd name="connsiteY12" fmla="*/ 878116 h 1798928"/>
                <a:gd name="connsiteX13" fmla="*/ 1921840 w 2066765"/>
                <a:gd name="connsiteY13" fmla="*/ 742042 h 1798928"/>
                <a:gd name="connsiteX14" fmla="*/ 1879173 w 2066765"/>
                <a:gd name="connsiteY14" fmla="*/ 742042 h 1798928"/>
                <a:gd name="connsiteX15" fmla="*/ 1879173 w 2066765"/>
                <a:gd name="connsiteY15" fmla="*/ 784710 h 1798928"/>
                <a:gd name="connsiteX16" fmla="*/ 1963727 w 2066765"/>
                <a:gd name="connsiteY16" fmla="*/ 869264 h 1798928"/>
                <a:gd name="connsiteX17" fmla="*/ 1651313 w 2066765"/>
                <a:gd name="connsiteY17" fmla="*/ 869264 h 1798928"/>
                <a:gd name="connsiteX18" fmla="*/ 899493 w 2066765"/>
                <a:gd name="connsiteY18" fmla="*/ 146835 h 1798928"/>
                <a:gd name="connsiteX19" fmla="*/ 146864 w 2066765"/>
                <a:gd name="connsiteY19" fmla="*/ 899464 h 1798928"/>
                <a:gd name="connsiteX20" fmla="*/ 899464 w 2066765"/>
                <a:gd name="connsiteY20" fmla="*/ 1652065 h 1798928"/>
                <a:gd name="connsiteX21" fmla="*/ 1633638 w 2066765"/>
                <a:gd name="connsiteY21" fmla="*/ 1065710 h 1798928"/>
                <a:gd name="connsiteX22" fmla="*/ 1722156 w 2066765"/>
                <a:gd name="connsiteY22" fmla="*/ 1065710 h 1798928"/>
                <a:gd name="connsiteX23" fmla="*/ 899464 w 2066765"/>
                <a:gd name="connsiteY23" fmla="*/ 1738558 h 1798928"/>
                <a:gd name="connsiteX24" fmla="*/ 60342 w 2066765"/>
                <a:gd name="connsiteY24" fmla="*/ 899436 h 1798928"/>
                <a:gd name="connsiteX25" fmla="*/ 899464 w 2066765"/>
                <a:gd name="connsiteY25" fmla="*/ 60342 h 1798928"/>
                <a:gd name="connsiteX26" fmla="*/ 1728346 w 2066765"/>
                <a:gd name="connsiteY26" fmla="*/ 768077 h 1798928"/>
                <a:gd name="connsiteX27" fmla="*/ 1762827 w 2066765"/>
                <a:gd name="connsiteY27" fmla="*/ 793186 h 1798928"/>
                <a:gd name="connsiteX28" fmla="*/ 1787965 w 2066765"/>
                <a:gd name="connsiteY28" fmla="*/ 758704 h 1798928"/>
                <a:gd name="connsiteX29" fmla="*/ 1486688 w 2066765"/>
                <a:gd name="connsiteY29" fmla="*/ 218141 h 1798928"/>
                <a:gd name="connsiteX30" fmla="*/ 899464 w 2066765"/>
                <a:gd name="connsiteY30" fmla="*/ 0 h 1798928"/>
                <a:gd name="connsiteX31" fmla="*/ 0 w 2066765"/>
                <a:gd name="connsiteY31" fmla="*/ 899464 h 1798928"/>
                <a:gd name="connsiteX32" fmla="*/ 899464 w 2066765"/>
                <a:gd name="connsiteY32" fmla="*/ 1798929 h 1798928"/>
                <a:gd name="connsiteX33" fmla="*/ 1486717 w 2066765"/>
                <a:gd name="connsiteY33" fmla="*/ 1580788 h 1798928"/>
                <a:gd name="connsiteX34" fmla="*/ 1787994 w 2066765"/>
                <a:gd name="connsiteY34" fmla="*/ 1040225 h 1798928"/>
                <a:gd name="connsiteX35" fmla="*/ 1781109 w 2066765"/>
                <a:gd name="connsiteY35" fmla="*/ 1015926 h 1798928"/>
                <a:gd name="connsiteX36" fmla="*/ 1758170 w 2066765"/>
                <a:gd name="connsiteY36" fmla="*/ 1005367 h 1798928"/>
                <a:gd name="connsiteX37" fmla="*/ 1609108 w 2066765"/>
                <a:gd name="connsiteY37" fmla="*/ 1005367 h 1798928"/>
                <a:gd name="connsiteX38" fmla="*/ 1579457 w 2066765"/>
                <a:gd name="connsiteY38" fmla="*/ 1029898 h 1798928"/>
                <a:gd name="connsiteX39" fmla="*/ 899464 w 2066765"/>
                <a:gd name="connsiteY39" fmla="*/ 1591723 h 1798928"/>
                <a:gd name="connsiteX40" fmla="*/ 207206 w 2066765"/>
                <a:gd name="connsiteY40" fmla="*/ 899464 h 1798928"/>
                <a:gd name="connsiteX41" fmla="*/ 899464 w 2066765"/>
                <a:gd name="connsiteY41" fmla="*/ 207206 h 1798928"/>
                <a:gd name="connsiteX42" fmla="*/ 1591723 w 2066765"/>
                <a:gd name="connsiteY42" fmla="*/ 899464 h 1798928"/>
                <a:gd name="connsiteX43" fmla="*/ 1621894 w 2066765"/>
                <a:gd name="connsiteY43" fmla="*/ 929636 h 1798928"/>
                <a:gd name="connsiteX44" fmla="*/ 1963727 w 2066765"/>
                <a:gd name="connsiteY44" fmla="*/ 929636 h 1798928"/>
                <a:gd name="connsiteX45" fmla="*/ 1879173 w 2066765"/>
                <a:gd name="connsiteY45" fmla="*/ 1014190 h 1798928"/>
                <a:gd name="connsiteX46" fmla="*/ 1879173 w 2066765"/>
                <a:gd name="connsiteY46" fmla="*/ 1056858 h 1798928"/>
                <a:gd name="connsiteX47" fmla="*/ 1900521 w 2066765"/>
                <a:gd name="connsiteY47" fmla="*/ 1065710 h 1798928"/>
                <a:gd name="connsiteX48" fmla="*/ 1921869 w 2066765"/>
                <a:gd name="connsiteY48" fmla="*/ 1056887 h 1798928"/>
                <a:gd name="connsiteX49" fmla="*/ 2057943 w 2066765"/>
                <a:gd name="connsiteY49" fmla="*/ 920813 h 1798928"/>
                <a:gd name="connsiteX50" fmla="*/ 2057943 w 2066765"/>
                <a:gd name="connsiteY50" fmla="*/ 920813 h 1798928"/>
                <a:gd name="connsiteX51" fmla="*/ 2061675 w 2066765"/>
                <a:gd name="connsiteY51" fmla="*/ 916242 h 17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066765" h="1798928">
                  <a:moveTo>
                    <a:pt x="2061646" y="916242"/>
                  </a:moveTo>
                  <a:cubicBezTo>
                    <a:pt x="2061906" y="915837"/>
                    <a:pt x="2062080" y="915403"/>
                    <a:pt x="2062340" y="914998"/>
                  </a:cubicBezTo>
                  <a:cubicBezTo>
                    <a:pt x="2063092" y="913726"/>
                    <a:pt x="2063844" y="912453"/>
                    <a:pt x="2064423" y="911064"/>
                  </a:cubicBezTo>
                  <a:cubicBezTo>
                    <a:pt x="2064683" y="910457"/>
                    <a:pt x="2064799" y="909820"/>
                    <a:pt x="2065001" y="909213"/>
                  </a:cubicBezTo>
                  <a:cubicBezTo>
                    <a:pt x="2065435" y="907969"/>
                    <a:pt x="2065898" y="906754"/>
                    <a:pt x="2066159" y="905423"/>
                  </a:cubicBezTo>
                  <a:cubicBezTo>
                    <a:pt x="2066564" y="903485"/>
                    <a:pt x="2066766" y="901489"/>
                    <a:pt x="2066766" y="899464"/>
                  </a:cubicBezTo>
                  <a:cubicBezTo>
                    <a:pt x="2066766" y="897440"/>
                    <a:pt x="2066564" y="895444"/>
                    <a:pt x="2066159" y="893505"/>
                  </a:cubicBezTo>
                  <a:cubicBezTo>
                    <a:pt x="2065898" y="892204"/>
                    <a:pt x="2065435" y="890960"/>
                    <a:pt x="2065001" y="889716"/>
                  </a:cubicBezTo>
                  <a:cubicBezTo>
                    <a:pt x="2064799" y="889108"/>
                    <a:pt x="2064683" y="888472"/>
                    <a:pt x="2064423" y="887865"/>
                  </a:cubicBezTo>
                  <a:cubicBezTo>
                    <a:pt x="2063844" y="886476"/>
                    <a:pt x="2063092" y="885203"/>
                    <a:pt x="2062340" y="883931"/>
                  </a:cubicBezTo>
                  <a:cubicBezTo>
                    <a:pt x="2062080" y="883526"/>
                    <a:pt x="2061935" y="883063"/>
                    <a:pt x="2061646" y="882687"/>
                  </a:cubicBezTo>
                  <a:cubicBezTo>
                    <a:pt x="2060547" y="881038"/>
                    <a:pt x="2059303" y="879505"/>
                    <a:pt x="2057914" y="878116"/>
                  </a:cubicBezTo>
                  <a:lnTo>
                    <a:pt x="2057914" y="878116"/>
                  </a:lnTo>
                  <a:lnTo>
                    <a:pt x="1921840" y="742042"/>
                  </a:lnTo>
                  <a:cubicBezTo>
                    <a:pt x="1910067" y="730269"/>
                    <a:pt x="1890946" y="730269"/>
                    <a:pt x="1879173" y="742042"/>
                  </a:cubicBezTo>
                  <a:cubicBezTo>
                    <a:pt x="1867399" y="753816"/>
                    <a:pt x="1867399" y="772937"/>
                    <a:pt x="1879173" y="784710"/>
                  </a:cubicBezTo>
                  <a:lnTo>
                    <a:pt x="1963727" y="869264"/>
                  </a:lnTo>
                  <a:lnTo>
                    <a:pt x="1651313" y="869264"/>
                  </a:lnTo>
                  <a:cubicBezTo>
                    <a:pt x="1635403" y="468217"/>
                    <a:pt x="1304359" y="146835"/>
                    <a:pt x="899493" y="146835"/>
                  </a:cubicBezTo>
                  <a:cubicBezTo>
                    <a:pt x="494627" y="146835"/>
                    <a:pt x="146864" y="484474"/>
                    <a:pt x="146864" y="899464"/>
                  </a:cubicBezTo>
                  <a:cubicBezTo>
                    <a:pt x="146864" y="1314455"/>
                    <a:pt x="484474" y="1652065"/>
                    <a:pt x="899464" y="1652065"/>
                  </a:cubicBezTo>
                  <a:cubicBezTo>
                    <a:pt x="1251972" y="1652065"/>
                    <a:pt x="1556778" y="1406964"/>
                    <a:pt x="1633638" y="1065710"/>
                  </a:cubicBezTo>
                  <a:lnTo>
                    <a:pt x="1722156" y="1065710"/>
                  </a:lnTo>
                  <a:cubicBezTo>
                    <a:pt x="1643936" y="1457703"/>
                    <a:pt x="1303404" y="1738558"/>
                    <a:pt x="899464" y="1738558"/>
                  </a:cubicBezTo>
                  <a:cubicBezTo>
                    <a:pt x="436773" y="1738558"/>
                    <a:pt x="60342" y="1362127"/>
                    <a:pt x="60342" y="899436"/>
                  </a:cubicBezTo>
                  <a:cubicBezTo>
                    <a:pt x="60342" y="436744"/>
                    <a:pt x="436773" y="60342"/>
                    <a:pt x="899464" y="60342"/>
                  </a:cubicBezTo>
                  <a:cubicBezTo>
                    <a:pt x="1315265" y="60342"/>
                    <a:pt x="1663867" y="357975"/>
                    <a:pt x="1728346" y="768077"/>
                  </a:cubicBezTo>
                  <a:cubicBezTo>
                    <a:pt x="1730949" y="784536"/>
                    <a:pt x="1746512" y="795789"/>
                    <a:pt x="1762827" y="793186"/>
                  </a:cubicBezTo>
                  <a:cubicBezTo>
                    <a:pt x="1779287" y="790611"/>
                    <a:pt x="1790540" y="775164"/>
                    <a:pt x="1787965" y="758704"/>
                  </a:cubicBezTo>
                  <a:cubicBezTo>
                    <a:pt x="1755046" y="549300"/>
                    <a:pt x="1648044" y="357339"/>
                    <a:pt x="1486688" y="218141"/>
                  </a:cubicBezTo>
                  <a:cubicBezTo>
                    <a:pt x="1323625" y="77467"/>
                    <a:pt x="1115088" y="0"/>
                    <a:pt x="899464" y="0"/>
                  </a:cubicBezTo>
                  <a:cubicBezTo>
                    <a:pt x="403506" y="0"/>
                    <a:pt x="0" y="403506"/>
                    <a:pt x="0" y="899464"/>
                  </a:cubicBezTo>
                  <a:cubicBezTo>
                    <a:pt x="0" y="1395423"/>
                    <a:pt x="403506" y="1798929"/>
                    <a:pt x="899464" y="1798929"/>
                  </a:cubicBezTo>
                  <a:cubicBezTo>
                    <a:pt x="1115088" y="1798929"/>
                    <a:pt x="1323625" y="1721462"/>
                    <a:pt x="1486717" y="1580788"/>
                  </a:cubicBezTo>
                  <a:cubicBezTo>
                    <a:pt x="1648073" y="1441590"/>
                    <a:pt x="1755046" y="1249629"/>
                    <a:pt x="1787994" y="1040225"/>
                  </a:cubicBezTo>
                  <a:cubicBezTo>
                    <a:pt x="1789354" y="1031517"/>
                    <a:pt x="1786837" y="1022637"/>
                    <a:pt x="1781109" y="1015926"/>
                  </a:cubicBezTo>
                  <a:cubicBezTo>
                    <a:pt x="1775382" y="1009215"/>
                    <a:pt x="1766993" y="1005367"/>
                    <a:pt x="1758170" y="1005367"/>
                  </a:cubicBezTo>
                  <a:lnTo>
                    <a:pt x="1609108" y="1005367"/>
                  </a:lnTo>
                  <a:cubicBezTo>
                    <a:pt x="1594615" y="1005367"/>
                    <a:pt x="1582177" y="1015665"/>
                    <a:pt x="1579457" y="1029898"/>
                  </a:cubicBezTo>
                  <a:cubicBezTo>
                    <a:pt x="1517408" y="1355445"/>
                    <a:pt x="1231434" y="1591723"/>
                    <a:pt x="899464" y="1591723"/>
                  </a:cubicBezTo>
                  <a:cubicBezTo>
                    <a:pt x="517740" y="1591723"/>
                    <a:pt x="207206" y="1281189"/>
                    <a:pt x="207206" y="899464"/>
                  </a:cubicBezTo>
                  <a:cubicBezTo>
                    <a:pt x="207206" y="517740"/>
                    <a:pt x="517769" y="207206"/>
                    <a:pt x="899464" y="207206"/>
                  </a:cubicBezTo>
                  <a:cubicBezTo>
                    <a:pt x="1281159" y="207206"/>
                    <a:pt x="1591723" y="517740"/>
                    <a:pt x="1591723" y="899464"/>
                  </a:cubicBezTo>
                  <a:cubicBezTo>
                    <a:pt x="1591723" y="916127"/>
                    <a:pt x="1605231" y="929636"/>
                    <a:pt x="1621894" y="929636"/>
                  </a:cubicBezTo>
                  <a:lnTo>
                    <a:pt x="1963727" y="929636"/>
                  </a:lnTo>
                  <a:lnTo>
                    <a:pt x="1879173" y="1014190"/>
                  </a:lnTo>
                  <a:cubicBezTo>
                    <a:pt x="1867399" y="1025963"/>
                    <a:pt x="1867399" y="1045084"/>
                    <a:pt x="1879173" y="1056858"/>
                  </a:cubicBezTo>
                  <a:cubicBezTo>
                    <a:pt x="1885074" y="1062759"/>
                    <a:pt x="1892797" y="1065710"/>
                    <a:pt x="1900521" y="1065710"/>
                  </a:cubicBezTo>
                  <a:cubicBezTo>
                    <a:pt x="1908245" y="1065710"/>
                    <a:pt x="1915968" y="1062759"/>
                    <a:pt x="1921869" y="1056887"/>
                  </a:cubicBezTo>
                  <a:lnTo>
                    <a:pt x="2057943" y="920813"/>
                  </a:lnTo>
                  <a:lnTo>
                    <a:pt x="2057943" y="920813"/>
                  </a:lnTo>
                  <a:cubicBezTo>
                    <a:pt x="2059332" y="919424"/>
                    <a:pt x="2060576" y="917891"/>
                    <a:pt x="2061675" y="916242"/>
                  </a:cubicBezTo>
                  <a:close/>
                </a:path>
              </a:pathLst>
            </a:custGeom>
            <a:solidFill>
              <a:srgbClr val="D831F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132" name="Group 131">
              <a:extLst>
                <a:ext uri="{FF2B5EF4-FFF2-40B4-BE49-F238E27FC236}">
                  <a16:creationId xmlns:a16="http://schemas.microsoft.com/office/drawing/2014/main" id="{9077CA80-C72E-5F62-8EAC-8AC264D07805}"/>
                </a:ext>
              </a:extLst>
            </p:cNvPr>
            <p:cNvGrpSpPr/>
            <p:nvPr/>
          </p:nvGrpSpPr>
          <p:grpSpPr>
            <a:xfrm>
              <a:off x="2146270" y="2871228"/>
              <a:ext cx="476000" cy="401966"/>
              <a:chOff x="4353446" y="2752359"/>
              <a:chExt cx="723165" cy="610688"/>
            </a:xfrm>
          </p:grpSpPr>
          <p:sp>
            <p:nvSpPr>
              <p:cNvPr id="133" name="Freeform: Shape 132">
                <a:extLst>
                  <a:ext uri="{FF2B5EF4-FFF2-40B4-BE49-F238E27FC236}">
                    <a16:creationId xmlns:a16="http://schemas.microsoft.com/office/drawing/2014/main" id="{3307215C-C41C-1F60-0428-756055AA8EEE}"/>
                  </a:ext>
                </a:extLst>
              </p:cNvPr>
              <p:cNvSpPr/>
              <p:nvPr/>
            </p:nvSpPr>
            <p:spPr>
              <a:xfrm>
                <a:off x="4353446" y="2752359"/>
                <a:ext cx="655321" cy="484157"/>
              </a:xfrm>
              <a:custGeom>
                <a:avLst/>
                <a:gdLst>
                  <a:gd name="connsiteX0" fmla="*/ 363250 w 365981"/>
                  <a:gd name="connsiteY0" fmla="*/ 174251 h 270389"/>
                  <a:gd name="connsiteX1" fmla="*/ 363250 w 365981"/>
                  <a:gd name="connsiteY1" fmla="*/ 258372 h 270389"/>
                  <a:gd name="connsiteX2" fmla="*/ 354510 w 365981"/>
                  <a:gd name="connsiteY2" fmla="*/ 267112 h 270389"/>
                  <a:gd name="connsiteX3" fmla="*/ 12837 w 365981"/>
                  <a:gd name="connsiteY3" fmla="*/ 267112 h 270389"/>
                  <a:gd name="connsiteX4" fmla="*/ 4097 w 365981"/>
                  <a:gd name="connsiteY4" fmla="*/ 258372 h 270389"/>
                  <a:gd name="connsiteX5" fmla="*/ 4097 w 365981"/>
                  <a:gd name="connsiteY5" fmla="*/ 12837 h 270389"/>
                  <a:gd name="connsiteX6" fmla="*/ 12837 w 365981"/>
                  <a:gd name="connsiteY6" fmla="*/ 4097 h 270389"/>
                  <a:gd name="connsiteX7" fmla="*/ 354784 w 365981"/>
                  <a:gd name="connsiteY7" fmla="*/ 4097 h 270389"/>
                  <a:gd name="connsiteX8" fmla="*/ 363523 w 365981"/>
                  <a:gd name="connsiteY8" fmla="*/ 12837 h 270389"/>
                  <a:gd name="connsiteX9" fmla="*/ 363523 w 365981"/>
                  <a:gd name="connsiteY9" fmla="*/ 72923 h 27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981" h="270389">
                    <a:moveTo>
                      <a:pt x="363250" y="174251"/>
                    </a:moveTo>
                    <a:lnTo>
                      <a:pt x="363250" y="258372"/>
                    </a:lnTo>
                    <a:cubicBezTo>
                      <a:pt x="363250" y="263288"/>
                      <a:pt x="359427" y="267112"/>
                      <a:pt x="354510" y="267112"/>
                    </a:cubicBezTo>
                    <a:lnTo>
                      <a:pt x="12837" y="267112"/>
                    </a:lnTo>
                    <a:cubicBezTo>
                      <a:pt x="7920" y="267112"/>
                      <a:pt x="4097" y="263288"/>
                      <a:pt x="4097" y="258372"/>
                    </a:cubicBezTo>
                    <a:lnTo>
                      <a:pt x="4097" y="12837"/>
                    </a:lnTo>
                    <a:cubicBezTo>
                      <a:pt x="4097" y="7920"/>
                      <a:pt x="7920" y="4097"/>
                      <a:pt x="12837" y="4097"/>
                    </a:cubicBezTo>
                    <a:lnTo>
                      <a:pt x="354784" y="4097"/>
                    </a:lnTo>
                    <a:cubicBezTo>
                      <a:pt x="359700" y="4097"/>
                      <a:pt x="363523" y="7920"/>
                      <a:pt x="363523" y="12837"/>
                    </a:cubicBezTo>
                    <a:lnTo>
                      <a:pt x="363523" y="72923"/>
                    </a:ln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34" name="Freeform: Shape 133">
                <a:extLst>
                  <a:ext uri="{FF2B5EF4-FFF2-40B4-BE49-F238E27FC236}">
                    <a16:creationId xmlns:a16="http://schemas.microsoft.com/office/drawing/2014/main" id="{A443BBBD-DC6A-2B50-3E5F-B08277EE2ED9}"/>
                  </a:ext>
                </a:extLst>
              </p:cNvPr>
              <p:cNvSpPr/>
              <p:nvPr/>
            </p:nvSpPr>
            <p:spPr>
              <a:xfrm>
                <a:off x="4359314" y="3178746"/>
                <a:ext cx="640651" cy="14672"/>
              </a:xfrm>
              <a:custGeom>
                <a:avLst/>
                <a:gdLst>
                  <a:gd name="connsiteX0" fmla="*/ 4097 w 357787"/>
                  <a:gd name="connsiteY0" fmla="*/ 4097 h 8193"/>
                  <a:gd name="connsiteX1" fmla="*/ 355876 w 357787"/>
                  <a:gd name="connsiteY1" fmla="*/ 4097 h 8193"/>
                </a:gdLst>
                <a:ahLst/>
                <a:cxnLst>
                  <a:cxn ang="0">
                    <a:pos x="connsiteX0" y="connsiteY0"/>
                  </a:cxn>
                  <a:cxn ang="0">
                    <a:pos x="connsiteX1" y="connsiteY1"/>
                  </a:cxn>
                </a:cxnLst>
                <a:rect l="l" t="t" r="r" b="b"/>
                <a:pathLst>
                  <a:path w="357787" h="8193">
                    <a:moveTo>
                      <a:pt x="4097" y="4097"/>
                    </a:moveTo>
                    <a:lnTo>
                      <a:pt x="355876" y="409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35" name="Freeform: Shape 134">
                <a:extLst>
                  <a:ext uri="{FF2B5EF4-FFF2-40B4-BE49-F238E27FC236}">
                    <a16:creationId xmlns:a16="http://schemas.microsoft.com/office/drawing/2014/main" id="{943C40E7-7024-5142-BD02-CF794E0A9D3E}"/>
                  </a:ext>
                </a:extLst>
              </p:cNvPr>
              <p:cNvSpPr/>
              <p:nvPr/>
            </p:nvSpPr>
            <p:spPr>
              <a:xfrm>
                <a:off x="4642826" y="3228557"/>
                <a:ext cx="68467" cy="97809"/>
              </a:xfrm>
              <a:custGeom>
                <a:avLst/>
                <a:gdLst>
                  <a:gd name="connsiteX0" fmla="*/ 1168 w 38236"/>
                  <a:gd name="connsiteY0" fmla="*/ 1168 h 54624"/>
                  <a:gd name="connsiteX1" fmla="*/ 38585 w 38236"/>
                  <a:gd name="connsiteY1" fmla="*/ 1168 h 54624"/>
                  <a:gd name="connsiteX2" fmla="*/ 38585 w 38236"/>
                  <a:gd name="connsiteY2" fmla="*/ 54699 h 54624"/>
                  <a:gd name="connsiteX3" fmla="*/ 1168 w 38236"/>
                  <a:gd name="connsiteY3" fmla="*/ 54699 h 54624"/>
                </a:gdLst>
                <a:ahLst/>
                <a:cxnLst>
                  <a:cxn ang="0">
                    <a:pos x="connsiteX0" y="connsiteY0"/>
                  </a:cxn>
                  <a:cxn ang="0">
                    <a:pos x="connsiteX1" y="connsiteY1"/>
                  </a:cxn>
                  <a:cxn ang="0">
                    <a:pos x="connsiteX2" y="connsiteY2"/>
                  </a:cxn>
                  <a:cxn ang="0">
                    <a:pos x="connsiteX3" y="connsiteY3"/>
                  </a:cxn>
                </a:cxnLst>
                <a:rect l="l" t="t" r="r" b="b"/>
                <a:pathLst>
                  <a:path w="38236" h="54624">
                    <a:moveTo>
                      <a:pt x="1168" y="1168"/>
                    </a:moveTo>
                    <a:lnTo>
                      <a:pt x="38585" y="1168"/>
                    </a:lnTo>
                    <a:lnTo>
                      <a:pt x="38585" y="54699"/>
                    </a:lnTo>
                    <a:lnTo>
                      <a:pt x="1168" y="54699"/>
                    </a:lnTo>
                    <a:close/>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36" name="Freeform: Shape 135">
                <a:extLst>
                  <a:ext uri="{FF2B5EF4-FFF2-40B4-BE49-F238E27FC236}">
                    <a16:creationId xmlns:a16="http://schemas.microsoft.com/office/drawing/2014/main" id="{FCD3D27C-F49A-D827-2805-144F98F10A6D}"/>
                  </a:ext>
                </a:extLst>
              </p:cNvPr>
              <p:cNvSpPr/>
              <p:nvPr/>
            </p:nvSpPr>
            <p:spPr>
              <a:xfrm>
                <a:off x="4525455" y="3323923"/>
                <a:ext cx="303209" cy="39124"/>
              </a:xfrm>
              <a:custGeom>
                <a:avLst/>
                <a:gdLst>
                  <a:gd name="connsiteX0" fmla="*/ 1168 w 169334"/>
                  <a:gd name="connsiteY0" fmla="*/ 1168 h 21849"/>
                  <a:gd name="connsiteX1" fmla="*/ 169410 w 169334"/>
                  <a:gd name="connsiteY1" fmla="*/ 1168 h 21849"/>
                  <a:gd name="connsiteX2" fmla="*/ 169410 w 169334"/>
                  <a:gd name="connsiteY2" fmla="*/ 22471 h 21849"/>
                  <a:gd name="connsiteX3" fmla="*/ 1168 w 169334"/>
                  <a:gd name="connsiteY3" fmla="*/ 22471 h 21849"/>
                </a:gdLst>
                <a:ahLst/>
                <a:cxnLst>
                  <a:cxn ang="0">
                    <a:pos x="connsiteX0" y="connsiteY0"/>
                  </a:cxn>
                  <a:cxn ang="0">
                    <a:pos x="connsiteX1" y="connsiteY1"/>
                  </a:cxn>
                  <a:cxn ang="0">
                    <a:pos x="connsiteX2" y="connsiteY2"/>
                  </a:cxn>
                  <a:cxn ang="0">
                    <a:pos x="connsiteX3" y="connsiteY3"/>
                  </a:cxn>
                </a:cxnLst>
                <a:rect l="l" t="t" r="r" b="b"/>
                <a:pathLst>
                  <a:path w="169334" h="21849">
                    <a:moveTo>
                      <a:pt x="1168" y="1168"/>
                    </a:moveTo>
                    <a:lnTo>
                      <a:pt x="169410" y="1168"/>
                    </a:lnTo>
                    <a:lnTo>
                      <a:pt x="169410" y="22471"/>
                    </a:lnTo>
                    <a:lnTo>
                      <a:pt x="1168" y="22471"/>
                    </a:lnTo>
                    <a:close/>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37" name="Freeform: Shape 136">
                <a:extLst>
                  <a:ext uri="{FF2B5EF4-FFF2-40B4-BE49-F238E27FC236}">
                    <a16:creationId xmlns:a16="http://schemas.microsoft.com/office/drawing/2014/main" id="{DC83901A-1AE6-8EFB-0131-9DDE6E9316C0}"/>
                  </a:ext>
                </a:extLst>
              </p:cNvPr>
              <p:cNvSpPr/>
              <p:nvPr/>
            </p:nvSpPr>
            <p:spPr>
              <a:xfrm>
                <a:off x="4929897" y="2887202"/>
                <a:ext cx="146714" cy="161386"/>
              </a:xfrm>
              <a:custGeom>
                <a:avLst/>
                <a:gdLst>
                  <a:gd name="connsiteX0" fmla="*/ 50602 w 81936"/>
                  <a:gd name="connsiteY0" fmla="*/ 42682 h 90129"/>
                  <a:gd name="connsiteX1" fmla="*/ 78188 w 81936"/>
                  <a:gd name="connsiteY1" fmla="*/ 76003 h 90129"/>
                  <a:gd name="connsiteX2" fmla="*/ 60981 w 81936"/>
                  <a:gd name="connsiteY2" fmla="*/ 90478 h 90129"/>
                  <a:gd name="connsiteX3" fmla="*/ 33123 w 81936"/>
                  <a:gd name="connsiteY3" fmla="*/ 57157 h 90129"/>
                  <a:gd name="connsiteX4" fmla="*/ 20559 w 81936"/>
                  <a:gd name="connsiteY4" fmla="*/ 86381 h 90129"/>
                  <a:gd name="connsiteX5" fmla="*/ 1168 w 81936"/>
                  <a:gd name="connsiteY5" fmla="*/ 1168 h 90129"/>
                  <a:gd name="connsiteX6" fmla="*/ 81738 w 81936"/>
                  <a:gd name="connsiteY6" fmla="*/ 35581 h 9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936" h="90129">
                    <a:moveTo>
                      <a:pt x="50602" y="42682"/>
                    </a:moveTo>
                    <a:lnTo>
                      <a:pt x="78188" y="76003"/>
                    </a:lnTo>
                    <a:lnTo>
                      <a:pt x="60981" y="90478"/>
                    </a:lnTo>
                    <a:lnTo>
                      <a:pt x="33123" y="57157"/>
                    </a:lnTo>
                    <a:lnTo>
                      <a:pt x="20559" y="86381"/>
                    </a:lnTo>
                    <a:lnTo>
                      <a:pt x="1168" y="1168"/>
                    </a:lnTo>
                    <a:lnTo>
                      <a:pt x="81738" y="35581"/>
                    </a:lnTo>
                    <a:close/>
                  </a:path>
                </a:pathLst>
              </a:custGeom>
              <a:noFill/>
              <a:ln w="15875" cap="flat">
                <a:solidFill>
                  <a:srgbClr val="D831F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38" name="Freeform: Shape 137">
                <a:extLst>
                  <a:ext uri="{FF2B5EF4-FFF2-40B4-BE49-F238E27FC236}">
                    <a16:creationId xmlns:a16="http://schemas.microsoft.com/office/drawing/2014/main" id="{FB192BAA-EAAE-EE37-6796-504B1963CF12}"/>
                  </a:ext>
                </a:extLst>
              </p:cNvPr>
              <p:cNvSpPr/>
              <p:nvPr/>
            </p:nvSpPr>
            <p:spPr>
              <a:xfrm>
                <a:off x="4484376" y="2837039"/>
                <a:ext cx="4890" cy="312991"/>
              </a:xfrm>
              <a:custGeom>
                <a:avLst/>
                <a:gdLst>
                  <a:gd name="connsiteX0" fmla="*/ 1714 w 2731"/>
                  <a:gd name="connsiteY0" fmla="*/ 175965 h 174797"/>
                  <a:gd name="connsiteX1" fmla="*/ 1168 w 2731"/>
                  <a:gd name="connsiteY1" fmla="*/ 1168 h 174797"/>
                </a:gdLst>
                <a:ahLst/>
                <a:cxnLst>
                  <a:cxn ang="0">
                    <a:pos x="connsiteX0" y="connsiteY0"/>
                  </a:cxn>
                  <a:cxn ang="0">
                    <a:pos x="connsiteX1" y="connsiteY1"/>
                  </a:cxn>
                </a:cxnLst>
                <a:rect l="l" t="t" r="r" b="b"/>
                <a:pathLst>
                  <a:path w="2731" h="174797">
                    <a:moveTo>
                      <a:pt x="1714" y="175965"/>
                    </a:moveTo>
                    <a:lnTo>
                      <a:pt x="1168" y="1168"/>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39" name="Freeform: Shape 138">
                <a:extLst>
                  <a:ext uri="{FF2B5EF4-FFF2-40B4-BE49-F238E27FC236}">
                    <a16:creationId xmlns:a16="http://schemas.microsoft.com/office/drawing/2014/main" id="{7DFCB3E5-818E-B1AF-D1E6-0DFF36FC5453}"/>
                  </a:ext>
                </a:extLst>
              </p:cNvPr>
              <p:cNvSpPr/>
              <p:nvPr/>
            </p:nvSpPr>
            <p:spPr>
              <a:xfrm>
                <a:off x="4365049" y="2805906"/>
                <a:ext cx="635760" cy="4890"/>
              </a:xfrm>
              <a:custGeom>
                <a:avLst/>
                <a:gdLst>
                  <a:gd name="connsiteX0" fmla="*/ 1168 w 355056"/>
                  <a:gd name="connsiteY0" fmla="*/ 1168 h 0"/>
                  <a:gd name="connsiteX1" fmla="*/ 355678 w 355056"/>
                  <a:gd name="connsiteY1" fmla="*/ 1168 h 0"/>
                </a:gdLst>
                <a:ahLst/>
                <a:cxnLst>
                  <a:cxn ang="0">
                    <a:pos x="connsiteX0" y="connsiteY0"/>
                  </a:cxn>
                  <a:cxn ang="0">
                    <a:pos x="connsiteX1" y="connsiteY1"/>
                  </a:cxn>
                </a:cxnLst>
                <a:rect l="l" t="t" r="r" b="b"/>
                <a:pathLst>
                  <a:path w="355056">
                    <a:moveTo>
                      <a:pt x="1168" y="1168"/>
                    </a:moveTo>
                    <a:lnTo>
                      <a:pt x="355678" y="1168"/>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40" name="Freeform: Shape 139">
                <a:extLst>
                  <a:ext uri="{FF2B5EF4-FFF2-40B4-BE49-F238E27FC236}">
                    <a16:creationId xmlns:a16="http://schemas.microsoft.com/office/drawing/2014/main" id="{13EA5780-BF2B-35C3-2AD9-32AA63401A96}"/>
                  </a:ext>
                </a:extLst>
              </p:cNvPr>
              <p:cNvSpPr/>
              <p:nvPr/>
            </p:nvSpPr>
            <p:spPr>
              <a:xfrm>
                <a:off x="4654698" y="2898096"/>
                <a:ext cx="244523" cy="14672"/>
              </a:xfrm>
              <a:custGeom>
                <a:avLst/>
                <a:gdLst>
                  <a:gd name="connsiteX0" fmla="*/ 4097 w 136560"/>
                  <a:gd name="connsiteY0" fmla="*/ 4643 h 8193"/>
                  <a:gd name="connsiteX1" fmla="*/ 132737 w 136560"/>
                  <a:gd name="connsiteY1" fmla="*/ 4097 h 8193"/>
                </a:gdLst>
                <a:ahLst/>
                <a:cxnLst>
                  <a:cxn ang="0">
                    <a:pos x="connsiteX0" y="connsiteY0"/>
                  </a:cxn>
                  <a:cxn ang="0">
                    <a:pos x="connsiteX1" y="connsiteY1"/>
                  </a:cxn>
                </a:cxnLst>
                <a:rect l="l" t="t" r="r" b="b"/>
                <a:pathLst>
                  <a:path w="136560" h="8193">
                    <a:moveTo>
                      <a:pt x="4097" y="4643"/>
                    </a:moveTo>
                    <a:lnTo>
                      <a:pt x="132737" y="409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41" name="Freeform: Shape 140">
                <a:extLst>
                  <a:ext uri="{FF2B5EF4-FFF2-40B4-BE49-F238E27FC236}">
                    <a16:creationId xmlns:a16="http://schemas.microsoft.com/office/drawing/2014/main" id="{0DD09B73-6FD4-9238-0637-21A5872E27CA}"/>
                  </a:ext>
                </a:extLst>
              </p:cNvPr>
              <p:cNvSpPr/>
              <p:nvPr/>
            </p:nvSpPr>
            <p:spPr>
              <a:xfrm>
                <a:off x="4574381" y="2874997"/>
                <a:ext cx="58685" cy="58685"/>
              </a:xfrm>
              <a:custGeom>
                <a:avLst/>
                <a:gdLst>
                  <a:gd name="connsiteX0" fmla="*/ 4112 w 32774"/>
                  <a:gd name="connsiteY0" fmla="*/ 4211 h 32774"/>
                  <a:gd name="connsiteX1" fmla="*/ 30878 w 32774"/>
                  <a:gd name="connsiteY1" fmla="*/ 4112 h 32774"/>
                  <a:gd name="connsiteX2" fmla="*/ 30977 w 32774"/>
                  <a:gd name="connsiteY2" fmla="*/ 30878 h 32774"/>
                  <a:gd name="connsiteX3" fmla="*/ 4211 w 32774"/>
                  <a:gd name="connsiteY3" fmla="*/ 30977 h 32774"/>
                </a:gdLst>
                <a:ahLst/>
                <a:cxnLst>
                  <a:cxn ang="0">
                    <a:pos x="connsiteX0" y="connsiteY0"/>
                  </a:cxn>
                  <a:cxn ang="0">
                    <a:pos x="connsiteX1" y="connsiteY1"/>
                  </a:cxn>
                  <a:cxn ang="0">
                    <a:pos x="connsiteX2" y="connsiteY2"/>
                  </a:cxn>
                  <a:cxn ang="0">
                    <a:pos x="connsiteX3" y="connsiteY3"/>
                  </a:cxn>
                </a:cxnLst>
                <a:rect l="l" t="t" r="r" b="b"/>
                <a:pathLst>
                  <a:path w="32774" h="32774">
                    <a:moveTo>
                      <a:pt x="4112" y="4211"/>
                    </a:moveTo>
                    <a:lnTo>
                      <a:pt x="30878" y="4112"/>
                    </a:lnTo>
                    <a:lnTo>
                      <a:pt x="30977" y="30878"/>
                    </a:lnTo>
                    <a:lnTo>
                      <a:pt x="4211" y="30977"/>
                    </a:lnTo>
                    <a:close/>
                  </a:path>
                </a:pathLst>
              </a:custGeom>
              <a:noFill/>
              <a:ln w="15875" cap="flat">
                <a:solidFill>
                  <a:srgbClr val="D831F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42" name="Freeform: Shape 141">
                <a:extLst>
                  <a:ext uri="{FF2B5EF4-FFF2-40B4-BE49-F238E27FC236}">
                    <a16:creationId xmlns:a16="http://schemas.microsoft.com/office/drawing/2014/main" id="{9BA55339-4E4A-80FB-8E1C-35F9166213D2}"/>
                  </a:ext>
                </a:extLst>
              </p:cNvPr>
              <p:cNvSpPr/>
              <p:nvPr/>
            </p:nvSpPr>
            <p:spPr>
              <a:xfrm>
                <a:off x="4574870" y="2969874"/>
                <a:ext cx="58685" cy="58685"/>
              </a:xfrm>
              <a:custGeom>
                <a:avLst/>
                <a:gdLst>
                  <a:gd name="connsiteX0" fmla="*/ 4112 w 32774"/>
                  <a:gd name="connsiteY0" fmla="*/ 4211 h 32774"/>
                  <a:gd name="connsiteX1" fmla="*/ 30878 w 32774"/>
                  <a:gd name="connsiteY1" fmla="*/ 4112 h 32774"/>
                  <a:gd name="connsiteX2" fmla="*/ 30977 w 32774"/>
                  <a:gd name="connsiteY2" fmla="*/ 30878 h 32774"/>
                  <a:gd name="connsiteX3" fmla="*/ 4211 w 32774"/>
                  <a:gd name="connsiteY3" fmla="*/ 30977 h 32774"/>
                </a:gdLst>
                <a:ahLst/>
                <a:cxnLst>
                  <a:cxn ang="0">
                    <a:pos x="connsiteX0" y="connsiteY0"/>
                  </a:cxn>
                  <a:cxn ang="0">
                    <a:pos x="connsiteX1" y="connsiteY1"/>
                  </a:cxn>
                  <a:cxn ang="0">
                    <a:pos x="connsiteX2" y="connsiteY2"/>
                  </a:cxn>
                  <a:cxn ang="0">
                    <a:pos x="connsiteX3" y="connsiteY3"/>
                  </a:cxn>
                </a:cxnLst>
                <a:rect l="l" t="t" r="r" b="b"/>
                <a:pathLst>
                  <a:path w="32774" h="32774">
                    <a:moveTo>
                      <a:pt x="4112" y="4211"/>
                    </a:moveTo>
                    <a:lnTo>
                      <a:pt x="30878" y="4112"/>
                    </a:lnTo>
                    <a:lnTo>
                      <a:pt x="30977" y="30878"/>
                    </a:lnTo>
                    <a:lnTo>
                      <a:pt x="4211" y="30977"/>
                    </a:lnTo>
                    <a:close/>
                  </a:path>
                </a:pathLst>
              </a:custGeom>
              <a:noFill/>
              <a:ln w="15875" cap="flat">
                <a:solidFill>
                  <a:srgbClr val="D831F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43" name="Freeform: Shape 142">
                <a:extLst>
                  <a:ext uri="{FF2B5EF4-FFF2-40B4-BE49-F238E27FC236}">
                    <a16:creationId xmlns:a16="http://schemas.microsoft.com/office/drawing/2014/main" id="{AA9681FF-E3A2-4E02-A469-49123C2C2D69}"/>
                  </a:ext>
                </a:extLst>
              </p:cNvPr>
              <p:cNvSpPr/>
              <p:nvPr/>
            </p:nvSpPr>
            <p:spPr>
              <a:xfrm>
                <a:off x="4655676" y="3087358"/>
                <a:ext cx="264085" cy="14672"/>
              </a:xfrm>
              <a:custGeom>
                <a:avLst/>
                <a:gdLst>
                  <a:gd name="connsiteX0" fmla="*/ 4097 w 147485"/>
                  <a:gd name="connsiteY0" fmla="*/ 4916 h 8193"/>
                  <a:gd name="connsiteX1" fmla="*/ 145300 w 147485"/>
                  <a:gd name="connsiteY1" fmla="*/ 4097 h 8193"/>
                </a:gdLst>
                <a:ahLst/>
                <a:cxnLst>
                  <a:cxn ang="0">
                    <a:pos x="connsiteX0" y="connsiteY0"/>
                  </a:cxn>
                  <a:cxn ang="0">
                    <a:pos x="connsiteX1" y="connsiteY1"/>
                  </a:cxn>
                </a:cxnLst>
                <a:rect l="l" t="t" r="r" b="b"/>
                <a:pathLst>
                  <a:path w="147485" h="8193">
                    <a:moveTo>
                      <a:pt x="4097" y="4916"/>
                    </a:moveTo>
                    <a:lnTo>
                      <a:pt x="145300" y="409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44" name="Freeform: Shape 143">
                <a:extLst>
                  <a:ext uri="{FF2B5EF4-FFF2-40B4-BE49-F238E27FC236}">
                    <a16:creationId xmlns:a16="http://schemas.microsoft.com/office/drawing/2014/main" id="{F49FB1F7-99C7-8405-F399-48287CF149AB}"/>
                  </a:ext>
                </a:extLst>
              </p:cNvPr>
              <p:cNvSpPr/>
              <p:nvPr/>
            </p:nvSpPr>
            <p:spPr>
              <a:xfrm>
                <a:off x="4575359" y="3064748"/>
                <a:ext cx="58685" cy="58685"/>
              </a:xfrm>
              <a:custGeom>
                <a:avLst/>
                <a:gdLst>
                  <a:gd name="connsiteX0" fmla="*/ 4112 w 32774"/>
                  <a:gd name="connsiteY0" fmla="*/ 4211 h 32774"/>
                  <a:gd name="connsiteX1" fmla="*/ 30878 w 32774"/>
                  <a:gd name="connsiteY1" fmla="*/ 4112 h 32774"/>
                  <a:gd name="connsiteX2" fmla="*/ 30977 w 32774"/>
                  <a:gd name="connsiteY2" fmla="*/ 30878 h 32774"/>
                  <a:gd name="connsiteX3" fmla="*/ 4211 w 32774"/>
                  <a:gd name="connsiteY3" fmla="*/ 30977 h 32774"/>
                </a:gdLst>
                <a:ahLst/>
                <a:cxnLst>
                  <a:cxn ang="0">
                    <a:pos x="connsiteX0" y="connsiteY0"/>
                  </a:cxn>
                  <a:cxn ang="0">
                    <a:pos x="connsiteX1" y="connsiteY1"/>
                  </a:cxn>
                  <a:cxn ang="0">
                    <a:pos x="connsiteX2" y="connsiteY2"/>
                  </a:cxn>
                  <a:cxn ang="0">
                    <a:pos x="connsiteX3" y="connsiteY3"/>
                  </a:cxn>
                </a:cxnLst>
                <a:rect l="l" t="t" r="r" b="b"/>
                <a:pathLst>
                  <a:path w="32774" h="32774">
                    <a:moveTo>
                      <a:pt x="4112" y="4211"/>
                    </a:moveTo>
                    <a:lnTo>
                      <a:pt x="30878" y="4112"/>
                    </a:lnTo>
                    <a:lnTo>
                      <a:pt x="30977" y="30878"/>
                    </a:lnTo>
                    <a:lnTo>
                      <a:pt x="4211" y="30977"/>
                    </a:lnTo>
                    <a:close/>
                  </a:path>
                </a:pathLst>
              </a:custGeom>
              <a:noFill/>
              <a:ln w="15875" cap="flat">
                <a:solidFill>
                  <a:srgbClr val="D831F5"/>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45" name="Freeform: Shape 144">
                <a:extLst>
                  <a:ext uri="{FF2B5EF4-FFF2-40B4-BE49-F238E27FC236}">
                    <a16:creationId xmlns:a16="http://schemas.microsoft.com/office/drawing/2014/main" id="{B4F1C374-9687-EC64-C5CF-D88E7B97C308}"/>
                  </a:ext>
                </a:extLst>
              </p:cNvPr>
              <p:cNvSpPr/>
              <p:nvPr/>
            </p:nvSpPr>
            <p:spPr>
              <a:xfrm>
                <a:off x="4655187" y="2996883"/>
                <a:ext cx="264085" cy="14672"/>
              </a:xfrm>
              <a:custGeom>
                <a:avLst/>
                <a:gdLst>
                  <a:gd name="connsiteX0" fmla="*/ 4097 w 147485"/>
                  <a:gd name="connsiteY0" fmla="*/ 4643 h 8193"/>
                  <a:gd name="connsiteX1" fmla="*/ 145300 w 147485"/>
                  <a:gd name="connsiteY1" fmla="*/ 4097 h 8193"/>
                </a:gdLst>
                <a:ahLst/>
                <a:cxnLst>
                  <a:cxn ang="0">
                    <a:pos x="connsiteX0" y="connsiteY0"/>
                  </a:cxn>
                  <a:cxn ang="0">
                    <a:pos x="connsiteX1" y="connsiteY1"/>
                  </a:cxn>
                </a:cxnLst>
                <a:rect l="l" t="t" r="r" b="b"/>
                <a:pathLst>
                  <a:path w="147485" h="8193">
                    <a:moveTo>
                      <a:pt x="4097" y="4643"/>
                    </a:moveTo>
                    <a:lnTo>
                      <a:pt x="145300" y="409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grpSp>
      <p:grpSp>
        <p:nvGrpSpPr>
          <p:cNvPr id="234" name="Group 233" descr="Step 3, use recommended metrics or define your own.">
            <a:extLst>
              <a:ext uri="{FF2B5EF4-FFF2-40B4-BE49-F238E27FC236}">
                <a16:creationId xmlns:a16="http://schemas.microsoft.com/office/drawing/2014/main" id="{39D960D6-B04F-B125-E142-A5F35830FBA0}"/>
              </a:ext>
            </a:extLst>
          </p:cNvPr>
          <p:cNvGrpSpPr/>
          <p:nvPr/>
        </p:nvGrpSpPr>
        <p:grpSpPr>
          <a:xfrm>
            <a:off x="3145396" y="2498441"/>
            <a:ext cx="1505113" cy="3107375"/>
            <a:chOff x="3145396" y="2498441"/>
            <a:chExt cx="1505113" cy="3107375"/>
          </a:xfrm>
        </p:grpSpPr>
        <p:sp>
          <p:nvSpPr>
            <p:cNvPr id="5" name="TextBox 4">
              <a:extLst>
                <a:ext uri="{FF2B5EF4-FFF2-40B4-BE49-F238E27FC236}">
                  <a16:creationId xmlns:a16="http://schemas.microsoft.com/office/drawing/2014/main" id="{3D14964E-CE8A-6331-257B-9408C0D1AAE1}"/>
                </a:ext>
              </a:extLst>
            </p:cNvPr>
            <p:cNvSpPr txBox="1"/>
            <p:nvPr/>
          </p:nvSpPr>
          <p:spPr>
            <a:xfrm>
              <a:off x="3145396" y="3959896"/>
              <a:ext cx="1505113" cy="1645920"/>
            </a:xfrm>
            <a:prstGeom prst="rect">
              <a:avLst/>
            </a:prstGeom>
          </p:spPr>
          <p:txBody>
            <a:bodyPr wrap="square" lIns="0" tIns="0" rIns="0" bIns="0">
              <a:noAutofit/>
            </a:bodyPr>
            <a:lstStyle>
              <a:defPPr>
                <a:defRPr lang="en-US"/>
              </a:defPPr>
              <a:lvl1pPr indent="0" algn="ctr">
                <a:lnSpc>
                  <a:spcPct val="90000"/>
                </a:lnSpc>
                <a:spcBef>
                  <a:spcPts val="0"/>
                </a:spcBef>
                <a:spcAft>
                  <a:spcPts val="1200"/>
                </a:spcAft>
                <a:buSzPct val="90000"/>
                <a:buFont typeface="Arial" panose="020B0604020202020204" pitchFamily="34" charset="0"/>
                <a:buNone/>
                <a:defRPr sz="2000">
                  <a:latin typeface="+mj-lt"/>
                </a:defRPr>
              </a:lvl1pPr>
              <a:lvl2pPr marL="514350" indent="-228600">
                <a:lnSpc>
                  <a:spcPct val="90000"/>
                </a:lnSpc>
                <a:spcBef>
                  <a:spcPts val="0"/>
                </a:spcBef>
                <a:spcAft>
                  <a:spcPts val="1200"/>
                </a:spcAft>
                <a:buSzPct val="90000"/>
                <a:buFont typeface="Wingdings" panose="05000000000000000000" pitchFamily="2" charset="2"/>
                <a:buChar char="§"/>
                <a:defRPr sz="2400"/>
              </a:lvl2pPr>
              <a:lvl3pPr marL="857250" indent="-228600">
                <a:lnSpc>
                  <a:spcPct val="90000"/>
                </a:lnSpc>
                <a:spcBef>
                  <a:spcPts val="0"/>
                </a:spcBef>
                <a:spcAft>
                  <a:spcPts val="1200"/>
                </a:spcAft>
                <a:buFont typeface="Amazon Ember" panose="020B0603020204020204" pitchFamily="34" charset="0"/>
                <a:buChar char="–"/>
                <a:defRPr sz="2000"/>
              </a:lvl3pPr>
              <a:lvl4pPr marL="1030288" indent="-171450">
                <a:lnSpc>
                  <a:spcPct val="90000"/>
                </a:lnSpc>
                <a:spcBef>
                  <a:spcPts val="0"/>
                </a:spcBef>
                <a:spcAft>
                  <a:spcPts val="1200"/>
                </a:spcAft>
                <a:buFont typeface="Arial" panose="020B0604020202020204" pitchFamily="34" charset="0"/>
                <a:buChar char="•"/>
              </a:lvl4pPr>
              <a:lvl5pPr marL="1201738" indent="-171450">
                <a:lnSpc>
                  <a:spcPct val="90000"/>
                </a:lnSpc>
                <a:spcBef>
                  <a:spcPts val="0"/>
                </a:spcBef>
                <a:spcAft>
                  <a:spcPts val="1200"/>
                </a:spcAft>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1200"/>
                </a:spcAft>
                <a:buClrTx/>
                <a:buSzPct val="90000"/>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Use recommended metrics </a:t>
              </a:r>
              <a:br>
                <a:rPr kumimoji="0" lang="en-US" sz="1800" b="0" i="0" u="none" strike="noStrike" kern="1200" cap="none" spc="0" normalizeH="0" baseline="0" noProof="0" dirty="0">
                  <a:ln>
                    <a:noFill/>
                  </a:ln>
                  <a:solidFill>
                    <a:srgbClr val="232F3E"/>
                  </a:solidFill>
                  <a:effectLst/>
                  <a:uLnTx/>
                  <a:uFillTx/>
                  <a:latin typeface="Amazon Ember Light"/>
                  <a:ea typeface="+mn-ea"/>
                  <a:cs typeface="+mn-cs"/>
                </a:rPr>
              </a:b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or define </a:t>
              </a:r>
              <a:br>
                <a:rPr kumimoji="0" lang="en-US" sz="1800" b="0" i="0" u="none" strike="noStrike" kern="1200" cap="none" spc="0" normalizeH="0" baseline="0" noProof="0" dirty="0">
                  <a:ln>
                    <a:noFill/>
                  </a:ln>
                  <a:solidFill>
                    <a:srgbClr val="232F3E"/>
                  </a:solidFill>
                  <a:effectLst/>
                  <a:uLnTx/>
                  <a:uFillTx/>
                  <a:latin typeface="Amazon Ember Light"/>
                  <a:ea typeface="+mn-ea"/>
                  <a:cs typeface="+mn-cs"/>
                </a:rPr>
              </a:b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your own</a:t>
              </a:r>
            </a:p>
          </p:txBody>
        </p:sp>
        <p:sp>
          <p:nvSpPr>
            <p:cNvPr id="69" name="Freeform: Shape 68">
              <a:extLst>
                <a:ext uri="{FF2B5EF4-FFF2-40B4-BE49-F238E27FC236}">
                  <a16:creationId xmlns:a16="http://schemas.microsoft.com/office/drawing/2014/main" id="{DDB94013-23A5-5497-89DC-27B257DB9F77}"/>
                </a:ext>
              </a:extLst>
            </p:cNvPr>
            <p:cNvSpPr/>
            <p:nvPr/>
          </p:nvSpPr>
          <p:spPr>
            <a:xfrm>
              <a:off x="3303078" y="2498441"/>
              <a:ext cx="1315407" cy="1144940"/>
            </a:xfrm>
            <a:custGeom>
              <a:avLst/>
              <a:gdLst>
                <a:gd name="connsiteX0" fmla="*/ 2061646 w 2066765"/>
                <a:gd name="connsiteY0" fmla="*/ 916242 h 1798928"/>
                <a:gd name="connsiteX1" fmla="*/ 2062340 w 2066765"/>
                <a:gd name="connsiteY1" fmla="*/ 914998 h 1798928"/>
                <a:gd name="connsiteX2" fmla="*/ 2064423 w 2066765"/>
                <a:gd name="connsiteY2" fmla="*/ 911064 h 1798928"/>
                <a:gd name="connsiteX3" fmla="*/ 2065001 w 2066765"/>
                <a:gd name="connsiteY3" fmla="*/ 909213 h 1798928"/>
                <a:gd name="connsiteX4" fmla="*/ 2066159 w 2066765"/>
                <a:gd name="connsiteY4" fmla="*/ 905423 h 1798928"/>
                <a:gd name="connsiteX5" fmla="*/ 2066766 w 2066765"/>
                <a:gd name="connsiteY5" fmla="*/ 899464 h 1798928"/>
                <a:gd name="connsiteX6" fmla="*/ 2066159 w 2066765"/>
                <a:gd name="connsiteY6" fmla="*/ 893505 h 1798928"/>
                <a:gd name="connsiteX7" fmla="*/ 2065001 w 2066765"/>
                <a:gd name="connsiteY7" fmla="*/ 889716 h 1798928"/>
                <a:gd name="connsiteX8" fmla="*/ 2064423 w 2066765"/>
                <a:gd name="connsiteY8" fmla="*/ 887865 h 1798928"/>
                <a:gd name="connsiteX9" fmla="*/ 2062340 w 2066765"/>
                <a:gd name="connsiteY9" fmla="*/ 883931 h 1798928"/>
                <a:gd name="connsiteX10" fmla="*/ 2061646 w 2066765"/>
                <a:gd name="connsiteY10" fmla="*/ 882687 h 1798928"/>
                <a:gd name="connsiteX11" fmla="*/ 2057914 w 2066765"/>
                <a:gd name="connsiteY11" fmla="*/ 878116 h 1798928"/>
                <a:gd name="connsiteX12" fmla="*/ 2057914 w 2066765"/>
                <a:gd name="connsiteY12" fmla="*/ 878116 h 1798928"/>
                <a:gd name="connsiteX13" fmla="*/ 1921840 w 2066765"/>
                <a:gd name="connsiteY13" fmla="*/ 742042 h 1798928"/>
                <a:gd name="connsiteX14" fmla="*/ 1879173 w 2066765"/>
                <a:gd name="connsiteY14" fmla="*/ 742042 h 1798928"/>
                <a:gd name="connsiteX15" fmla="*/ 1879173 w 2066765"/>
                <a:gd name="connsiteY15" fmla="*/ 784710 h 1798928"/>
                <a:gd name="connsiteX16" fmla="*/ 1963727 w 2066765"/>
                <a:gd name="connsiteY16" fmla="*/ 869264 h 1798928"/>
                <a:gd name="connsiteX17" fmla="*/ 1651313 w 2066765"/>
                <a:gd name="connsiteY17" fmla="*/ 869264 h 1798928"/>
                <a:gd name="connsiteX18" fmla="*/ 899493 w 2066765"/>
                <a:gd name="connsiteY18" fmla="*/ 146835 h 1798928"/>
                <a:gd name="connsiteX19" fmla="*/ 146864 w 2066765"/>
                <a:gd name="connsiteY19" fmla="*/ 899464 h 1798928"/>
                <a:gd name="connsiteX20" fmla="*/ 899464 w 2066765"/>
                <a:gd name="connsiteY20" fmla="*/ 1652065 h 1798928"/>
                <a:gd name="connsiteX21" fmla="*/ 1633638 w 2066765"/>
                <a:gd name="connsiteY21" fmla="*/ 1065710 h 1798928"/>
                <a:gd name="connsiteX22" fmla="*/ 1722156 w 2066765"/>
                <a:gd name="connsiteY22" fmla="*/ 1065710 h 1798928"/>
                <a:gd name="connsiteX23" fmla="*/ 899464 w 2066765"/>
                <a:gd name="connsiteY23" fmla="*/ 1738558 h 1798928"/>
                <a:gd name="connsiteX24" fmla="*/ 60342 w 2066765"/>
                <a:gd name="connsiteY24" fmla="*/ 899436 h 1798928"/>
                <a:gd name="connsiteX25" fmla="*/ 899464 w 2066765"/>
                <a:gd name="connsiteY25" fmla="*/ 60342 h 1798928"/>
                <a:gd name="connsiteX26" fmla="*/ 1728346 w 2066765"/>
                <a:gd name="connsiteY26" fmla="*/ 768077 h 1798928"/>
                <a:gd name="connsiteX27" fmla="*/ 1762827 w 2066765"/>
                <a:gd name="connsiteY27" fmla="*/ 793186 h 1798928"/>
                <a:gd name="connsiteX28" fmla="*/ 1787965 w 2066765"/>
                <a:gd name="connsiteY28" fmla="*/ 758704 h 1798928"/>
                <a:gd name="connsiteX29" fmla="*/ 1486688 w 2066765"/>
                <a:gd name="connsiteY29" fmla="*/ 218141 h 1798928"/>
                <a:gd name="connsiteX30" fmla="*/ 899464 w 2066765"/>
                <a:gd name="connsiteY30" fmla="*/ 0 h 1798928"/>
                <a:gd name="connsiteX31" fmla="*/ 0 w 2066765"/>
                <a:gd name="connsiteY31" fmla="*/ 899464 h 1798928"/>
                <a:gd name="connsiteX32" fmla="*/ 899464 w 2066765"/>
                <a:gd name="connsiteY32" fmla="*/ 1798929 h 1798928"/>
                <a:gd name="connsiteX33" fmla="*/ 1486717 w 2066765"/>
                <a:gd name="connsiteY33" fmla="*/ 1580788 h 1798928"/>
                <a:gd name="connsiteX34" fmla="*/ 1787994 w 2066765"/>
                <a:gd name="connsiteY34" fmla="*/ 1040225 h 1798928"/>
                <a:gd name="connsiteX35" fmla="*/ 1781109 w 2066765"/>
                <a:gd name="connsiteY35" fmla="*/ 1015926 h 1798928"/>
                <a:gd name="connsiteX36" fmla="*/ 1758170 w 2066765"/>
                <a:gd name="connsiteY36" fmla="*/ 1005367 h 1798928"/>
                <a:gd name="connsiteX37" fmla="*/ 1609108 w 2066765"/>
                <a:gd name="connsiteY37" fmla="*/ 1005367 h 1798928"/>
                <a:gd name="connsiteX38" fmla="*/ 1579457 w 2066765"/>
                <a:gd name="connsiteY38" fmla="*/ 1029898 h 1798928"/>
                <a:gd name="connsiteX39" fmla="*/ 899464 w 2066765"/>
                <a:gd name="connsiteY39" fmla="*/ 1591723 h 1798928"/>
                <a:gd name="connsiteX40" fmla="*/ 207206 w 2066765"/>
                <a:gd name="connsiteY40" fmla="*/ 899464 h 1798928"/>
                <a:gd name="connsiteX41" fmla="*/ 899464 w 2066765"/>
                <a:gd name="connsiteY41" fmla="*/ 207206 h 1798928"/>
                <a:gd name="connsiteX42" fmla="*/ 1591723 w 2066765"/>
                <a:gd name="connsiteY42" fmla="*/ 899464 h 1798928"/>
                <a:gd name="connsiteX43" fmla="*/ 1621894 w 2066765"/>
                <a:gd name="connsiteY43" fmla="*/ 929636 h 1798928"/>
                <a:gd name="connsiteX44" fmla="*/ 1963727 w 2066765"/>
                <a:gd name="connsiteY44" fmla="*/ 929636 h 1798928"/>
                <a:gd name="connsiteX45" fmla="*/ 1879173 w 2066765"/>
                <a:gd name="connsiteY45" fmla="*/ 1014190 h 1798928"/>
                <a:gd name="connsiteX46" fmla="*/ 1879173 w 2066765"/>
                <a:gd name="connsiteY46" fmla="*/ 1056858 h 1798928"/>
                <a:gd name="connsiteX47" fmla="*/ 1900521 w 2066765"/>
                <a:gd name="connsiteY47" fmla="*/ 1065710 h 1798928"/>
                <a:gd name="connsiteX48" fmla="*/ 1921869 w 2066765"/>
                <a:gd name="connsiteY48" fmla="*/ 1056887 h 1798928"/>
                <a:gd name="connsiteX49" fmla="*/ 2057943 w 2066765"/>
                <a:gd name="connsiteY49" fmla="*/ 920813 h 1798928"/>
                <a:gd name="connsiteX50" fmla="*/ 2057943 w 2066765"/>
                <a:gd name="connsiteY50" fmla="*/ 920813 h 1798928"/>
                <a:gd name="connsiteX51" fmla="*/ 2061675 w 2066765"/>
                <a:gd name="connsiteY51" fmla="*/ 916242 h 17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066765" h="1798928">
                  <a:moveTo>
                    <a:pt x="2061646" y="916242"/>
                  </a:moveTo>
                  <a:cubicBezTo>
                    <a:pt x="2061906" y="915837"/>
                    <a:pt x="2062080" y="915403"/>
                    <a:pt x="2062340" y="914998"/>
                  </a:cubicBezTo>
                  <a:cubicBezTo>
                    <a:pt x="2063092" y="913726"/>
                    <a:pt x="2063844" y="912453"/>
                    <a:pt x="2064423" y="911064"/>
                  </a:cubicBezTo>
                  <a:cubicBezTo>
                    <a:pt x="2064683" y="910457"/>
                    <a:pt x="2064799" y="909820"/>
                    <a:pt x="2065001" y="909213"/>
                  </a:cubicBezTo>
                  <a:cubicBezTo>
                    <a:pt x="2065435" y="907969"/>
                    <a:pt x="2065898" y="906754"/>
                    <a:pt x="2066159" y="905423"/>
                  </a:cubicBezTo>
                  <a:cubicBezTo>
                    <a:pt x="2066564" y="903485"/>
                    <a:pt x="2066766" y="901489"/>
                    <a:pt x="2066766" y="899464"/>
                  </a:cubicBezTo>
                  <a:cubicBezTo>
                    <a:pt x="2066766" y="897440"/>
                    <a:pt x="2066564" y="895444"/>
                    <a:pt x="2066159" y="893505"/>
                  </a:cubicBezTo>
                  <a:cubicBezTo>
                    <a:pt x="2065898" y="892204"/>
                    <a:pt x="2065435" y="890960"/>
                    <a:pt x="2065001" y="889716"/>
                  </a:cubicBezTo>
                  <a:cubicBezTo>
                    <a:pt x="2064799" y="889108"/>
                    <a:pt x="2064683" y="888472"/>
                    <a:pt x="2064423" y="887865"/>
                  </a:cubicBezTo>
                  <a:cubicBezTo>
                    <a:pt x="2063844" y="886476"/>
                    <a:pt x="2063092" y="885203"/>
                    <a:pt x="2062340" y="883931"/>
                  </a:cubicBezTo>
                  <a:cubicBezTo>
                    <a:pt x="2062080" y="883526"/>
                    <a:pt x="2061935" y="883063"/>
                    <a:pt x="2061646" y="882687"/>
                  </a:cubicBezTo>
                  <a:cubicBezTo>
                    <a:pt x="2060547" y="881038"/>
                    <a:pt x="2059303" y="879505"/>
                    <a:pt x="2057914" y="878116"/>
                  </a:cubicBezTo>
                  <a:lnTo>
                    <a:pt x="2057914" y="878116"/>
                  </a:lnTo>
                  <a:lnTo>
                    <a:pt x="1921840" y="742042"/>
                  </a:lnTo>
                  <a:cubicBezTo>
                    <a:pt x="1910067" y="730269"/>
                    <a:pt x="1890946" y="730269"/>
                    <a:pt x="1879173" y="742042"/>
                  </a:cubicBezTo>
                  <a:cubicBezTo>
                    <a:pt x="1867399" y="753816"/>
                    <a:pt x="1867399" y="772937"/>
                    <a:pt x="1879173" y="784710"/>
                  </a:cubicBezTo>
                  <a:lnTo>
                    <a:pt x="1963727" y="869264"/>
                  </a:lnTo>
                  <a:lnTo>
                    <a:pt x="1651313" y="869264"/>
                  </a:lnTo>
                  <a:cubicBezTo>
                    <a:pt x="1635403" y="468217"/>
                    <a:pt x="1304359" y="146835"/>
                    <a:pt x="899493" y="146835"/>
                  </a:cubicBezTo>
                  <a:cubicBezTo>
                    <a:pt x="494627" y="146835"/>
                    <a:pt x="146864" y="484474"/>
                    <a:pt x="146864" y="899464"/>
                  </a:cubicBezTo>
                  <a:cubicBezTo>
                    <a:pt x="146864" y="1314455"/>
                    <a:pt x="484474" y="1652065"/>
                    <a:pt x="899464" y="1652065"/>
                  </a:cubicBezTo>
                  <a:cubicBezTo>
                    <a:pt x="1251972" y="1652065"/>
                    <a:pt x="1556778" y="1406964"/>
                    <a:pt x="1633638" y="1065710"/>
                  </a:cubicBezTo>
                  <a:lnTo>
                    <a:pt x="1722156" y="1065710"/>
                  </a:lnTo>
                  <a:cubicBezTo>
                    <a:pt x="1643936" y="1457703"/>
                    <a:pt x="1303404" y="1738558"/>
                    <a:pt x="899464" y="1738558"/>
                  </a:cubicBezTo>
                  <a:cubicBezTo>
                    <a:pt x="436773" y="1738558"/>
                    <a:pt x="60342" y="1362127"/>
                    <a:pt x="60342" y="899436"/>
                  </a:cubicBezTo>
                  <a:cubicBezTo>
                    <a:pt x="60342" y="436744"/>
                    <a:pt x="436773" y="60342"/>
                    <a:pt x="899464" y="60342"/>
                  </a:cubicBezTo>
                  <a:cubicBezTo>
                    <a:pt x="1315265" y="60342"/>
                    <a:pt x="1663867" y="357975"/>
                    <a:pt x="1728346" y="768077"/>
                  </a:cubicBezTo>
                  <a:cubicBezTo>
                    <a:pt x="1730949" y="784536"/>
                    <a:pt x="1746512" y="795789"/>
                    <a:pt x="1762827" y="793186"/>
                  </a:cubicBezTo>
                  <a:cubicBezTo>
                    <a:pt x="1779287" y="790611"/>
                    <a:pt x="1790540" y="775164"/>
                    <a:pt x="1787965" y="758704"/>
                  </a:cubicBezTo>
                  <a:cubicBezTo>
                    <a:pt x="1755046" y="549300"/>
                    <a:pt x="1648044" y="357339"/>
                    <a:pt x="1486688" y="218141"/>
                  </a:cubicBezTo>
                  <a:cubicBezTo>
                    <a:pt x="1323625" y="77467"/>
                    <a:pt x="1115088" y="0"/>
                    <a:pt x="899464" y="0"/>
                  </a:cubicBezTo>
                  <a:cubicBezTo>
                    <a:pt x="403506" y="0"/>
                    <a:pt x="0" y="403506"/>
                    <a:pt x="0" y="899464"/>
                  </a:cubicBezTo>
                  <a:cubicBezTo>
                    <a:pt x="0" y="1395423"/>
                    <a:pt x="403506" y="1798929"/>
                    <a:pt x="899464" y="1798929"/>
                  </a:cubicBezTo>
                  <a:cubicBezTo>
                    <a:pt x="1115088" y="1798929"/>
                    <a:pt x="1323625" y="1721462"/>
                    <a:pt x="1486717" y="1580788"/>
                  </a:cubicBezTo>
                  <a:cubicBezTo>
                    <a:pt x="1648073" y="1441590"/>
                    <a:pt x="1755046" y="1249629"/>
                    <a:pt x="1787994" y="1040225"/>
                  </a:cubicBezTo>
                  <a:cubicBezTo>
                    <a:pt x="1789354" y="1031517"/>
                    <a:pt x="1786837" y="1022637"/>
                    <a:pt x="1781109" y="1015926"/>
                  </a:cubicBezTo>
                  <a:cubicBezTo>
                    <a:pt x="1775382" y="1009215"/>
                    <a:pt x="1766993" y="1005367"/>
                    <a:pt x="1758170" y="1005367"/>
                  </a:cubicBezTo>
                  <a:lnTo>
                    <a:pt x="1609108" y="1005367"/>
                  </a:lnTo>
                  <a:cubicBezTo>
                    <a:pt x="1594615" y="1005367"/>
                    <a:pt x="1582177" y="1015665"/>
                    <a:pt x="1579457" y="1029898"/>
                  </a:cubicBezTo>
                  <a:cubicBezTo>
                    <a:pt x="1517408" y="1355445"/>
                    <a:pt x="1231434" y="1591723"/>
                    <a:pt x="899464" y="1591723"/>
                  </a:cubicBezTo>
                  <a:cubicBezTo>
                    <a:pt x="517740" y="1591723"/>
                    <a:pt x="207206" y="1281189"/>
                    <a:pt x="207206" y="899464"/>
                  </a:cubicBezTo>
                  <a:cubicBezTo>
                    <a:pt x="207206" y="517740"/>
                    <a:pt x="517769" y="207206"/>
                    <a:pt x="899464" y="207206"/>
                  </a:cubicBezTo>
                  <a:cubicBezTo>
                    <a:pt x="1281159" y="207206"/>
                    <a:pt x="1591723" y="517740"/>
                    <a:pt x="1591723" y="899464"/>
                  </a:cubicBezTo>
                  <a:cubicBezTo>
                    <a:pt x="1591723" y="916127"/>
                    <a:pt x="1605231" y="929636"/>
                    <a:pt x="1621894" y="929636"/>
                  </a:cubicBezTo>
                  <a:lnTo>
                    <a:pt x="1963727" y="929636"/>
                  </a:lnTo>
                  <a:lnTo>
                    <a:pt x="1879173" y="1014190"/>
                  </a:lnTo>
                  <a:cubicBezTo>
                    <a:pt x="1867399" y="1025963"/>
                    <a:pt x="1867399" y="1045084"/>
                    <a:pt x="1879173" y="1056858"/>
                  </a:cubicBezTo>
                  <a:cubicBezTo>
                    <a:pt x="1885074" y="1062759"/>
                    <a:pt x="1892797" y="1065710"/>
                    <a:pt x="1900521" y="1065710"/>
                  </a:cubicBezTo>
                  <a:cubicBezTo>
                    <a:pt x="1908245" y="1065710"/>
                    <a:pt x="1915968" y="1062759"/>
                    <a:pt x="1921869" y="1056887"/>
                  </a:cubicBezTo>
                  <a:lnTo>
                    <a:pt x="2057943" y="920813"/>
                  </a:lnTo>
                  <a:lnTo>
                    <a:pt x="2057943" y="920813"/>
                  </a:lnTo>
                  <a:cubicBezTo>
                    <a:pt x="2059332" y="919424"/>
                    <a:pt x="2060576" y="917891"/>
                    <a:pt x="2061675" y="916242"/>
                  </a:cubicBezTo>
                  <a:close/>
                </a:path>
              </a:pathLst>
            </a:custGeom>
            <a:solidFill>
              <a:srgbClr val="C037F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146" name="Group 145">
              <a:extLst>
                <a:ext uri="{FF2B5EF4-FFF2-40B4-BE49-F238E27FC236}">
                  <a16:creationId xmlns:a16="http://schemas.microsoft.com/office/drawing/2014/main" id="{5FE5ED31-B22E-5508-CC70-ADA376ABDC95}"/>
                </a:ext>
              </a:extLst>
            </p:cNvPr>
            <p:cNvGrpSpPr/>
            <p:nvPr/>
          </p:nvGrpSpPr>
          <p:grpSpPr>
            <a:xfrm>
              <a:off x="3602521" y="2871229"/>
              <a:ext cx="551750" cy="377821"/>
              <a:chOff x="330372" y="3893697"/>
              <a:chExt cx="412412" cy="282407"/>
            </a:xfrm>
          </p:grpSpPr>
          <p:sp>
            <p:nvSpPr>
              <p:cNvPr id="147" name="Freeform: Shape 146">
                <a:extLst>
                  <a:ext uri="{FF2B5EF4-FFF2-40B4-BE49-F238E27FC236}">
                    <a16:creationId xmlns:a16="http://schemas.microsoft.com/office/drawing/2014/main" id="{64274EA0-D852-AF1D-4AB6-094D840499EF}"/>
                  </a:ext>
                </a:extLst>
              </p:cNvPr>
              <p:cNvSpPr/>
              <p:nvPr/>
            </p:nvSpPr>
            <p:spPr>
              <a:xfrm>
                <a:off x="330372" y="4140598"/>
                <a:ext cx="412412" cy="35506"/>
              </a:xfrm>
              <a:custGeom>
                <a:avLst/>
                <a:gdLst>
                  <a:gd name="connsiteX0" fmla="*/ 4097 w 412411"/>
                  <a:gd name="connsiteY0" fmla="*/ 4097 h 35505"/>
                  <a:gd name="connsiteX1" fmla="*/ 4097 w 412411"/>
                  <a:gd name="connsiteY1" fmla="*/ 24308 h 35505"/>
                  <a:gd name="connsiteX2" fmla="*/ 5462 w 412411"/>
                  <a:gd name="connsiteY2" fmla="*/ 25400 h 35505"/>
                  <a:gd name="connsiteX3" fmla="*/ 28131 w 412411"/>
                  <a:gd name="connsiteY3" fmla="*/ 33048 h 35505"/>
                  <a:gd name="connsiteX4" fmla="*/ 388377 w 412411"/>
                  <a:gd name="connsiteY4" fmla="*/ 33048 h 35505"/>
                  <a:gd name="connsiteX5" fmla="*/ 407223 w 412411"/>
                  <a:gd name="connsiteY5" fmla="*/ 26493 h 35505"/>
                  <a:gd name="connsiteX6" fmla="*/ 409954 w 412411"/>
                  <a:gd name="connsiteY6" fmla="*/ 24308 h 35505"/>
                  <a:gd name="connsiteX7" fmla="*/ 409954 w 412411"/>
                  <a:gd name="connsiteY7" fmla="*/ 4097 h 35505"/>
                  <a:gd name="connsiteX8" fmla="*/ 4097 w 412411"/>
                  <a:gd name="connsiteY8" fmla="*/ 4097 h 35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2411" h="35505">
                    <a:moveTo>
                      <a:pt x="4097" y="4097"/>
                    </a:moveTo>
                    <a:lnTo>
                      <a:pt x="4097" y="24308"/>
                    </a:lnTo>
                    <a:lnTo>
                      <a:pt x="5462" y="25400"/>
                    </a:lnTo>
                    <a:cubicBezTo>
                      <a:pt x="12017" y="30316"/>
                      <a:pt x="19938" y="33048"/>
                      <a:pt x="28131" y="33048"/>
                    </a:cubicBezTo>
                    <a:lnTo>
                      <a:pt x="388377" y="33048"/>
                    </a:lnTo>
                    <a:cubicBezTo>
                      <a:pt x="395205" y="33048"/>
                      <a:pt x="401760" y="30863"/>
                      <a:pt x="407223" y="26493"/>
                    </a:cubicBezTo>
                    <a:lnTo>
                      <a:pt x="409954" y="24308"/>
                    </a:lnTo>
                    <a:lnTo>
                      <a:pt x="409954" y="4097"/>
                    </a:lnTo>
                    <a:lnTo>
                      <a:pt x="4097" y="4097"/>
                    </a:lnTo>
                    <a:close/>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48" name="Freeform: Shape 147">
                <a:extLst>
                  <a:ext uri="{FF2B5EF4-FFF2-40B4-BE49-F238E27FC236}">
                    <a16:creationId xmlns:a16="http://schemas.microsoft.com/office/drawing/2014/main" id="{08FE6CD4-0041-E46D-0F06-1D1B8A3ADA6C}"/>
                  </a:ext>
                </a:extLst>
              </p:cNvPr>
              <p:cNvSpPr/>
              <p:nvPr/>
            </p:nvSpPr>
            <p:spPr>
              <a:xfrm>
                <a:off x="386908" y="3913089"/>
                <a:ext cx="303164" cy="210303"/>
              </a:xfrm>
              <a:custGeom>
                <a:avLst/>
                <a:gdLst>
                  <a:gd name="connsiteX0" fmla="*/ 299886 w 303163"/>
                  <a:gd name="connsiteY0" fmla="*/ 198832 h 210302"/>
                  <a:gd name="connsiteX1" fmla="*/ 291693 w 303163"/>
                  <a:gd name="connsiteY1" fmla="*/ 207025 h 210302"/>
                  <a:gd name="connsiteX2" fmla="*/ 12290 w 303163"/>
                  <a:gd name="connsiteY2" fmla="*/ 207025 h 210302"/>
                  <a:gd name="connsiteX3" fmla="*/ 4097 w 303163"/>
                  <a:gd name="connsiteY3" fmla="*/ 198832 h 210302"/>
                  <a:gd name="connsiteX4" fmla="*/ 4097 w 303163"/>
                  <a:gd name="connsiteY4" fmla="*/ 12290 h 210302"/>
                  <a:gd name="connsiteX5" fmla="*/ 12290 w 303163"/>
                  <a:gd name="connsiteY5" fmla="*/ 4097 h 210302"/>
                  <a:gd name="connsiteX6" fmla="*/ 290054 w 303163"/>
                  <a:gd name="connsiteY6" fmla="*/ 4097 h 210302"/>
                  <a:gd name="connsiteX7" fmla="*/ 298248 w 303163"/>
                  <a:gd name="connsiteY7" fmla="*/ 12290 h 210302"/>
                  <a:gd name="connsiteX8" fmla="*/ 299886 w 303163"/>
                  <a:gd name="connsiteY8" fmla="*/ 198832 h 210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3163" h="210302">
                    <a:moveTo>
                      <a:pt x="299886" y="198832"/>
                    </a:moveTo>
                    <a:cubicBezTo>
                      <a:pt x="299886" y="203475"/>
                      <a:pt x="296336" y="207025"/>
                      <a:pt x="291693" y="207025"/>
                    </a:cubicBezTo>
                    <a:lnTo>
                      <a:pt x="12290" y="207025"/>
                    </a:lnTo>
                    <a:cubicBezTo>
                      <a:pt x="7647" y="207025"/>
                      <a:pt x="4097" y="203475"/>
                      <a:pt x="4097" y="198832"/>
                    </a:cubicBezTo>
                    <a:lnTo>
                      <a:pt x="4097" y="12290"/>
                    </a:lnTo>
                    <a:cubicBezTo>
                      <a:pt x="4097" y="7647"/>
                      <a:pt x="7647" y="4097"/>
                      <a:pt x="12290" y="4097"/>
                    </a:cubicBezTo>
                    <a:lnTo>
                      <a:pt x="290054" y="4097"/>
                    </a:lnTo>
                    <a:cubicBezTo>
                      <a:pt x="294697" y="4097"/>
                      <a:pt x="298248" y="7647"/>
                      <a:pt x="298248" y="12290"/>
                    </a:cubicBezTo>
                    <a:lnTo>
                      <a:pt x="299886" y="198832"/>
                    </a:lnTo>
                    <a:close/>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49" name="Freeform: Shape 148">
                <a:extLst>
                  <a:ext uri="{FF2B5EF4-FFF2-40B4-BE49-F238E27FC236}">
                    <a16:creationId xmlns:a16="http://schemas.microsoft.com/office/drawing/2014/main" id="{72F2CD32-A00C-F366-6D6D-ED365AB33EFE}"/>
                  </a:ext>
                </a:extLst>
              </p:cNvPr>
              <p:cNvSpPr/>
              <p:nvPr/>
            </p:nvSpPr>
            <p:spPr>
              <a:xfrm>
                <a:off x="365877" y="3893697"/>
                <a:ext cx="344132" cy="254002"/>
              </a:xfrm>
              <a:custGeom>
                <a:avLst/>
                <a:gdLst>
                  <a:gd name="connsiteX0" fmla="*/ 340035 w 344131"/>
                  <a:gd name="connsiteY0" fmla="*/ 241712 h 254002"/>
                  <a:gd name="connsiteX1" fmla="*/ 331841 w 344131"/>
                  <a:gd name="connsiteY1" fmla="*/ 249905 h 254002"/>
                  <a:gd name="connsiteX2" fmla="*/ 12290 w 344131"/>
                  <a:gd name="connsiteY2" fmla="*/ 249905 h 254002"/>
                  <a:gd name="connsiteX3" fmla="*/ 4097 w 344131"/>
                  <a:gd name="connsiteY3" fmla="*/ 241712 h 254002"/>
                  <a:gd name="connsiteX4" fmla="*/ 4097 w 344131"/>
                  <a:gd name="connsiteY4" fmla="*/ 12290 h 254002"/>
                  <a:gd name="connsiteX5" fmla="*/ 12290 w 344131"/>
                  <a:gd name="connsiteY5" fmla="*/ 4097 h 254002"/>
                  <a:gd name="connsiteX6" fmla="*/ 331841 w 344131"/>
                  <a:gd name="connsiteY6" fmla="*/ 4097 h 254002"/>
                  <a:gd name="connsiteX7" fmla="*/ 340035 w 344131"/>
                  <a:gd name="connsiteY7" fmla="*/ 12290 h 254002"/>
                  <a:gd name="connsiteX8" fmla="*/ 340035 w 344131"/>
                  <a:gd name="connsiteY8" fmla="*/ 241712 h 254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4131" h="254002">
                    <a:moveTo>
                      <a:pt x="340035" y="241712"/>
                    </a:moveTo>
                    <a:cubicBezTo>
                      <a:pt x="340035" y="246355"/>
                      <a:pt x="336484" y="249905"/>
                      <a:pt x="331841" y="249905"/>
                    </a:cubicBezTo>
                    <a:lnTo>
                      <a:pt x="12290" y="249905"/>
                    </a:lnTo>
                    <a:cubicBezTo>
                      <a:pt x="7647" y="249905"/>
                      <a:pt x="4097" y="246355"/>
                      <a:pt x="4097" y="241712"/>
                    </a:cubicBezTo>
                    <a:lnTo>
                      <a:pt x="4097" y="12290"/>
                    </a:lnTo>
                    <a:cubicBezTo>
                      <a:pt x="4097" y="7647"/>
                      <a:pt x="7647" y="4097"/>
                      <a:pt x="12290" y="4097"/>
                    </a:cubicBezTo>
                    <a:lnTo>
                      <a:pt x="331841" y="4097"/>
                    </a:lnTo>
                    <a:cubicBezTo>
                      <a:pt x="336484" y="4097"/>
                      <a:pt x="340035" y="7647"/>
                      <a:pt x="340035" y="12290"/>
                    </a:cubicBezTo>
                    <a:lnTo>
                      <a:pt x="340035" y="241712"/>
                    </a:lnTo>
                    <a:close/>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50" name="Freeform: Shape 149">
                <a:extLst>
                  <a:ext uri="{FF2B5EF4-FFF2-40B4-BE49-F238E27FC236}">
                    <a16:creationId xmlns:a16="http://schemas.microsoft.com/office/drawing/2014/main" id="{5BC463C6-D27F-AE3E-CC7D-C63B088DF85F}"/>
                  </a:ext>
                </a:extLst>
              </p:cNvPr>
              <p:cNvSpPr/>
              <p:nvPr/>
            </p:nvSpPr>
            <p:spPr>
              <a:xfrm>
                <a:off x="452730" y="3987651"/>
                <a:ext cx="49162" cy="46430"/>
              </a:xfrm>
              <a:custGeom>
                <a:avLst/>
                <a:gdLst>
                  <a:gd name="connsiteX0" fmla="*/ 4097 w 49161"/>
                  <a:gd name="connsiteY0" fmla="*/ 43972 h 46430"/>
                  <a:gd name="connsiteX1" fmla="*/ 46157 w 49161"/>
                  <a:gd name="connsiteY1" fmla="*/ 4097 h 46430"/>
                </a:gdLst>
                <a:ahLst/>
                <a:cxnLst>
                  <a:cxn ang="0">
                    <a:pos x="connsiteX0" y="connsiteY0"/>
                  </a:cxn>
                  <a:cxn ang="0">
                    <a:pos x="connsiteX1" y="connsiteY1"/>
                  </a:cxn>
                </a:cxnLst>
                <a:rect l="l" t="t" r="r" b="b"/>
                <a:pathLst>
                  <a:path w="49161" h="46430">
                    <a:moveTo>
                      <a:pt x="4097" y="43972"/>
                    </a:moveTo>
                    <a:lnTo>
                      <a:pt x="46157" y="409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51" name="Freeform: Shape 150">
                <a:extLst>
                  <a:ext uri="{FF2B5EF4-FFF2-40B4-BE49-F238E27FC236}">
                    <a16:creationId xmlns:a16="http://schemas.microsoft.com/office/drawing/2014/main" id="{2D4BEB0C-8CBE-3EE0-3841-716BB7DC3F8A}"/>
                  </a:ext>
                </a:extLst>
              </p:cNvPr>
              <p:cNvSpPr/>
              <p:nvPr/>
            </p:nvSpPr>
            <p:spPr>
              <a:xfrm>
                <a:off x="517459" y="3990928"/>
                <a:ext cx="40968" cy="57355"/>
              </a:xfrm>
              <a:custGeom>
                <a:avLst/>
                <a:gdLst>
                  <a:gd name="connsiteX0" fmla="*/ 4097 w 40968"/>
                  <a:gd name="connsiteY0" fmla="*/ 4097 h 57355"/>
                  <a:gd name="connsiteX1" fmla="*/ 36871 w 40968"/>
                  <a:gd name="connsiteY1" fmla="*/ 54897 h 57355"/>
                </a:gdLst>
                <a:ahLst/>
                <a:cxnLst>
                  <a:cxn ang="0">
                    <a:pos x="connsiteX0" y="connsiteY0"/>
                  </a:cxn>
                  <a:cxn ang="0">
                    <a:pos x="connsiteX1" y="connsiteY1"/>
                  </a:cxn>
                </a:cxnLst>
                <a:rect l="l" t="t" r="r" b="b"/>
                <a:pathLst>
                  <a:path w="40968" h="57355">
                    <a:moveTo>
                      <a:pt x="4097" y="4097"/>
                    </a:moveTo>
                    <a:lnTo>
                      <a:pt x="36871" y="5489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52" name="Freeform: Shape 151">
                <a:extLst>
                  <a:ext uri="{FF2B5EF4-FFF2-40B4-BE49-F238E27FC236}">
                    <a16:creationId xmlns:a16="http://schemas.microsoft.com/office/drawing/2014/main" id="{4E469C23-C9F8-9266-A577-960B4207D0CE}"/>
                  </a:ext>
                </a:extLst>
              </p:cNvPr>
              <p:cNvSpPr/>
              <p:nvPr/>
            </p:nvSpPr>
            <p:spPr>
              <a:xfrm>
                <a:off x="570718" y="4002399"/>
                <a:ext cx="49162" cy="49162"/>
              </a:xfrm>
              <a:custGeom>
                <a:avLst/>
                <a:gdLst>
                  <a:gd name="connsiteX0" fmla="*/ 4097 w 49161"/>
                  <a:gd name="connsiteY0" fmla="*/ 46430 h 49161"/>
                  <a:gd name="connsiteX1" fmla="*/ 46430 w 49161"/>
                  <a:gd name="connsiteY1" fmla="*/ 4097 h 49161"/>
                </a:gdLst>
                <a:ahLst/>
                <a:cxnLst>
                  <a:cxn ang="0">
                    <a:pos x="connsiteX0" y="connsiteY0"/>
                  </a:cxn>
                  <a:cxn ang="0">
                    <a:pos x="connsiteX1" y="connsiteY1"/>
                  </a:cxn>
                </a:cxnLst>
                <a:rect l="l" t="t" r="r" b="b"/>
                <a:pathLst>
                  <a:path w="49161" h="49161">
                    <a:moveTo>
                      <a:pt x="4097" y="46430"/>
                    </a:moveTo>
                    <a:lnTo>
                      <a:pt x="46430" y="4097"/>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53" name="Freeform: Shape 152">
                <a:extLst>
                  <a:ext uri="{FF2B5EF4-FFF2-40B4-BE49-F238E27FC236}">
                    <a16:creationId xmlns:a16="http://schemas.microsoft.com/office/drawing/2014/main" id="{BD1CC692-EC5C-EA70-FB6F-E161E91546A8}"/>
                  </a:ext>
                </a:extLst>
              </p:cNvPr>
              <p:cNvSpPr/>
              <p:nvPr/>
            </p:nvSpPr>
            <p:spPr>
              <a:xfrm>
                <a:off x="491240" y="3959246"/>
                <a:ext cx="38237" cy="38237"/>
              </a:xfrm>
              <a:custGeom>
                <a:avLst/>
                <a:gdLst>
                  <a:gd name="connsiteX0" fmla="*/ 35779 w 38236"/>
                  <a:gd name="connsiteY0" fmla="*/ 19938 h 38236"/>
                  <a:gd name="connsiteX1" fmla="*/ 19938 w 38236"/>
                  <a:gd name="connsiteY1" fmla="*/ 35779 h 38236"/>
                  <a:gd name="connsiteX2" fmla="*/ 4097 w 38236"/>
                  <a:gd name="connsiteY2" fmla="*/ 19938 h 38236"/>
                  <a:gd name="connsiteX3" fmla="*/ 19938 w 38236"/>
                  <a:gd name="connsiteY3" fmla="*/ 4097 h 38236"/>
                  <a:gd name="connsiteX4" fmla="*/ 35779 w 38236"/>
                  <a:gd name="connsiteY4" fmla="*/ 19938 h 382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6" h="38236">
                    <a:moveTo>
                      <a:pt x="35779" y="19938"/>
                    </a:moveTo>
                    <a:cubicBezTo>
                      <a:pt x="35779" y="28687"/>
                      <a:pt x="28687" y="35779"/>
                      <a:pt x="19938" y="35779"/>
                    </a:cubicBezTo>
                    <a:cubicBezTo>
                      <a:pt x="11189" y="35779"/>
                      <a:pt x="4097" y="28687"/>
                      <a:pt x="4097" y="19938"/>
                    </a:cubicBezTo>
                    <a:cubicBezTo>
                      <a:pt x="4097" y="11189"/>
                      <a:pt x="11189" y="4097"/>
                      <a:pt x="19938" y="4097"/>
                    </a:cubicBezTo>
                    <a:cubicBezTo>
                      <a:pt x="28687" y="4097"/>
                      <a:pt x="35779" y="11189"/>
                      <a:pt x="35779" y="19938"/>
                    </a:cubicBezTo>
                    <a:close/>
                  </a:path>
                </a:pathLst>
              </a:custGeom>
              <a:noFill/>
              <a:ln w="15875" cap="flat">
                <a:solidFill>
                  <a:srgbClr val="C037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54" name="Freeform: Shape 153">
                <a:extLst>
                  <a:ext uri="{FF2B5EF4-FFF2-40B4-BE49-F238E27FC236}">
                    <a16:creationId xmlns:a16="http://schemas.microsoft.com/office/drawing/2014/main" id="{67760688-3D74-869F-CF48-8EA367046DD1}"/>
                  </a:ext>
                </a:extLst>
              </p:cNvPr>
              <p:cNvSpPr/>
              <p:nvPr/>
            </p:nvSpPr>
            <p:spPr>
              <a:xfrm>
                <a:off x="543679" y="4040090"/>
                <a:ext cx="38237" cy="38237"/>
              </a:xfrm>
              <a:custGeom>
                <a:avLst/>
                <a:gdLst>
                  <a:gd name="connsiteX0" fmla="*/ 35779 w 38236"/>
                  <a:gd name="connsiteY0" fmla="*/ 19938 h 38236"/>
                  <a:gd name="connsiteX1" fmla="*/ 19938 w 38236"/>
                  <a:gd name="connsiteY1" fmla="*/ 35779 h 38236"/>
                  <a:gd name="connsiteX2" fmla="*/ 4097 w 38236"/>
                  <a:gd name="connsiteY2" fmla="*/ 19938 h 38236"/>
                  <a:gd name="connsiteX3" fmla="*/ 19938 w 38236"/>
                  <a:gd name="connsiteY3" fmla="*/ 4097 h 38236"/>
                  <a:gd name="connsiteX4" fmla="*/ 35779 w 38236"/>
                  <a:gd name="connsiteY4" fmla="*/ 19938 h 382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6" h="38236">
                    <a:moveTo>
                      <a:pt x="35779" y="19938"/>
                    </a:moveTo>
                    <a:cubicBezTo>
                      <a:pt x="35779" y="28687"/>
                      <a:pt x="28687" y="35779"/>
                      <a:pt x="19938" y="35779"/>
                    </a:cubicBezTo>
                    <a:cubicBezTo>
                      <a:pt x="11189" y="35779"/>
                      <a:pt x="4097" y="28687"/>
                      <a:pt x="4097" y="19938"/>
                    </a:cubicBezTo>
                    <a:cubicBezTo>
                      <a:pt x="4097" y="11189"/>
                      <a:pt x="11189" y="4097"/>
                      <a:pt x="19938" y="4097"/>
                    </a:cubicBezTo>
                    <a:cubicBezTo>
                      <a:pt x="28687" y="4097"/>
                      <a:pt x="35779" y="11189"/>
                      <a:pt x="35779" y="19938"/>
                    </a:cubicBezTo>
                    <a:close/>
                  </a:path>
                </a:pathLst>
              </a:custGeom>
              <a:noFill/>
              <a:ln w="15875" cap="flat">
                <a:solidFill>
                  <a:srgbClr val="C037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55" name="Freeform: Shape 154">
                <a:extLst>
                  <a:ext uri="{FF2B5EF4-FFF2-40B4-BE49-F238E27FC236}">
                    <a16:creationId xmlns:a16="http://schemas.microsoft.com/office/drawing/2014/main" id="{E3C7989C-6DA4-8403-A51B-10E296C588D1}"/>
                  </a:ext>
                </a:extLst>
              </p:cNvPr>
              <p:cNvSpPr/>
              <p:nvPr/>
            </p:nvSpPr>
            <p:spPr>
              <a:xfrm>
                <a:off x="426510" y="4022064"/>
                <a:ext cx="38237" cy="38237"/>
              </a:xfrm>
              <a:custGeom>
                <a:avLst/>
                <a:gdLst>
                  <a:gd name="connsiteX0" fmla="*/ 35779 w 38236"/>
                  <a:gd name="connsiteY0" fmla="*/ 19938 h 38236"/>
                  <a:gd name="connsiteX1" fmla="*/ 19938 w 38236"/>
                  <a:gd name="connsiteY1" fmla="*/ 35779 h 38236"/>
                  <a:gd name="connsiteX2" fmla="*/ 4097 w 38236"/>
                  <a:gd name="connsiteY2" fmla="*/ 19938 h 38236"/>
                  <a:gd name="connsiteX3" fmla="*/ 19938 w 38236"/>
                  <a:gd name="connsiteY3" fmla="*/ 4097 h 38236"/>
                  <a:gd name="connsiteX4" fmla="*/ 35779 w 38236"/>
                  <a:gd name="connsiteY4" fmla="*/ 19938 h 382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6" h="38236">
                    <a:moveTo>
                      <a:pt x="35779" y="19938"/>
                    </a:moveTo>
                    <a:cubicBezTo>
                      <a:pt x="35779" y="28687"/>
                      <a:pt x="28687" y="35779"/>
                      <a:pt x="19938" y="35779"/>
                    </a:cubicBezTo>
                    <a:cubicBezTo>
                      <a:pt x="11189" y="35779"/>
                      <a:pt x="4097" y="28687"/>
                      <a:pt x="4097" y="19938"/>
                    </a:cubicBezTo>
                    <a:cubicBezTo>
                      <a:pt x="4097" y="11189"/>
                      <a:pt x="11189" y="4097"/>
                      <a:pt x="19938" y="4097"/>
                    </a:cubicBezTo>
                    <a:cubicBezTo>
                      <a:pt x="28687" y="4097"/>
                      <a:pt x="35779" y="11189"/>
                      <a:pt x="35779" y="19938"/>
                    </a:cubicBezTo>
                    <a:close/>
                  </a:path>
                </a:pathLst>
              </a:custGeom>
              <a:noFill/>
              <a:ln w="15875" cap="flat">
                <a:solidFill>
                  <a:srgbClr val="C037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56" name="Freeform: Shape 155">
                <a:extLst>
                  <a:ext uri="{FF2B5EF4-FFF2-40B4-BE49-F238E27FC236}">
                    <a16:creationId xmlns:a16="http://schemas.microsoft.com/office/drawing/2014/main" id="{EB74689B-6D08-BFAA-304F-2E46A0DE2504}"/>
                  </a:ext>
                </a:extLst>
              </p:cNvPr>
              <p:cNvSpPr/>
              <p:nvPr/>
            </p:nvSpPr>
            <p:spPr>
              <a:xfrm>
                <a:off x="608408" y="3975360"/>
                <a:ext cx="38237" cy="38237"/>
              </a:xfrm>
              <a:custGeom>
                <a:avLst/>
                <a:gdLst>
                  <a:gd name="connsiteX0" fmla="*/ 35779 w 38236"/>
                  <a:gd name="connsiteY0" fmla="*/ 19938 h 38236"/>
                  <a:gd name="connsiteX1" fmla="*/ 19938 w 38236"/>
                  <a:gd name="connsiteY1" fmla="*/ 35779 h 38236"/>
                  <a:gd name="connsiteX2" fmla="*/ 4097 w 38236"/>
                  <a:gd name="connsiteY2" fmla="*/ 19938 h 38236"/>
                  <a:gd name="connsiteX3" fmla="*/ 19938 w 38236"/>
                  <a:gd name="connsiteY3" fmla="*/ 4097 h 38236"/>
                  <a:gd name="connsiteX4" fmla="*/ 35779 w 38236"/>
                  <a:gd name="connsiteY4" fmla="*/ 19938 h 382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6" h="38236">
                    <a:moveTo>
                      <a:pt x="35779" y="19938"/>
                    </a:moveTo>
                    <a:cubicBezTo>
                      <a:pt x="35779" y="28687"/>
                      <a:pt x="28687" y="35779"/>
                      <a:pt x="19938" y="35779"/>
                    </a:cubicBezTo>
                    <a:cubicBezTo>
                      <a:pt x="11189" y="35779"/>
                      <a:pt x="4097" y="28687"/>
                      <a:pt x="4097" y="19938"/>
                    </a:cubicBezTo>
                    <a:cubicBezTo>
                      <a:pt x="4097" y="11189"/>
                      <a:pt x="11189" y="4097"/>
                      <a:pt x="19938" y="4097"/>
                    </a:cubicBezTo>
                    <a:cubicBezTo>
                      <a:pt x="28687" y="4097"/>
                      <a:pt x="35779" y="11189"/>
                      <a:pt x="35779" y="19938"/>
                    </a:cubicBezTo>
                    <a:close/>
                  </a:path>
                </a:pathLst>
              </a:custGeom>
              <a:noFill/>
              <a:ln w="15875" cap="flat">
                <a:solidFill>
                  <a:srgbClr val="C037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grpSp>
      <p:grpSp>
        <p:nvGrpSpPr>
          <p:cNvPr id="235" name="Group 234" descr="Step 4, upload dataset.">
            <a:extLst>
              <a:ext uri="{FF2B5EF4-FFF2-40B4-BE49-F238E27FC236}">
                <a16:creationId xmlns:a16="http://schemas.microsoft.com/office/drawing/2014/main" id="{95CC9109-38A0-5D9B-B099-2D9229453177}"/>
              </a:ext>
            </a:extLst>
          </p:cNvPr>
          <p:cNvGrpSpPr/>
          <p:nvPr/>
        </p:nvGrpSpPr>
        <p:grpSpPr>
          <a:xfrm>
            <a:off x="4697004" y="2498441"/>
            <a:ext cx="1412547" cy="3107375"/>
            <a:chOff x="4697004" y="2498441"/>
            <a:chExt cx="1412547" cy="3107375"/>
          </a:xfrm>
        </p:grpSpPr>
        <p:sp>
          <p:nvSpPr>
            <p:cNvPr id="7" name="TextBox 6">
              <a:extLst>
                <a:ext uri="{FF2B5EF4-FFF2-40B4-BE49-F238E27FC236}">
                  <a16:creationId xmlns:a16="http://schemas.microsoft.com/office/drawing/2014/main" id="{32D8F614-1E14-A577-C845-D181BC4A879B}"/>
                </a:ext>
              </a:extLst>
            </p:cNvPr>
            <p:cNvSpPr txBox="1"/>
            <p:nvPr/>
          </p:nvSpPr>
          <p:spPr>
            <a:xfrm>
              <a:off x="4697004" y="3959896"/>
              <a:ext cx="1371600" cy="1645920"/>
            </a:xfrm>
            <a:prstGeom prst="rect">
              <a:avLst/>
            </a:prstGeom>
          </p:spPr>
          <p:txBody>
            <a:bodyPr wrap="square" lIns="91440" tIns="0" rIns="91440" bIns="0">
              <a:noAutofit/>
            </a:bodyPr>
            <a:lstStyle>
              <a:defPPr>
                <a:defRPr lang="en-US"/>
              </a:defPPr>
              <a:lvl1pPr indent="0" algn="ctr">
                <a:lnSpc>
                  <a:spcPct val="90000"/>
                </a:lnSpc>
                <a:spcBef>
                  <a:spcPts val="0"/>
                </a:spcBef>
                <a:spcAft>
                  <a:spcPts val="1200"/>
                </a:spcAft>
                <a:buSzPct val="90000"/>
                <a:buFont typeface="Arial" panose="020B0604020202020204" pitchFamily="34" charset="0"/>
                <a:buNone/>
                <a:defRPr sz="2000">
                  <a:latin typeface="+mj-lt"/>
                </a:defRPr>
              </a:lvl1pPr>
              <a:lvl2pPr marL="514350" indent="-228600">
                <a:lnSpc>
                  <a:spcPct val="90000"/>
                </a:lnSpc>
                <a:spcBef>
                  <a:spcPts val="0"/>
                </a:spcBef>
                <a:spcAft>
                  <a:spcPts val="1200"/>
                </a:spcAft>
                <a:buSzPct val="90000"/>
                <a:buFont typeface="Wingdings" panose="05000000000000000000" pitchFamily="2" charset="2"/>
                <a:buChar char="§"/>
                <a:defRPr sz="2400"/>
              </a:lvl2pPr>
              <a:lvl3pPr marL="857250" indent="-228600">
                <a:lnSpc>
                  <a:spcPct val="90000"/>
                </a:lnSpc>
                <a:spcBef>
                  <a:spcPts val="0"/>
                </a:spcBef>
                <a:spcAft>
                  <a:spcPts val="1200"/>
                </a:spcAft>
                <a:buFont typeface="Amazon Ember" panose="020B0603020204020204" pitchFamily="34" charset="0"/>
                <a:buChar char="–"/>
                <a:defRPr sz="2000"/>
              </a:lvl3pPr>
              <a:lvl4pPr marL="1030288" indent="-171450">
                <a:lnSpc>
                  <a:spcPct val="90000"/>
                </a:lnSpc>
                <a:spcBef>
                  <a:spcPts val="0"/>
                </a:spcBef>
                <a:spcAft>
                  <a:spcPts val="1200"/>
                </a:spcAft>
                <a:buFont typeface="Arial" panose="020B0604020202020204" pitchFamily="34" charset="0"/>
                <a:buChar char="•"/>
              </a:lvl4pPr>
              <a:lvl5pPr marL="1201738" indent="-171450">
                <a:lnSpc>
                  <a:spcPct val="90000"/>
                </a:lnSpc>
                <a:spcBef>
                  <a:spcPts val="0"/>
                </a:spcBef>
                <a:spcAft>
                  <a:spcPts val="1200"/>
                </a:spcAft>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1200"/>
                </a:spcAft>
                <a:buClrTx/>
                <a:buSzPct val="90000"/>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Upload dataset</a:t>
              </a:r>
            </a:p>
          </p:txBody>
        </p:sp>
        <p:sp>
          <p:nvSpPr>
            <p:cNvPr id="72" name="Freeform: Shape 71">
              <a:extLst>
                <a:ext uri="{FF2B5EF4-FFF2-40B4-BE49-F238E27FC236}">
                  <a16:creationId xmlns:a16="http://schemas.microsoft.com/office/drawing/2014/main" id="{59789D8B-CBBB-059A-BF01-E620B20D1E92}"/>
                </a:ext>
              </a:extLst>
            </p:cNvPr>
            <p:cNvSpPr/>
            <p:nvPr/>
          </p:nvSpPr>
          <p:spPr>
            <a:xfrm>
              <a:off x="4794144" y="2498441"/>
              <a:ext cx="1315407" cy="1144940"/>
            </a:xfrm>
            <a:custGeom>
              <a:avLst/>
              <a:gdLst>
                <a:gd name="connsiteX0" fmla="*/ 2061646 w 2066765"/>
                <a:gd name="connsiteY0" fmla="*/ 916242 h 1798928"/>
                <a:gd name="connsiteX1" fmla="*/ 2062340 w 2066765"/>
                <a:gd name="connsiteY1" fmla="*/ 914998 h 1798928"/>
                <a:gd name="connsiteX2" fmla="*/ 2064423 w 2066765"/>
                <a:gd name="connsiteY2" fmla="*/ 911064 h 1798928"/>
                <a:gd name="connsiteX3" fmla="*/ 2065001 w 2066765"/>
                <a:gd name="connsiteY3" fmla="*/ 909213 h 1798928"/>
                <a:gd name="connsiteX4" fmla="*/ 2066159 w 2066765"/>
                <a:gd name="connsiteY4" fmla="*/ 905423 h 1798928"/>
                <a:gd name="connsiteX5" fmla="*/ 2066766 w 2066765"/>
                <a:gd name="connsiteY5" fmla="*/ 899464 h 1798928"/>
                <a:gd name="connsiteX6" fmla="*/ 2066159 w 2066765"/>
                <a:gd name="connsiteY6" fmla="*/ 893505 h 1798928"/>
                <a:gd name="connsiteX7" fmla="*/ 2065001 w 2066765"/>
                <a:gd name="connsiteY7" fmla="*/ 889716 h 1798928"/>
                <a:gd name="connsiteX8" fmla="*/ 2064423 w 2066765"/>
                <a:gd name="connsiteY8" fmla="*/ 887865 h 1798928"/>
                <a:gd name="connsiteX9" fmla="*/ 2062340 w 2066765"/>
                <a:gd name="connsiteY9" fmla="*/ 883931 h 1798928"/>
                <a:gd name="connsiteX10" fmla="*/ 2061646 w 2066765"/>
                <a:gd name="connsiteY10" fmla="*/ 882687 h 1798928"/>
                <a:gd name="connsiteX11" fmla="*/ 2057914 w 2066765"/>
                <a:gd name="connsiteY11" fmla="*/ 878116 h 1798928"/>
                <a:gd name="connsiteX12" fmla="*/ 2057914 w 2066765"/>
                <a:gd name="connsiteY12" fmla="*/ 878116 h 1798928"/>
                <a:gd name="connsiteX13" fmla="*/ 1921840 w 2066765"/>
                <a:gd name="connsiteY13" fmla="*/ 742042 h 1798928"/>
                <a:gd name="connsiteX14" fmla="*/ 1879173 w 2066765"/>
                <a:gd name="connsiteY14" fmla="*/ 742042 h 1798928"/>
                <a:gd name="connsiteX15" fmla="*/ 1879173 w 2066765"/>
                <a:gd name="connsiteY15" fmla="*/ 784710 h 1798928"/>
                <a:gd name="connsiteX16" fmla="*/ 1963727 w 2066765"/>
                <a:gd name="connsiteY16" fmla="*/ 869264 h 1798928"/>
                <a:gd name="connsiteX17" fmla="*/ 1651313 w 2066765"/>
                <a:gd name="connsiteY17" fmla="*/ 869264 h 1798928"/>
                <a:gd name="connsiteX18" fmla="*/ 899493 w 2066765"/>
                <a:gd name="connsiteY18" fmla="*/ 146835 h 1798928"/>
                <a:gd name="connsiteX19" fmla="*/ 146864 w 2066765"/>
                <a:gd name="connsiteY19" fmla="*/ 899464 h 1798928"/>
                <a:gd name="connsiteX20" fmla="*/ 899464 w 2066765"/>
                <a:gd name="connsiteY20" fmla="*/ 1652065 h 1798928"/>
                <a:gd name="connsiteX21" fmla="*/ 1633638 w 2066765"/>
                <a:gd name="connsiteY21" fmla="*/ 1065710 h 1798928"/>
                <a:gd name="connsiteX22" fmla="*/ 1722156 w 2066765"/>
                <a:gd name="connsiteY22" fmla="*/ 1065710 h 1798928"/>
                <a:gd name="connsiteX23" fmla="*/ 899464 w 2066765"/>
                <a:gd name="connsiteY23" fmla="*/ 1738558 h 1798928"/>
                <a:gd name="connsiteX24" fmla="*/ 60342 w 2066765"/>
                <a:gd name="connsiteY24" fmla="*/ 899436 h 1798928"/>
                <a:gd name="connsiteX25" fmla="*/ 899464 w 2066765"/>
                <a:gd name="connsiteY25" fmla="*/ 60342 h 1798928"/>
                <a:gd name="connsiteX26" fmla="*/ 1728346 w 2066765"/>
                <a:gd name="connsiteY26" fmla="*/ 768077 h 1798928"/>
                <a:gd name="connsiteX27" fmla="*/ 1762827 w 2066765"/>
                <a:gd name="connsiteY27" fmla="*/ 793186 h 1798928"/>
                <a:gd name="connsiteX28" fmla="*/ 1787965 w 2066765"/>
                <a:gd name="connsiteY28" fmla="*/ 758704 h 1798928"/>
                <a:gd name="connsiteX29" fmla="*/ 1486688 w 2066765"/>
                <a:gd name="connsiteY29" fmla="*/ 218141 h 1798928"/>
                <a:gd name="connsiteX30" fmla="*/ 899464 w 2066765"/>
                <a:gd name="connsiteY30" fmla="*/ 0 h 1798928"/>
                <a:gd name="connsiteX31" fmla="*/ 0 w 2066765"/>
                <a:gd name="connsiteY31" fmla="*/ 899464 h 1798928"/>
                <a:gd name="connsiteX32" fmla="*/ 899464 w 2066765"/>
                <a:gd name="connsiteY32" fmla="*/ 1798929 h 1798928"/>
                <a:gd name="connsiteX33" fmla="*/ 1486717 w 2066765"/>
                <a:gd name="connsiteY33" fmla="*/ 1580788 h 1798928"/>
                <a:gd name="connsiteX34" fmla="*/ 1787994 w 2066765"/>
                <a:gd name="connsiteY34" fmla="*/ 1040225 h 1798928"/>
                <a:gd name="connsiteX35" fmla="*/ 1781109 w 2066765"/>
                <a:gd name="connsiteY35" fmla="*/ 1015926 h 1798928"/>
                <a:gd name="connsiteX36" fmla="*/ 1758170 w 2066765"/>
                <a:gd name="connsiteY36" fmla="*/ 1005367 h 1798928"/>
                <a:gd name="connsiteX37" fmla="*/ 1609108 w 2066765"/>
                <a:gd name="connsiteY37" fmla="*/ 1005367 h 1798928"/>
                <a:gd name="connsiteX38" fmla="*/ 1579457 w 2066765"/>
                <a:gd name="connsiteY38" fmla="*/ 1029898 h 1798928"/>
                <a:gd name="connsiteX39" fmla="*/ 899464 w 2066765"/>
                <a:gd name="connsiteY39" fmla="*/ 1591723 h 1798928"/>
                <a:gd name="connsiteX40" fmla="*/ 207206 w 2066765"/>
                <a:gd name="connsiteY40" fmla="*/ 899464 h 1798928"/>
                <a:gd name="connsiteX41" fmla="*/ 899464 w 2066765"/>
                <a:gd name="connsiteY41" fmla="*/ 207206 h 1798928"/>
                <a:gd name="connsiteX42" fmla="*/ 1591723 w 2066765"/>
                <a:gd name="connsiteY42" fmla="*/ 899464 h 1798928"/>
                <a:gd name="connsiteX43" fmla="*/ 1621894 w 2066765"/>
                <a:gd name="connsiteY43" fmla="*/ 929636 h 1798928"/>
                <a:gd name="connsiteX44" fmla="*/ 1963727 w 2066765"/>
                <a:gd name="connsiteY44" fmla="*/ 929636 h 1798928"/>
                <a:gd name="connsiteX45" fmla="*/ 1879173 w 2066765"/>
                <a:gd name="connsiteY45" fmla="*/ 1014190 h 1798928"/>
                <a:gd name="connsiteX46" fmla="*/ 1879173 w 2066765"/>
                <a:gd name="connsiteY46" fmla="*/ 1056858 h 1798928"/>
                <a:gd name="connsiteX47" fmla="*/ 1900521 w 2066765"/>
                <a:gd name="connsiteY47" fmla="*/ 1065710 h 1798928"/>
                <a:gd name="connsiteX48" fmla="*/ 1921869 w 2066765"/>
                <a:gd name="connsiteY48" fmla="*/ 1056887 h 1798928"/>
                <a:gd name="connsiteX49" fmla="*/ 2057943 w 2066765"/>
                <a:gd name="connsiteY49" fmla="*/ 920813 h 1798928"/>
                <a:gd name="connsiteX50" fmla="*/ 2057943 w 2066765"/>
                <a:gd name="connsiteY50" fmla="*/ 920813 h 1798928"/>
                <a:gd name="connsiteX51" fmla="*/ 2061675 w 2066765"/>
                <a:gd name="connsiteY51" fmla="*/ 916242 h 17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066765" h="1798928">
                  <a:moveTo>
                    <a:pt x="2061646" y="916242"/>
                  </a:moveTo>
                  <a:cubicBezTo>
                    <a:pt x="2061906" y="915837"/>
                    <a:pt x="2062080" y="915403"/>
                    <a:pt x="2062340" y="914998"/>
                  </a:cubicBezTo>
                  <a:cubicBezTo>
                    <a:pt x="2063092" y="913726"/>
                    <a:pt x="2063844" y="912453"/>
                    <a:pt x="2064423" y="911064"/>
                  </a:cubicBezTo>
                  <a:cubicBezTo>
                    <a:pt x="2064683" y="910457"/>
                    <a:pt x="2064799" y="909820"/>
                    <a:pt x="2065001" y="909213"/>
                  </a:cubicBezTo>
                  <a:cubicBezTo>
                    <a:pt x="2065435" y="907969"/>
                    <a:pt x="2065898" y="906754"/>
                    <a:pt x="2066159" y="905423"/>
                  </a:cubicBezTo>
                  <a:cubicBezTo>
                    <a:pt x="2066564" y="903485"/>
                    <a:pt x="2066766" y="901489"/>
                    <a:pt x="2066766" y="899464"/>
                  </a:cubicBezTo>
                  <a:cubicBezTo>
                    <a:pt x="2066766" y="897440"/>
                    <a:pt x="2066564" y="895444"/>
                    <a:pt x="2066159" y="893505"/>
                  </a:cubicBezTo>
                  <a:cubicBezTo>
                    <a:pt x="2065898" y="892204"/>
                    <a:pt x="2065435" y="890960"/>
                    <a:pt x="2065001" y="889716"/>
                  </a:cubicBezTo>
                  <a:cubicBezTo>
                    <a:pt x="2064799" y="889108"/>
                    <a:pt x="2064683" y="888472"/>
                    <a:pt x="2064423" y="887865"/>
                  </a:cubicBezTo>
                  <a:cubicBezTo>
                    <a:pt x="2063844" y="886476"/>
                    <a:pt x="2063092" y="885203"/>
                    <a:pt x="2062340" y="883931"/>
                  </a:cubicBezTo>
                  <a:cubicBezTo>
                    <a:pt x="2062080" y="883526"/>
                    <a:pt x="2061935" y="883063"/>
                    <a:pt x="2061646" y="882687"/>
                  </a:cubicBezTo>
                  <a:cubicBezTo>
                    <a:pt x="2060547" y="881038"/>
                    <a:pt x="2059303" y="879505"/>
                    <a:pt x="2057914" y="878116"/>
                  </a:cubicBezTo>
                  <a:lnTo>
                    <a:pt x="2057914" y="878116"/>
                  </a:lnTo>
                  <a:lnTo>
                    <a:pt x="1921840" y="742042"/>
                  </a:lnTo>
                  <a:cubicBezTo>
                    <a:pt x="1910067" y="730269"/>
                    <a:pt x="1890946" y="730269"/>
                    <a:pt x="1879173" y="742042"/>
                  </a:cubicBezTo>
                  <a:cubicBezTo>
                    <a:pt x="1867399" y="753816"/>
                    <a:pt x="1867399" y="772937"/>
                    <a:pt x="1879173" y="784710"/>
                  </a:cubicBezTo>
                  <a:lnTo>
                    <a:pt x="1963727" y="869264"/>
                  </a:lnTo>
                  <a:lnTo>
                    <a:pt x="1651313" y="869264"/>
                  </a:lnTo>
                  <a:cubicBezTo>
                    <a:pt x="1635403" y="468217"/>
                    <a:pt x="1304359" y="146835"/>
                    <a:pt x="899493" y="146835"/>
                  </a:cubicBezTo>
                  <a:cubicBezTo>
                    <a:pt x="494627" y="146835"/>
                    <a:pt x="146864" y="484474"/>
                    <a:pt x="146864" y="899464"/>
                  </a:cubicBezTo>
                  <a:cubicBezTo>
                    <a:pt x="146864" y="1314455"/>
                    <a:pt x="484474" y="1652065"/>
                    <a:pt x="899464" y="1652065"/>
                  </a:cubicBezTo>
                  <a:cubicBezTo>
                    <a:pt x="1251972" y="1652065"/>
                    <a:pt x="1556778" y="1406964"/>
                    <a:pt x="1633638" y="1065710"/>
                  </a:cubicBezTo>
                  <a:lnTo>
                    <a:pt x="1722156" y="1065710"/>
                  </a:lnTo>
                  <a:cubicBezTo>
                    <a:pt x="1643936" y="1457703"/>
                    <a:pt x="1303404" y="1738558"/>
                    <a:pt x="899464" y="1738558"/>
                  </a:cubicBezTo>
                  <a:cubicBezTo>
                    <a:pt x="436773" y="1738558"/>
                    <a:pt x="60342" y="1362127"/>
                    <a:pt x="60342" y="899436"/>
                  </a:cubicBezTo>
                  <a:cubicBezTo>
                    <a:pt x="60342" y="436744"/>
                    <a:pt x="436773" y="60342"/>
                    <a:pt x="899464" y="60342"/>
                  </a:cubicBezTo>
                  <a:cubicBezTo>
                    <a:pt x="1315265" y="60342"/>
                    <a:pt x="1663867" y="357975"/>
                    <a:pt x="1728346" y="768077"/>
                  </a:cubicBezTo>
                  <a:cubicBezTo>
                    <a:pt x="1730949" y="784536"/>
                    <a:pt x="1746512" y="795789"/>
                    <a:pt x="1762827" y="793186"/>
                  </a:cubicBezTo>
                  <a:cubicBezTo>
                    <a:pt x="1779287" y="790611"/>
                    <a:pt x="1790540" y="775164"/>
                    <a:pt x="1787965" y="758704"/>
                  </a:cubicBezTo>
                  <a:cubicBezTo>
                    <a:pt x="1755046" y="549300"/>
                    <a:pt x="1648044" y="357339"/>
                    <a:pt x="1486688" y="218141"/>
                  </a:cubicBezTo>
                  <a:cubicBezTo>
                    <a:pt x="1323625" y="77467"/>
                    <a:pt x="1115088" y="0"/>
                    <a:pt x="899464" y="0"/>
                  </a:cubicBezTo>
                  <a:cubicBezTo>
                    <a:pt x="403506" y="0"/>
                    <a:pt x="0" y="403506"/>
                    <a:pt x="0" y="899464"/>
                  </a:cubicBezTo>
                  <a:cubicBezTo>
                    <a:pt x="0" y="1395423"/>
                    <a:pt x="403506" y="1798929"/>
                    <a:pt x="899464" y="1798929"/>
                  </a:cubicBezTo>
                  <a:cubicBezTo>
                    <a:pt x="1115088" y="1798929"/>
                    <a:pt x="1323625" y="1721462"/>
                    <a:pt x="1486717" y="1580788"/>
                  </a:cubicBezTo>
                  <a:cubicBezTo>
                    <a:pt x="1648073" y="1441590"/>
                    <a:pt x="1755046" y="1249629"/>
                    <a:pt x="1787994" y="1040225"/>
                  </a:cubicBezTo>
                  <a:cubicBezTo>
                    <a:pt x="1789354" y="1031517"/>
                    <a:pt x="1786837" y="1022637"/>
                    <a:pt x="1781109" y="1015926"/>
                  </a:cubicBezTo>
                  <a:cubicBezTo>
                    <a:pt x="1775382" y="1009215"/>
                    <a:pt x="1766993" y="1005367"/>
                    <a:pt x="1758170" y="1005367"/>
                  </a:cubicBezTo>
                  <a:lnTo>
                    <a:pt x="1609108" y="1005367"/>
                  </a:lnTo>
                  <a:cubicBezTo>
                    <a:pt x="1594615" y="1005367"/>
                    <a:pt x="1582177" y="1015665"/>
                    <a:pt x="1579457" y="1029898"/>
                  </a:cubicBezTo>
                  <a:cubicBezTo>
                    <a:pt x="1517408" y="1355445"/>
                    <a:pt x="1231434" y="1591723"/>
                    <a:pt x="899464" y="1591723"/>
                  </a:cubicBezTo>
                  <a:cubicBezTo>
                    <a:pt x="517740" y="1591723"/>
                    <a:pt x="207206" y="1281189"/>
                    <a:pt x="207206" y="899464"/>
                  </a:cubicBezTo>
                  <a:cubicBezTo>
                    <a:pt x="207206" y="517740"/>
                    <a:pt x="517769" y="207206"/>
                    <a:pt x="899464" y="207206"/>
                  </a:cubicBezTo>
                  <a:cubicBezTo>
                    <a:pt x="1281159" y="207206"/>
                    <a:pt x="1591723" y="517740"/>
                    <a:pt x="1591723" y="899464"/>
                  </a:cubicBezTo>
                  <a:cubicBezTo>
                    <a:pt x="1591723" y="916127"/>
                    <a:pt x="1605231" y="929636"/>
                    <a:pt x="1621894" y="929636"/>
                  </a:cubicBezTo>
                  <a:lnTo>
                    <a:pt x="1963727" y="929636"/>
                  </a:lnTo>
                  <a:lnTo>
                    <a:pt x="1879173" y="1014190"/>
                  </a:lnTo>
                  <a:cubicBezTo>
                    <a:pt x="1867399" y="1025963"/>
                    <a:pt x="1867399" y="1045084"/>
                    <a:pt x="1879173" y="1056858"/>
                  </a:cubicBezTo>
                  <a:cubicBezTo>
                    <a:pt x="1885074" y="1062759"/>
                    <a:pt x="1892797" y="1065710"/>
                    <a:pt x="1900521" y="1065710"/>
                  </a:cubicBezTo>
                  <a:cubicBezTo>
                    <a:pt x="1908245" y="1065710"/>
                    <a:pt x="1915968" y="1062759"/>
                    <a:pt x="1921869" y="1056887"/>
                  </a:cubicBezTo>
                  <a:lnTo>
                    <a:pt x="2057943" y="920813"/>
                  </a:lnTo>
                  <a:lnTo>
                    <a:pt x="2057943" y="920813"/>
                  </a:lnTo>
                  <a:cubicBezTo>
                    <a:pt x="2059332" y="919424"/>
                    <a:pt x="2060576" y="917891"/>
                    <a:pt x="2061675" y="916242"/>
                  </a:cubicBezTo>
                  <a:close/>
                </a:path>
              </a:pathLst>
            </a:custGeom>
            <a:solidFill>
              <a:srgbClr val="A53DFD"/>
            </a:solidFill>
            <a:ln w="0" cap="flat">
              <a:solidFill>
                <a:srgbClr val="A53DFD"/>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177" name="Group 176">
              <a:extLst>
                <a:ext uri="{FF2B5EF4-FFF2-40B4-BE49-F238E27FC236}">
                  <a16:creationId xmlns:a16="http://schemas.microsoft.com/office/drawing/2014/main" id="{CEE5F4BC-C6CC-492E-DB0C-A6ED85AFC175}"/>
                </a:ext>
              </a:extLst>
            </p:cNvPr>
            <p:cNvGrpSpPr/>
            <p:nvPr/>
          </p:nvGrpSpPr>
          <p:grpSpPr>
            <a:xfrm>
              <a:off x="5162274" y="2828497"/>
              <a:ext cx="421782" cy="475427"/>
              <a:chOff x="5991225" y="5063301"/>
              <a:chExt cx="421782" cy="475427"/>
            </a:xfrm>
          </p:grpSpPr>
          <p:sp>
            <p:nvSpPr>
              <p:cNvPr id="158" name="Freeform: Shape 157">
                <a:extLst>
                  <a:ext uri="{FF2B5EF4-FFF2-40B4-BE49-F238E27FC236}">
                    <a16:creationId xmlns:a16="http://schemas.microsoft.com/office/drawing/2014/main" id="{FECBFD0E-8CF9-E970-8B49-66E43B8CB4E5}"/>
                  </a:ext>
                </a:extLst>
              </p:cNvPr>
              <p:cNvSpPr/>
              <p:nvPr/>
            </p:nvSpPr>
            <p:spPr>
              <a:xfrm>
                <a:off x="6127044" y="5252765"/>
                <a:ext cx="285963" cy="285963"/>
              </a:xfrm>
              <a:custGeom>
                <a:avLst/>
                <a:gdLst>
                  <a:gd name="connsiteX0" fmla="*/ 214473 w 214472"/>
                  <a:gd name="connsiteY0" fmla="*/ 107236 h 214472"/>
                  <a:gd name="connsiteX1" fmla="*/ 107236 w 214472"/>
                  <a:gd name="connsiteY1" fmla="*/ 214473 h 214472"/>
                  <a:gd name="connsiteX2" fmla="*/ 0 w 214472"/>
                  <a:gd name="connsiteY2" fmla="*/ 107236 h 214472"/>
                  <a:gd name="connsiteX3" fmla="*/ 107236 w 214472"/>
                  <a:gd name="connsiteY3" fmla="*/ 0 h 214472"/>
                  <a:gd name="connsiteX4" fmla="*/ 214473 w 214472"/>
                  <a:gd name="connsiteY4" fmla="*/ 107236 h 214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472" h="214472">
                    <a:moveTo>
                      <a:pt x="214473" y="107236"/>
                    </a:moveTo>
                    <a:cubicBezTo>
                      <a:pt x="214473" y="166461"/>
                      <a:pt x="166461" y="214473"/>
                      <a:pt x="107236" y="214473"/>
                    </a:cubicBezTo>
                    <a:cubicBezTo>
                      <a:pt x="48011" y="214473"/>
                      <a:pt x="0" y="166461"/>
                      <a:pt x="0" y="107236"/>
                    </a:cubicBezTo>
                    <a:cubicBezTo>
                      <a:pt x="0" y="48011"/>
                      <a:pt x="48011" y="0"/>
                      <a:pt x="107236" y="0"/>
                    </a:cubicBezTo>
                    <a:cubicBezTo>
                      <a:pt x="166461" y="0"/>
                      <a:pt x="214473" y="48011"/>
                      <a:pt x="214473" y="107236"/>
                    </a:cubicBezTo>
                    <a:close/>
                  </a:path>
                </a:pathLst>
              </a:custGeom>
              <a:noFill/>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grpSp>
            <p:nvGrpSpPr>
              <p:cNvPr id="176" name="Group 175">
                <a:extLst>
                  <a:ext uri="{FF2B5EF4-FFF2-40B4-BE49-F238E27FC236}">
                    <a16:creationId xmlns:a16="http://schemas.microsoft.com/office/drawing/2014/main" id="{968AB6B7-1355-F509-DA35-DEC76C9E1046}"/>
                  </a:ext>
                </a:extLst>
              </p:cNvPr>
              <p:cNvGrpSpPr/>
              <p:nvPr/>
            </p:nvGrpSpPr>
            <p:grpSpPr>
              <a:xfrm rot="16200000">
                <a:off x="6185749" y="5335061"/>
                <a:ext cx="163891" cy="126493"/>
                <a:chOff x="6185749" y="5335061"/>
                <a:chExt cx="163891" cy="126493"/>
              </a:xfrm>
            </p:grpSpPr>
            <p:sp>
              <p:nvSpPr>
                <p:cNvPr id="159" name="Freeform: Shape 158">
                  <a:extLst>
                    <a:ext uri="{FF2B5EF4-FFF2-40B4-BE49-F238E27FC236}">
                      <a16:creationId xmlns:a16="http://schemas.microsoft.com/office/drawing/2014/main" id="{8C54037B-DFFC-6F7D-142C-CBCB9090C638}"/>
                    </a:ext>
                  </a:extLst>
                </p:cNvPr>
                <p:cNvSpPr/>
                <p:nvPr/>
              </p:nvSpPr>
              <p:spPr>
                <a:xfrm>
                  <a:off x="6185749" y="5395199"/>
                  <a:ext cx="163891" cy="66355"/>
                </a:xfrm>
                <a:custGeom>
                  <a:avLst/>
                  <a:gdLst>
                    <a:gd name="connsiteX0" fmla="*/ 76261 w 122918"/>
                    <a:gd name="connsiteY0" fmla="*/ 49766 h 49766"/>
                    <a:gd name="connsiteX1" fmla="*/ 122918 w 122918"/>
                    <a:gd name="connsiteY1" fmla="*/ 0 h 49766"/>
                    <a:gd name="connsiteX2" fmla="*/ 0 w 122918"/>
                    <a:gd name="connsiteY2" fmla="*/ 0 h 49766"/>
                  </a:gdLst>
                  <a:ahLst/>
                  <a:cxnLst>
                    <a:cxn ang="0">
                      <a:pos x="connsiteX0" y="connsiteY0"/>
                    </a:cxn>
                    <a:cxn ang="0">
                      <a:pos x="connsiteX1" y="connsiteY1"/>
                    </a:cxn>
                    <a:cxn ang="0">
                      <a:pos x="connsiteX2" y="connsiteY2"/>
                    </a:cxn>
                  </a:cxnLst>
                  <a:rect l="l" t="t" r="r" b="b"/>
                  <a:pathLst>
                    <a:path w="122918" h="49766">
                      <a:moveTo>
                        <a:pt x="76261" y="49766"/>
                      </a:moveTo>
                      <a:lnTo>
                        <a:pt x="122918" y="0"/>
                      </a:lnTo>
                      <a:lnTo>
                        <a:pt x="0" y="0"/>
                      </a:lnTo>
                    </a:path>
                  </a:pathLst>
                </a:custGeom>
                <a:noFill/>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60" name="Freeform: Shape 159">
                  <a:extLst>
                    <a:ext uri="{FF2B5EF4-FFF2-40B4-BE49-F238E27FC236}">
                      <a16:creationId xmlns:a16="http://schemas.microsoft.com/office/drawing/2014/main" id="{F1FBD252-26AF-726E-FCDD-B04BD5FA3DED}"/>
                    </a:ext>
                  </a:extLst>
                </p:cNvPr>
                <p:cNvSpPr/>
                <p:nvPr/>
              </p:nvSpPr>
              <p:spPr>
                <a:xfrm>
                  <a:off x="6287430" y="5335061"/>
                  <a:ext cx="62209" cy="60136"/>
                </a:xfrm>
                <a:custGeom>
                  <a:avLst/>
                  <a:gdLst>
                    <a:gd name="connsiteX0" fmla="*/ 0 w 46657"/>
                    <a:gd name="connsiteY0" fmla="*/ 0 h 45102"/>
                    <a:gd name="connsiteX1" fmla="*/ 46657 w 46657"/>
                    <a:gd name="connsiteY1" fmla="*/ 45103 h 45102"/>
                  </a:gdLst>
                  <a:ahLst/>
                  <a:cxnLst>
                    <a:cxn ang="0">
                      <a:pos x="connsiteX0" y="connsiteY0"/>
                    </a:cxn>
                    <a:cxn ang="0">
                      <a:pos x="connsiteX1" y="connsiteY1"/>
                    </a:cxn>
                  </a:cxnLst>
                  <a:rect l="l" t="t" r="r" b="b"/>
                  <a:pathLst>
                    <a:path w="46657" h="45102">
                      <a:moveTo>
                        <a:pt x="0" y="0"/>
                      </a:moveTo>
                      <a:lnTo>
                        <a:pt x="46657" y="45103"/>
                      </a:lnTo>
                    </a:path>
                  </a:pathLst>
                </a:custGeom>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grpSp>
          <p:sp>
            <p:nvSpPr>
              <p:cNvPr id="161" name="Freeform: Shape 160">
                <a:extLst>
                  <a:ext uri="{FF2B5EF4-FFF2-40B4-BE49-F238E27FC236}">
                    <a16:creationId xmlns:a16="http://schemas.microsoft.com/office/drawing/2014/main" id="{CBB2BCD0-D4BD-DFDC-87F2-C255AEE616E5}"/>
                  </a:ext>
                </a:extLst>
              </p:cNvPr>
              <p:cNvSpPr/>
              <p:nvPr/>
            </p:nvSpPr>
            <p:spPr>
              <a:xfrm>
                <a:off x="5991225" y="5149499"/>
                <a:ext cx="232440" cy="76840"/>
              </a:xfrm>
              <a:custGeom>
                <a:avLst/>
                <a:gdLst>
                  <a:gd name="connsiteX0" fmla="*/ 174330 w 174330"/>
                  <a:gd name="connsiteY0" fmla="*/ 30472 h 57630"/>
                  <a:gd name="connsiteX1" fmla="*/ 87165 w 174330"/>
                  <a:gd name="connsiteY1" fmla="*/ 57630 h 57630"/>
                  <a:gd name="connsiteX2" fmla="*/ 0 w 174330"/>
                  <a:gd name="connsiteY2" fmla="*/ 30472 h 57630"/>
                  <a:gd name="connsiteX3" fmla="*/ 87165 w 174330"/>
                  <a:gd name="connsiteY3" fmla="*/ 0 h 57630"/>
                  <a:gd name="connsiteX4" fmla="*/ 174330 w 174330"/>
                  <a:gd name="connsiteY4" fmla="*/ 30472 h 57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330" h="57630">
                    <a:moveTo>
                      <a:pt x="174330" y="30472"/>
                    </a:moveTo>
                    <a:cubicBezTo>
                      <a:pt x="174330" y="45469"/>
                      <a:pt x="137617" y="57630"/>
                      <a:pt x="87165" y="57630"/>
                    </a:cubicBezTo>
                    <a:cubicBezTo>
                      <a:pt x="36713" y="57630"/>
                      <a:pt x="0" y="45469"/>
                      <a:pt x="0" y="30472"/>
                    </a:cubicBezTo>
                    <a:cubicBezTo>
                      <a:pt x="0" y="15476"/>
                      <a:pt x="36713" y="0"/>
                      <a:pt x="87165" y="0"/>
                    </a:cubicBezTo>
                    <a:cubicBezTo>
                      <a:pt x="137617" y="0"/>
                      <a:pt x="174330" y="15476"/>
                      <a:pt x="174330" y="30472"/>
                    </a:cubicBezTo>
                    <a:close/>
                  </a:path>
                </a:pathLst>
              </a:custGeom>
              <a:noFill/>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62" name="Freeform: Shape 161">
                <a:extLst>
                  <a:ext uri="{FF2B5EF4-FFF2-40B4-BE49-F238E27FC236}">
                    <a16:creationId xmlns:a16="http://schemas.microsoft.com/office/drawing/2014/main" id="{6F374BB2-D65E-428A-5E4B-6D9C2018803A}"/>
                  </a:ext>
                </a:extLst>
              </p:cNvPr>
              <p:cNvSpPr/>
              <p:nvPr/>
            </p:nvSpPr>
            <p:spPr>
              <a:xfrm>
                <a:off x="5991225" y="5262184"/>
                <a:ext cx="149260" cy="36209"/>
              </a:xfrm>
              <a:custGeom>
                <a:avLst/>
                <a:gdLst>
                  <a:gd name="connsiteX0" fmla="*/ 0 w 111945"/>
                  <a:gd name="connsiteY0" fmla="*/ 0 h 27157"/>
                  <a:gd name="connsiteX1" fmla="*/ 87165 w 111945"/>
                  <a:gd name="connsiteY1" fmla="*/ 27158 h 27157"/>
                  <a:gd name="connsiteX2" fmla="*/ 111945 w 111945"/>
                  <a:gd name="connsiteY2" fmla="*/ 27158 h 27157"/>
                </a:gdLst>
                <a:ahLst/>
                <a:cxnLst>
                  <a:cxn ang="0">
                    <a:pos x="connsiteX0" y="connsiteY0"/>
                  </a:cxn>
                  <a:cxn ang="0">
                    <a:pos x="connsiteX1" y="connsiteY1"/>
                  </a:cxn>
                  <a:cxn ang="0">
                    <a:pos x="connsiteX2" y="connsiteY2"/>
                  </a:cxn>
                </a:cxnLst>
                <a:rect l="l" t="t" r="r" b="b"/>
                <a:pathLst>
                  <a:path w="111945" h="27157">
                    <a:moveTo>
                      <a:pt x="0" y="0"/>
                    </a:moveTo>
                    <a:cubicBezTo>
                      <a:pt x="0" y="14996"/>
                      <a:pt x="36713" y="27158"/>
                      <a:pt x="87165" y="27158"/>
                    </a:cubicBezTo>
                    <a:lnTo>
                      <a:pt x="111945" y="27158"/>
                    </a:lnTo>
                  </a:path>
                </a:pathLst>
              </a:custGeom>
              <a:noFill/>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63" name="Freeform: Shape 162">
                <a:extLst>
                  <a:ext uri="{FF2B5EF4-FFF2-40B4-BE49-F238E27FC236}">
                    <a16:creationId xmlns:a16="http://schemas.microsoft.com/office/drawing/2014/main" id="{0B3CE3F6-7381-0068-84D2-56EDA94543C0}"/>
                  </a:ext>
                </a:extLst>
              </p:cNvPr>
              <p:cNvSpPr/>
              <p:nvPr/>
            </p:nvSpPr>
            <p:spPr>
              <a:xfrm>
                <a:off x="5991225" y="5333507"/>
                <a:ext cx="116220" cy="36209"/>
              </a:xfrm>
              <a:custGeom>
                <a:avLst/>
                <a:gdLst>
                  <a:gd name="connsiteX0" fmla="*/ 87165 w 87165"/>
                  <a:gd name="connsiteY0" fmla="*/ 27158 h 27157"/>
                  <a:gd name="connsiteX1" fmla="*/ 0 w 87165"/>
                  <a:gd name="connsiteY1" fmla="*/ 0 h 27157"/>
                </a:gdLst>
                <a:ahLst/>
                <a:cxnLst>
                  <a:cxn ang="0">
                    <a:pos x="connsiteX0" y="connsiteY0"/>
                  </a:cxn>
                  <a:cxn ang="0">
                    <a:pos x="connsiteX1" y="connsiteY1"/>
                  </a:cxn>
                </a:cxnLst>
                <a:rect l="l" t="t" r="r" b="b"/>
                <a:pathLst>
                  <a:path w="87165" h="27157">
                    <a:moveTo>
                      <a:pt x="87165" y="27158"/>
                    </a:moveTo>
                    <a:cubicBezTo>
                      <a:pt x="36713" y="27158"/>
                      <a:pt x="0" y="14996"/>
                      <a:pt x="0" y="0"/>
                    </a:cubicBezTo>
                  </a:path>
                </a:pathLst>
              </a:custGeom>
              <a:noFill/>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64" name="Freeform: Shape 163">
                <a:extLst>
                  <a:ext uri="{FF2B5EF4-FFF2-40B4-BE49-F238E27FC236}">
                    <a16:creationId xmlns:a16="http://schemas.microsoft.com/office/drawing/2014/main" id="{7D2D2447-8E33-8F03-284E-0AB2E9E1E9C1}"/>
                  </a:ext>
                </a:extLst>
              </p:cNvPr>
              <p:cNvSpPr/>
              <p:nvPr/>
            </p:nvSpPr>
            <p:spPr>
              <a:xfrm>
                <a:off x="5991225" y="5187935"/>
                <a:ext cx="3048" cy="212903"/>
              </a:xfrm>
              <a:custGeom>
                <a:avLst/>
                <a:gdLst>
                  <a:gd name="connsiteX0" fmla="*/ 0 w 2286"/>
                  <a:gd name="connsiteY0" fmla="*/ 0 h 159677"/>
                  <a:gd name="connsiteX1" fmla="*/ 0 w 2286"/>
                  <a:gd name="connsiteY1" fmla="*/ 159677 h 159677"/>
                </a:gdLst>
                <a:ahLst/>
                <a:cxnLst>
                  <a:cxn ang="0">
                    <a:pos x="connsiteX0" y="connsiteY0"/>
                  </a:cxn>
                  <a:cxn ang="0">
                    <a:pos x="connsiteX1" y="connsiteY1"/>
                  </a:cxn>
                </a:cxnLst>
                <a:rect l="l" t="t" r="r" b="b"/>
                <a:pathLst>
                  <a:path w="2286" h="159677">
                    <a:moveTo>
                      <a:pt x="0" y="0"/>
                    </a:moveTo>
                    <a:lnTo>
                      <a:pt x="0" y="159677"/>
                    </a:lnTo>
                  </a:path>
                </a:pathLst>
              </a:custGeom>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65" name="Freeform: Shape 164">
                <a:extLst>
                  <a:ext uri="{FF2B5EF4-FFF2-40B4-BE49-F238E27FC236}">
                    <a16:creationId xmlns:a16="http://schemas.microsoft.com/office/drawing/2014/main" id="{E3A009EF-8121-04DF-FB45-DEA30DC0D865}"/>
                  </a:ext>
                </a:extLst>
              </p:cNvPr>
              <p:cNvSpPr/>
              <p:nvPr/>
            </p:nvSpPr>
            <p:spPr>
              <a:xfrm>
                <a:off x="6223666" y="5190129"/>
                <a:ext cx="3048" cy="50077"/>
              </a:xfrm>
              <a:custGeom>
                <a:avLst/>
                <a:gdLst>
                  <a:gd name="connsiteX0" fmla="*/ 0 w 2286"/>
                  <a:gd name="connsiteY0" fmla="*/ 0 h 37558"/>
                  <a:gd name="connsiteX1" fmla="*/ 0 w 2286"/>
                  <a:gd name="connsiteY1" fmla="*/ 37559 h 37558"/>
                </a:gdLst>
                <a:ahLst/>
                <a:cxnLst>
                  <a:cxn ang="0">
                    <a:pos x="connsiteX0" y="connsiteY0"/>
                  </a:cxn>
                  <a:cxn ang="0">
                    <a:pos x="connsiteX1" y="connsiteY1"/>
                  </a:cxn>
                </a:cxnLst>
                <a:rect l="l" t="t" r="r" b="b"/>
                <a:pathLst>
                  <a:path w="2286" h="37558">
                    <a:moveTo>
                      <a:pt x="0" y="0"/>
                    </a:moveTo>
                    <a:lnTo>
                      <a:pt x="0" y="37559"/>
                    </a:lnTo>
                  </a:path>
                </a:pathLst>
              </a:custGeom>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66" name="Freeform: Shape 165">
                <a:extLst>
                  <a:ext uri="{FF2B5EF4-FFF2-40B4-BE49-F238E27FC236}">
                    <a16:creationId xmlns:a16="http://schemas.microsoft.com/office/drawing/2014/main" id="{44AFDA50-A652-AD7C-11E6-7EA0361B89C1}"/>
                  </a:ext>
                </a:extLst>
              </p:cNvPr>
              <p:cNvSpPr/>
              <p:nvPr/>
            </p:nvSpPr>
            <p:spPr>
              <a:xfrm>
                <a:off x="5991225" y="5400045"/>
                <a:ext cx="121340" cy="36209"/>
              </a:xfrm>
              <a:custGeom>
                <a:avLst/>
                <a:gdLst>
                  <a:gd name="connsiteX0" fmla="*/ 91006 w 91005"/>
                  <a:gd name="connsiteY0" fmla="*/ 27158 h 27157"/>
                  <a:gd name="connsiteX1" fmla="*/ 0 w 91005"/>
                  <a:gd name="connsiteY1" fmla="*/ 0 h 27157"/>
                </a:gdLst>
                <a:ahLst/>
                <a:cxnLst>
                  <a:cxn ang="0">
                    <a:pos x="connsiteX0" y="connsiteY0"/>
                  </a:cxn>
                  <a:cxn ang="0">
                    <a:pos x="connsiteX1" y="connsiteY1"/>
                  </a:cxn>
                </a:cxnLst>
                <a:rect l="l" t="t" r="r" b="b"/>
                <a:pathLst>
                  <a:path w="91005" h="27157">
                    <a:moveTo>
                      <a:pt x="91006" y="27158"/>
                    </a:moveTo>
                    <a:cubicBezTo>
                      <a:pt x="40554" y="27158"/>
                      <a:pt x="0" y="14996"/>
                      <a:pt x="0" y="0"/>
                    </a:cubicBezTo>
                  </a:path>
                </a:pathLst>
              </a:custGeom>
              <a:noFill/>
              <a:ln w="15875" cap="flat">
                <a:solidFill>
                  <a:schemeClr val="tx1"/>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67" name="Freeform: Shape 166">
                <a:extLst>
                  <a:ext uri="{FF2B5EF4-FFF2-40B4-BE49-F238E27FC236}">
                    <a16:creationId xmlns:a16="http://schemas.microsoft.com/office/drawing/2014/main" id="{0E1164EB-B688-E086-963A-7A84CBA76AF1}"/>
                  </a:ext>
                </a:extLst>
              </p:cNvPr>
              <p:cNvSpPr/>
              <p:nvPr/>
            </p:nvSpPr>
            <p:spPr>
              <a:xfrm>
                <a:off x="6369208" y="5107407"/>
                <a:ext cx="29229" cy="173065"/>
              </a:xfrm>
              <a:custGeom>
                <a:avLst/>
                <a:gdLst>
                  <a:gd name="connsiteX0" fmla="*/ 0 w 21922"/>
                  <a:gd name="connsiteY0" fmla="*/ 0 h 129799"/>
                  <a:gd name="connsiteX1" fmla="*/ 0 w 21922"/>
                  <a:gd name="connsiteY1" fmla="*/ 27181 h 129799"/>
                  <a:gd name="connsiteX2" fmla="*/ 21923 w 21922"/>
                  <a:gd name="connsiteY2" fmla="*/ 49103 h 129799"/>
                  <a:gd name="connsiteX3" fmla="*/ 21923 w 21922"/>
                  <a:gd name="connsiteY3" fmla="*/ 129799 h 129799"/>
                </a:gdLst>
                <a:ahLst/>
                <a:cxnLst>
                  <a:cxn ang="0">
                    <a:pos x="connsiteX0" y="connsiteY0"/>
                  </a:cxn>
                  <a:cxn ang="0">
                    <a:pos x="connsiteX1" y="connsiteY1"/>
                  </a:cxn>
                  <a:cxn ang="0">
                    <a:pos x="connsiteX2" y="connsiteY2"/>
                  </a:cxn>
                  <a:cxn ang="0">
                    <a:pos x="connsiteX3" y="connsiteY3"/>
                  </a:cxn>
                </a:cxnLst>
                <a:rect l="l" t="t" r="r" b="b"/>
                <a:pathLst>
                  <a:path w="21922" h="129799">
                    <a:moveTo>
                      <a:pt x="0" y="0"/>
                    </a:moveTo>
                    <a:lnTo>
                      <a:pt x="0" y="27181"/>
                    </a:lnTo>
                    <a:lnTo>
                      <a:pt x="21923" y="49103"/>
                    </a:lnTo>
                    <a:lnTo>
                      <a:pt x="21923" y="129799"/>
                    </a:lnTo>
                  </a:path>
                </a:pathLst>
              </a:custGeom>
              <a:noFill/>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68" name="Freeform: Shape 167">
                <a:extLst>
                  <a:ext uri="{FF2B5EF4-FFF2-40B4-BE49-F238E27FC236}">
                    <a16:creationId xmlns:a16="http://schemas.microsoft.com/office/drawing/2014/main" id="{AEC49F19-6AAA-259E-13E1-ABEFBEDA6A0E}"/>
                  </a:ext>
                </a:extLst>
              </p:cNvPr>
              <p:cNvSpPr/>
              <p:nvPr/>
            </p:nvSpPr>
            <p:spPr>
              <a:xfrm>
                <a:off x="6354577" y="5231399"/>
                <a:ext cx="3048" cy="20025"/>
              </a:xfrm>
              <a:custGeom>
                <a:avLst/>
                <a:gdLst>
                  <a:gd name="connsiteX0" fmla="*/ 0 w 2286"/>
                  <a:gd name="connsiteY0" fmla="*/ 0 h 15019"/>
                  <a:gd name="connsiteX1" fmla="*/ 0 w 2286"/>
                  <a:gd name="connsiteY1" fmla="*/ 15019 h 15019"/>
                </a:gdLst>
                <a:ahLst/>
                <a:cxnLst>
                  <a:cxn ang="0">
                    <a:pos x="connsiteX0" y="connsiteY0"/>
                  </a:cxn>
                  <a:cxn ang="0">
                    <a:pos x="connsiteX1" y="connsiteY1"/>
                  </a:cxn>
                </a:cxnLst>
                <a:rect l="l" t="t" r="r" b="b"/>
                <a:pathLst>
                  <a:path w="2286" h="15019">
                    <a:moveTo>
                      <a:pt x="0" y="0"/>
                    </a:moveTo>
                    <a:lnTo>
                      <a:pt x="0" y="15019"/>
                    </a:lnTo>
                  </a:path>
                </a:pathLst>
              </a:custGeom>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69" name="Freeform: Shape 168">
                <a:extLst>
                  <a:ext uri="{FF2B5EF4-FFF2-40B4-BE49-F238E27FC236}">
                    <a16:creationId xmlns:a16="http://schemas.microsoft.com/office/drawing/2014/main" id="{9C7FA30A-F0D3-8499-DE34-CC49CD790E41}"/>
                  </a:ext>
                </a:extLst>
              </p:cNvPr>
              <p:cNvSpPr/>
              <p:nvPr/>
            </p:nvSpPr>
            <p:spPr>
              <a:xfrm>
                <a:off x="6310686" y="5085675"/>
                <a:ext cx="3048" cy="148528"/>
              </a:xfrm>
              <a:custGeom>
                <a:avLst/>
                <a:gdLst>
                  <a:gd name="connsiteX0" fmla="*/ 0 w 2286"/>
                  <a:gd name="connsiteY0" fmla="*/ 111397 h 111396"/>
                  <a:gd name="connsiteX1" fmla="*/ 0 w 2286"/>
                  <a:gd name="connsiteY1" fmla="*/ 0 h 111396"/>
                </a:gdLst>
                <a:ahLst/>
                <a:cxnLst>
                  <a:cxn ang="0">
                    <a:pos x="connsiteX0" y="connsiteY0"/>
                  </a:cxn>
                  <a:cxn ang="0">
                    <a:pos x="connsiteX1" y="connsiteY1"/>
                  </a:cxn>
                </a:cxnLst>
                <a:rect l="l" t="t" r="r" b="b"/>
                <a:pathLst>
                  <a:path w="2286" h="111396">
                    <a:moveTo>
                      <a:pt x="0" y="111397"/>
                    </a:moveTo>
                    <a:lnTo>
                      <a:pt x="0" y="0"/>
                    </a:lnTo>
                  </a:path>
                </a:pathLst>
              </a:custGeom>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70" name="Freeform: Shape 169">
                <a:extLst>
                  <a:ext uri="{FF2B5EF4-FFF2-40B4-BE49-F238E27FC236}">
                    <a16:creationId xmlns:a16="http://schemas.microsoft.com/office/drawing/2014/main" id="{C062DCAF-7718-A96A-07C2-DC56AD4D7516}"/>
                  </a:ext>
                </a:extLst>
              </p:cNvPr>
              <p:cNvSpPr/>
              <p:nvPr/>
            </p:nvSpPr>
            <p:spPr>
              <a:xfrm>
                <a:off x="6252194" y="5158277"/>
                <a:ext cx="3048" cy="74859"/>
              </a:xfrm>
              <a:custGeom>
                <a:avLst/>
                <a:gdLst>
                  <a:gd name="connsiteX0" fmla="*/ 0 w 2286"/>
                  <a:gd name="connsiteY0" fmla="*/ 56144 h 56144"/>
                  <a:gd name="connsiteX1" fmla="*/ 0 w 2286"/>
                  <a:gd name="connsiteY1" fmla="*/ 0 h 56144"/>
                </a:gdLst>
                <a:ahLst/>
                <a:cxnLst>
                  <a:cxn ang="0">
                    <a:pos x="connsiteX0" y="connsiteY0"/>
                  </a:cxn>
                  <a:cxn ang="0">
                    <a:pos x="connsiteX1" y="connsiteY1"/>
                  </a:cxn>
                </a:cxnLst>
                <a:rect l="l" t="t" r="r" b="b"/>
                <a:pathLst>
                  <a:path w="2286" h="56144">
                    <a:moveTo>
                      <a:pt x="0" y="56144"/>
                    </a:moveTo>
                    <a:lnTo>
                      <a:pt x="0" y="0"/>
                    </a:lnTo>
                  </a:path>
                </a:pathLst>
              </a:custGeom>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71" name="Freeform: Shape 170">
                <a:extLst>
                  <a:ext uri="{FF2B5EF4-FFF2-40B4-BE49-F238E27FC236}">
                    <a16:creationId xmlns:a16="http://schemas.microsoft.com/office/drawing/2014/main" id="{5C5E2BE1-60DC-8BC8-A120-5317767D0B90}"/>
                  </a:ext>
                </a:extLst>
              </p:cNvPr>
              <p:cNvSpPr/>
              <p:nvPr/>
            </p:nvSpPr>
            <p:spPr>
              <a:xfrm>
                <a:off x="6281456" y="5202139"/>
                <a:ext cx="3048" cy="29260"/>
              </a:xfrm>
              <a:custGeom>
                <a:avLst/>
                <a:gdLst>
                  <a:gd name="connsiteX0" fmla="*/ 0 w 2286"/>
                  <a:gd name="connsiteY0" fmla="*/ 21946 h 21945"/>
                  <a:gd name="connsiteX1" fmla="*/ 0 w 2286"/>
                  <a:gd name="connsiteY1" fmla="*/ 0 h 21945"/>
                </a:gdLst>
                <a:ahLst/>
                <a:cxnLst>
                  <a:cxn ang="0">
                    <a:pos x="connsiteX0" y="connsiteY0"/>
                  </a:cxn>
                  <a:cxn ang="0">
                    <a:pos x="connsiteX1" y="connsiteY1"/>
                  </a:cxn>
                </a:cxnLst>
                <a:rect l="l" t="t" r="r" b="b"/>
                <a:pathLst>
                  <a:path w="2286" h="21945">
                    <a:moveTo>
                      <a:pt x="0" y="21946"/>
                    </a:moveTo>
                    <a:lnTo>
                      <a:pt x="0" y="0"/>
                    </a:lnTo>
                  </a:path>
                </a:pathLst>
              </a:custGeom>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72" name="Freeform: Shape 171">
                <a:extLst>
                  <a:ext uri="{FF2B5EF4-FFF2-40B4-BE49-F238E27FC236}">
                    <a16:creationId xmlns:a16="http://schemas.microsoft.com/office/drawing/2014/main" id="{868E5482-E573-D2AA-74FE-5FD3A6D2A767}"/>
                  </a:ext>
                </a:extLst>
              </p:cNvPr>
              <p:cNvSpPr/>
              <p:nvPr/>
            </p:nvSpPr>
            <p:spPr>
              <a:xfrm>
                <a:off x="6354577" y="5202139"/>
                <a:ext cx="3048" cy="14629"/>
              </a:xfrm>
              <a:custGeom>
                <a:avLst/>
                <a:gdLst>
                  <a:gd name="connsiteX0" fmla="*/ 0 w 2286"/>
                  <a:gd name="connsiteY0" fmla="*/ 10973 h 10972"/>
                  <a:gd name="connsiteX1" fmla="*/ 0 w 2286"/>
                  <a:gd name="connsiteY1" fmla="*/ 0 h 10972"/>
                </a:gdLst>
                <a:ahLst/>
                <a:cxnLst>
                  <a:cxn ang="0">
                    <a:pos x="connsiteX0" y="connsiteY0"/>
                  </a:cxn>
                  <a:cxn ang="0">
                    <a:pos x="connsiteX1" y="connsiteY1"/>
                  </a:cxn>
                </a:cxnLst>
                <a:rect l="l" t="t" r="r" b="b"/>
                <a:pathLst>
                  <a:path w="2286" h="10972">
                    <a:moveTo>
                      <a:pt x="0" y="10973"/>
                    </a:moveTo>
                    <a:lnTo>
                      <a:pt x="0" y="0"/>
                    </a:lnTo>
                  </a:path>
                </a:pathLst>
              </a:custGeom>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73" name="Freeform: Shape 172">
                <a:extLst>
                  <a:ext uri="{FF2B5EF4-FFF2-40B4-BE49-F238E27FC236}">
                    <a16:creationId xmlns:a16="http://schemas.microsoft.com/office/drawing/2014/main" id="{4B968343-4FDB-3259-AB65-C1B567E93DEB}"/>
                  </a:ext>
                </a:extLst>
              </p:cNvPr>
              <p:cNvSpPr/>
              <p:nvPr/>
            </p:nvSpPr>
            <p:spPr>
              <a:xfrm>
                <a:off x="6354577" y="5172877"/>
                <a:ext cx="3048" cy="14629"/>
              </a:xfrm>
              <a:custGeom>
                <a:avLst/>
                <a:gdLst>
                  <a:gd name="connsiteX0" fmla="*/ 0 w 2286"/>
                  <a:gd name="connsiteY0" fmla="*/ 10973 h 10972"/>
                  <a:gd name="connsiteX1" fmla="*/ 0 w 2286"/>
                  <a:gd name="connsiteY1" fmla="*/ 0 h 10972"/>
                </a:gdLst>
                <a:ahLst/>
                <a:cxnLst>
                  <a:cxn ang="0">
                    <a:pos x="connsiteX0" y="connsiteY0"/>
                  </a:cxn>
                  <a:cxn ang="0">
                    <a:pos x="connsiteX1" y="connsiteY1"/>
                  </a:cxn>
                </a:cxnLst>
                <a:rect l="l" t="t" r="r" b="b"/>
                <a:pathLst>
                  <a:path w="2286" h="10972">
                    <a:moveTo>
                      <a:pt x="0" y="10973"/>
                    </a:moveTo>
                    <a:lnTo>
                      <a:pt x="0" y="0"/>
                    </a:lnTo>
                  </a:path>
                </a:pathLst>
              </a:custGeom>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74" name="Freeform: Shape 173">
                <a:extLst>
                  <a:ext uri="{FF2B5EF4-FFF2-40B4-BE49-F238E27FC236}">
                    <a16:creationId xmlns:a16="http://schemas.microsoft.com/office/drawing/2014/main" id="{FF31CB5D-856C-B6D0-05F1-11EBDE8A9A50}"/>
                  </a:ext>
                </a:extLst>
              </p:cNvPr>
              <p:cNvSpPr/>
              <p:nvPr/>
            </p:nvSpPr>
            <p:spPr>
              <a:xfrm>
                <a:off x="6281456" y="5063301"/>
                <a:ext cx="3048" cy="109575"/>
              </a:xfrm>
              <a:custGeom>
                <a:avLst/>
                <a:gdLst>
                  <a:gd name="connsiteX0" fmla="*/ 0 w 2286"/>
                  <a:gd name="connsiteY0" fmla="*/ 82182 h 82181"/>
                  <a:gd name="connsiteX1" fmla="*/ 0 w 2286"/>
                  <a:gd name="connsiteY1" fmla="*/ 0 h 82181"/>
                </a:gdLst>
                <a:ahLst/>
                <a:cxnLst>
                  <a:cxn ang="0">
                    <a:pos x="connsiteX0" y="connsiteY0"/>
                  </a:cxn>
                  <a:cxn ang="0">
                    <a:pos x="connsiteX1" y="connsiteY1"/>
                  </a:cxn>
                </a:cxnLst>
                <a:rect l="l" t="t" r="r" b="b"/>
                <a:pathLst>
                  <a:path w="2286" h="82181">
                    <a:moveTo>
                      <a:pt x="0" y="82182"/>
                    </a:moveTo>
                    <a:lnTo>
                      <a:pt x="0" y="0"/>
                    </a:lnTo>
                  </a:path>
                </a:pathLst>
              </a:custGeom>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sp>
            <p:nvSpPr>
              <p:cNvPr id="175" name="Freeform: Shape 174">
                <a:extLst>
                  <a:ext uri="{FF2B5EF4-FFF2-40B4-BE49-F238E27FC236}">
                    <a16:creationId xmlns:a16="http://schemas.microsoft.com/office/drawing/2014/main" id="{7B4BA9E5-7E69-EB4D-88B0-4E44C5F5D771}"/>
                  </a:ext>
                </a:extLst>
              </p:cNvPr>
              <p:cNvSpPr/>
              <p:nvPr/>
            </p:nvSpPr>
            <p:spPr>
              <a:xfrm>
                <a:off x="6252194" y="5092441"/>
                <a:ext cx="3048" cy="14629"/>
              </a:xfrm>
              <a:custGeom>
                <a:avLst/>
                <a:gdLst>
                  <a:gd name="connsiteX0" fmla="*/ 0 w 2286"/>
                  <a:gd name="connsiteY0" fmla="*/ 0 h 10972"/>
                  <a:gd name="connsiteX1" fmla="*/ 0 w 2286"/>
                  <a:gd name="connsiteY1" fmla="*/ 10973 h 10972"/>
                </a:gdLst>
                <a:ahLst/>
                <a:cxnLst>
                  <a:cxn ang="0">
                    <a:pos x="connsiteX0" y="connsiteY0"/>
                  </a:cxn>
                  <a:cxn ang="0">
                    <a:pos x="connsiteX1" y="connsiteY1"/>
                  </a:cxn>
                </a:cxnLst>
                <a:rect l="l" t="t" r="r" b="b"/>
                <a:pathLst>
                  <a:path w="2286" h="10972">
                    <a:moveTo>
                      <a:pt x="0" y="0"/>
                    </a:moveTo>
                    <a:lnTo>
                      <a:pt x="0" y="10973"/>
                    </a:lnTo>
                  </a:path>
                </a:pathLst>
              </a:custGeom>
              <a:ln w="15875" cap="flat">
                <a:solidFill>
                  <a:srgbClr val="A53DFD"/>
                </a:solidFill>
                <a:prstDash val="solid"/>
                <a:round/>
              </a:ln>
            </p:spPr>
            <p:txBody>
              <a:bodyPr rtlCol="0" anchor="ct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mazon Ember"/>
                  <a:ea typeface="+mn-ea"/>
                  <a:cs typeface="+mn-cs"/>
                </a:endParaRPr>
              </a:p>
            </p:txBody>
          </p:sp>
        </p:grpSp>
      </p:grpSp>
      <p:grpSp>
        <p:nvGrpSpPr>
          <p:cNvPr id="236" name="Group 235" descr="Step 5, add people to work team.">
            <a:extLst>
              <a:ext uri="{FF2B5EF4-FFF2-40B4-BE49-F238E27FC236}">
                <a16:creationId xmlns:a16="http://schemas.microsoft.com/office/drawing/2014/main" id="{06E4378E-030F-675F-158D-5B76EE720C2D}"/>
              </a:ext>
            </a:extLst>
          </p:cNvPr>
          <p:cNvGrpSpPr/>
          <p:nvPr/>
        </p:nvGrpSpPr>
        <p:grpSpPr>
          <a:xfrm>
            <a:off x="6155690" y="2498441"/>
            <a:ext cx="1444927" cy="3107375"/>
            <a:chOff x="6155690" y="2498441"/>
            <a:chExt cx="1444927" cy="3107375"/>
          </a:xfrm>
        </p:grpSpPr>
        <p:sp>
          <p:nvSpPr>
            <p:cNvPr id="39" name="TextBox 38">
              <a:extLst>
                <a:ext uri="{FF2B5EF4-FFF2-40B4-BE49-F238E27FC236}">
                  <a16:creationId xmlns:a16="http://schemas.microsoft.com/office/drawing/2014/main" id="{81863B74-95F9-F1A8-4A52-E386B631E3E1}"/>
                </a:ext>
              </a:extLst>
            </p:cNvPr>
            <p:cNvSpPr txBox="1"/>
            <p:nvPr/>
          </p:nvSpPr>
          <p:spPr>
            <a:xfrm>
              <a:off x="6155690" y="3959896"/>
              <a:ext cx="1371600" cy="1645920"/>
            </a:xfrm>
            <a:prstGeom prst="rect">
              <a:avLst/>
            </a:prstGeom>
          </p:spPr>
          <p:txBody>
            <a:bodyPr wrap="square" lIns="91440" tIns="0" rIns="91440" bIns="0">
              <a:noAutofit/>
            </a:bodyPr>
            <a:lstStyle>
              <a:defPPr>
                <a:defRPr lang="en-US"/>
              </a:defPPr>
              <a:lvl1pPr indent="0" algn="ctr">
                <a:lnSpc>
                  <a:spcPct val="90000"/>
                </a:lnSpc>
                <a:spcBef>
                  <a:spcPts val="0"/>
                </a:spcBef>
                <a:spcAft>
                  <a:spcPts val="1200"/>
                </a:spcAft>
                <a:buSzPct val="90000"/>
                <a:buFont typeface="Arial" panose="020B0604020202020204" pitchFamily="34" charset="0"/>
                <a:buNone/>
                <a:defRPr sz="2000">
                  <a:latin typeface="+mj-lt"/>
                </a:defRPr>
              </a:lvl1pPr>
              <a:lvl2pPr marL="514350" indent="-228600">
                <a:lnSpc>
                  <a:spcPct val="90000"/>
                </a:lnSpc>
                <a:spcBef>
                  <a:spcPts val="0"/>
                </a:spcBef>
                <a:spcAft>
                  <a:spcPts val="1200"/>
                </a:spcAft>
                <a:buSzPct val="90000"/>
                <a:buFont typeface="Wingdings" panose="05000000000000000000" pitchFamily="2" charset="2"/>
                <a:buChar char="§"/>
                <a:defRPr sz="2400"/>
              </a:lvl2pPr>
              <a:lvl3pPr marL="857250" indent="-228600">
                <a:lnSpc>
                  <a:spcPct val="90000"/>
                </a:lnSpc>
                <a:spcBef>
                  <a:spcPts val="0"/>
                </a:spcBef>
                <a:spcAft>
                  <a:spcPts val="1200"/>
                </a:spcAft>
                <a:buFont typeface="Amazon Ember" panose="020B0603020204020204" pitchFamily="34" charset="0"/>
                <a:buChar char="–"/>
                <a:defRPr sz="2000"/>
              </a:lvl3pPr>
              <a:lvl4pPr marL="1030288" indent="-171450">
                <a:lnSpc>
                  <a:spcPct val="90000"/>
                </a:lnSpc>
                <a:spcBef>
                  <a:spcPts val="0"/>
                </a:spcBef>
                <a:spcAft>
                  <a:spcPts val="1200"/>
                </a:spcAft>
                <a:buFont typeface="Arial" panose="020B0604020202020204" pitchFamily="34" charset="0"/>
                <a:buChar char="•"/>
              </a:lvl4pPr>
              <a:lvl5pPr marL="1201738" indent="-171450">
                <a:lnSpc>
                  <a:spcPct val="90000"/>
                </a:lnSpc>
                <a:spcBef>
                  <a:spcPts val="0"/>
                </a:spcBef>
                <a:spcAft>
                  <a:spcPts val="1200"/>
                </a:spcAft>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1200"/>
                </a:spcAft>
                <a:buClrTx/>
                <a:buSzPct val="90000"/>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Add </a:t>
              </a:r>
              <a:br>
                <a:rPr kumimoji="0" lang="en-US" sz="1800" b="0" i="0" u="none" strike="noStrike" kern="1200" cap="none" spc="0" normalizeH="0" baseline="0" noProof="0" dirty="0">
                  <a:ln>
                    <a:noFill/>
                  </a:ln>
                  <a:solidFill>
                    <a:srgbClr val="232F3E"/>
                  </a:solidFill>
                  <a:effectLst/>
                  <a:uLnTx/>
                  <a:uFillTx/>
                  <a:latin typeface="Amazon Ember Light"/>
                  <a:ea typeface="+mn-ea"/>
                  <a:cs typeface="+mn-cs"/>
                </a:rPr>
              </a:b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people to work team</a:t>
              </a:r>
            </a:p>
          </p:txBody>
        </p:sp>
        <p:sp>
          <p:nvSpPr>
            <p:cNvPr id="60" name="Freeform: Shape 59">
              <a:extLst>
                <a:ext uri="{FF2B5EF4-FFF2-40B4-BE49-F238E27FC236}">
                  <a16:creationId xmlns:a16="http://schemas.microsoft.com/office/drawing/2014/main" id="{CB7D2C08-D9B8-CDFC-782D-A848066B5AA8}"/>
                </a:ext>
              </a:extLst>
            </p:cNvPr>
            <p:cNvSpPr/>
            <p:nvPr/>
          </p:nvSpPr>
          <p:spPr>
            <a:xfrm>
              <a:off x="6285210" y="2498441"/>
              <a:ext cx="1315407" cy="1144940"/>
            </a:xfrm>
            <a:custGeom>
              <a:avLst/>
              <a:gdLst>
                <a:gd name="connsiteX0" fmla="*/ 2061646 w 2066765"/>
                <a:gd name="connsiteY0" fmla="*/ 916242 h 1798928"/>
                <a:gd name="connsiteX1" fmla="*/ 2062340 w 2066765"/>
                <a:gd name="connsiteY1" fmla="*/ 914998 h 1798928"/>
                <a:gd name="connsiteX2" fmla="*/ 2064423 w 2066765"/>
                <a:gd name="connsiteY2" fmla="*/ 911064 h 1798928"/>
                <a:gd name="connsiteX3" fmla="*/ 2065001 w 2066765"/>
                <a:gd name="connsiteY3" fmla="*/ 909213 h 1798928"/>
                <a:gd name="connsiteX4" fmla="*/ 2066159 w 2066765"/>
                <a:gd name="connsiteY4" fmla="*/ 905423 h 1798928"/>
                <a:gd name="connsiteX5" fmla="*/ 2066766 w 2066765"/>
                <a:gd name="connsiteY5" fmla="*/ 899464 h 1798928"/>
                <a:gd name="connsiteX6" fmla="*/ 2066159 w 2066765"/>
                <a:gd name="connsiteY6" fmla="*/ 893505 h 1798928"/>
                <a:gd name="connsiteX7" fmla="*/ 2065001 w 2066765"/>
                <a:gd name="connsiteY7" fmla="*/ 889716 h 1798928"/>
                <a:gd name="connsiteX8" fmla="*/ 2064423 w 2066765"/>
                <a:gd name="connsiteY8" fmla="*/ 887865 h 1798928"/>
                <a:gd name="connsiteX9" fmla="*/ 2062340 w 2066765"/>
                <a:gd name="connsiteY9" fmla="*/ 883931 h 1798928"/>
                <a:gd name="connsiteX10" fmla="*/ 2061646 w 2066765"/>
                <a:gd name="connsiteY10" fmla="*/ 882687 h 1798928"/>
                <a:gd name="connsiteX11" fmla="*/ 2057914 w 2066765"/>
                <a:gd name="connsiteY11" fmla="*/ 878116 h 1798928"/>
                <a:gd name="connsiteX12" fmla="*/ 2057914 w 2066765"/>
                <a:gd name="connsiteY12" fmla="*/ 878116 h 1798928"/>
                <a:gd name="connsiteX13" fmla="*/ 1921840 w 2066765"/>
                <a:gd name="connsiteY13" fmla="*/ 742042 h 1798928"/>
                <a:gd name="connsiteX14" fmla="*/ 1879173 w 2066765"/>
                <a:gd name="connsiteY14" fmla="*/ 742042 h 1798928"/>
                <a:gd name="connsiteX15" fmla="*/ 1879173 w 2066765"/>
                <a:gd name="connsiteY15" fmla="*/ 784710 h 1798928"/>
                <a:gd name="connsiteX16" fmla="*/ 1963727 w 2066765"/>
                <a:gd name="connsiteY16" fmla="*/ 869264 h 1798928"/>
                <a:gd name="connsiteX17" fmla="*/ 1651313 w 2066765"/>
                <a:gd name="connsiteY17" fmla="*/ 869264 h 1798928"/>
                <a:gd name="connsiteX18" fmla="*/ 899493 w 2066765"/>
                <a:gd name="connsiteY18" fmla="*/ 146835 h 1798928"/>
                <a:gd name="connsiteX19" fmla="*/ 146864 w 2066765"/>
                <a:gd name="connsiteY19" fmla="*/ 899464 h 1798928"/>
                <a:gd name="connsiteX20" fmla="*/ 899464 w 2066765"/>
                <a:gd name="connsiteY20" fmla="*/ 1652065 h 1798928"/>
                <a:gd name="connsiteX21" fmla="*/ 1633638 w 2066765"/>
                <a:gd name="connsiteY21" fmla="*/ 1065710 h 1798928"/>
                <a:gd name="connsiteX22" fmla="*/ 1722156 w 2066765"/>
                <a:gd name="connsiteY22" fmla="*/ 1065710 h 1798928"/>
                <a:gd name="connsiteX23" fmla="*/ 899464 w 2066765"/>
                <a:gd name="connsiteY23" fmla="*/ 1738558 h 1798928"/>
                <a:gd name="connsiteX24" fmla="*/ 60342 w 2066765"/>
                <a:gd name="connsiteY24" fmla="*/ 899436 h 1798928"/>
                <a:gd name="connsiteX25" fmla="*/ 899464 w 2066765"/>
                <a:gd name="connsiteY25" fmla="*/ 60342 h 1798928"/>
                <a:gd name="connsiteX26" fmla="*/ 1728346 w 2066765"/>
                <a:gd name="connsiteY26" fmla="*/ 768077 h 1798928"/>
                <a:gd name="connsiteX27" fmla="*/ 1762827 w 2066765"/>
                <a:gd name="connsiteY27" fmla="*/ 793186 h 1798928"/>
                <a:gd name="connsiteX28" fmla="*/ 1787965 w 2066765"/>
                <a:gd name="connsiteY28" fmla="*/ 758704 h 1798928"/>
                <a:gd name="connsiteX29" fmla="*/ 1486688 w 2066765"/>
                <a:gd name="connsiteY29" fmla="*/ 218141 h 1798928"/>
                <a:gd name="connsiteX30" fmla="*/ 899464 w 2066765"/>
                <a:gd name="connsiteY30" fmla="*/ 0 h 1798928"/>
                <a:gd name="connsiteX31" fmla="*/ 0 w 2066765"/>
                <a:gd name="connsiteY31" fmla="*/ 899464 h 1798928"/>
                <a:gd name="connsiteX32" fmla="*/ 899464 w 2066765"/>
                <a:gd name="connsiteY32" fmla="*/ 1798929 h 1798928"/>
                <a:gd name="connsiteX33" fmla="*/ 1486717 w 2066765"/>
                <a:gd name="connsiteY33" fmla="*/ 1580788 h 1798928"/>
                <a:gd name="connsiteX34" fmla="*/ 1787994 w 2066765"/>
                <a:gd name="connsiteY34" fmla="*/ 1040225 h 1798928"/>
                <a:gd name="connsiteX35" fmla="*/ 1781109 w 2066765"/>
                <a:gd name="connsiteY35" fmla="*/ 1015926 h 1798928"/>
                <a:gd name="connsiteX36" fmla="*/ 1758170 w 2066765"/>
                <a:gd name="connsiteY36" fmla="*/ 1005367 h 1798928"/>
                <a:gd name="connsiteX37" fmla="*/ 1609108 w 2066765"/>
                <a:gd name="connsiteY37" fmla="*/ 1005367 h 1798928"/>
                <a:gd name="connsiteX38" fmla="*/ 1579457 w 2066765"/>
                <a:gd name="connsiteY38" fmla="*/ 1029898 h 1798928"/>
                <a:gd name="connsiteX39" fmla="*/ 899464 w 2066765"/>
                <a:gd name="connsiteY39" fmla="*/ 1591723 h 1798928"/>
                <a:gd name="connsiteX40" fmla="*/ 207206 w 2066765"/>
                <a:gd name="connsiteY40" fmla="*/ 899464 h 1798928"/>
                <a:gd name="connsiteX41" fmla="*/ 899464 w 2066765"/>
                <a:gd name="connsiteY41" fmla="*/ 207206 h 1798928"/>
                <a:gd name="connsiteX42" fmla="*/ 1591723 w 2066765"/>
                <a:gd name="connsiteY42" fmla="*/ 899464 h 1798928"/>
                <a:gd name="connsiteX43" fmla="*/ 1621894 w 2066765"/>
                <a:gd name="connsiteY43" fmla="*/ 929636 h 1798928"/>
                <a:gd name="connsiteX44" fmla="*/ 1963727 w 2066765"/>
                <a:gd name="connsiteY44" fmla="*/ 929636 h 1798928"/>
                <a:gd name="connsiteX45" fmla="*/ 1879173 w 2066765"/>
                <a:gd name="connsiteY45" fmla="*/ 1014190 h 1798928"/>
                <a:gd name="connsiteX46" fmla="*/ 1879173 w 2066765"/>
                <a:gd name="connsiteY46" fmla="*/ 1056858 h 1798928"/>
                <a:gd name="connsiteX47" fmla="*/ 1900521 w 2066765"/>
                <a:gd name="connsiteY47" fmla="*/ 1065710 h 1798928"/>
                <a:gd name="connsiteX48" fmla="*/ 1921869 w 2066765"/>
                <a:gd name="connsiteY48" fmla="*/ 1056887 h 1798928"/>
                <a:gd name="connsiteX49" fmla="*/ 2057943 w 2066765"/>
                <a:gd name="connsiteY49" fmla="*/ 920813 h 1798928"/>
                <a:gd name="connsiteX50" fmla="*/ 2057943 w 2066765"/>
                <a:gd name="connsiteY50" fmla="*/ 920813 h 1798928"/>
                <a:gd name="connsiteX51" fmla="*/ 2061675 w 2066765"/>
                <a:gd name="connsiteY51" fmla="*/ 916242 h 17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066765" h="1798928">
                  <a:moveTo>
                    <a:pt x="2061646" y="916242"/>
                  </a:moveTo>
                  <a:cubicBezTo>
                    <a:pt x="2061906" y="915837"/>
                    <a:pt x="2062080" y="915403"/>
                    <a:pt x="2062340" y="914998"/>
                  </a:cubicBezTo>
                  <a:cubicBezTo>
                    <a:pt x="2063092" y="913726"/>
                    <a:pt x="2063844" y="912453"/>
                    <a:pt x="2064423" y="911064"/>
                  </a:cubicBezTo>
                  <a:cubicBezTo>
                    <a:pt x="2064683" y="910457"/>
                    <a:pt x="2064799" y="909820"/>
                    <a:pt x="2065001" y="909213"/>
                  </a:cubicBezTo>
                  <a:cubicBezTo>
                    <a:pt x="2065435" y="907969"/>
                    <a:pt x="2065898" y="906754"/>
                    <a:pt x="2066159" y="905423"/>
                  </a:cubicBezTo>
                  <a:cubicBezTo>
                    <a:pt x="2066564" y="903485"/>
                    <a:pt x="2066766" y="901489"/>
                    <a:pt x="2066766" y="899464"/>
                  </a:cubicBezTo>
                  <a:cubicBezTo>
                    <a:pt x="2066766" y="897440"/>
                    <a:pt x="2066564" y="895444"/>
                    <a:pt x="2066159" y="893505"/>
                  </a:cubicBezTo>
                  <a:cubicBezTo>
                    <a:pt x="2065898" y="892204"/>
                    <a:pt x="2065435" y="890960"/>
                    <a:pt x="2065001" y="889716"/>
                  </a:cubicBezTo>
                  <a:cubicBezTo>
                    <a:pt x="2064799" y="889108"/>
                    <a:pt x="2064683" y="888472"/>
                    <a:pt x="2064423" y="887865"/>
                  </a:cubicBezTo>
                  <a:cubicBezTo>
                    <a:pt x="2063844" y="886476"/>
                    <a:pt x="2063092" y="885203"/>
                    <a:pt x="2062340" y="883931"/>
                  </a:cubicBezTo>
                  <a:cubicBezTo>
                    <a:pt x="2062080" y="883526"/>
                    <a:pt x="2061935" y="883063"/>
                    <a:pt x="2061646" y="882687"/>
                  </a:cubicBezTo>
                  <a:cubicBezTo>
                    <a:pt x="2060547" y="881038"/>
                    <a:pt x="2059303" y="879505"/>
                    <a:pt x="2057914" y="878116"/>
                  </a:cubicBezTo>
                  <a:lnTo>
                    <a:pt x="2057914" y="878116"/>
                  </a:lnTo>
                  <a:lnTo>
                    <a:pt x="1921840" y="742042"/>
                  </a:lnTo>
                  <a:cubicBezTo>
                    <a:pt x="1910067" y="730269"/>
                    <a:pt x="1890946" y="730269"/>
                    <a:pt x="1879173" y="742042"/>
                  </a:cubicBezTo>
                  <a:cubicBezTo>
                    <a:pt x="1867399" y="753816"/>
                    <a:pt x="1867399" y="772937"/>
                    <a:pt x="1879173" y="784710"/>
                  </a:cubicBezTo>
                  <a:lnTo>
                    <a:pt x="1963727" y="869264"/>
                  </a:lnTo>
                  <a:lnTo>
                    <a:pt x="1651313" y="869264"/>
                  </a:lnTo>
                  <a:cubicBezTo>
                    <a:pt x="1635403" y="468217"/>
                    <a:pt x="1304359" y="146835"/>
                    <a:pt x="899493" y="146835"/>
                  </a:cubicBezTo>
                  <a:cubicBezTo>
                    <a:pt x="494627" y="146835"/>
                    <a:pt x="146864" y="484474"/>
                    <a:pt x="146864" y="899464"/>
                  </a:cubicBezTo>
                  <a:cubicBezTo>
                    <a:pt x="146864" y="1314455"/>
                    <a:pt x="484474" y="1652065"/>
                    <a:pt x="899464" y="1652065"/>
                  </a:cubicBezTo>
                  <a:cubicBezTo>
                    <a:pt x="1251972" y="1652065"/>
                    <a:pt x="1556778" y="1406964"/>
                    <a:pt x="1633638" y="1065710"/>
                  </a:cubicBezTo>
                  <a:lnTo>
                    <a:pt x="1722156" y="1065710"/>
                  </a:lnTo>
                  <a:cubicBezTo>
                    <a:pt x="1643936" y="1457703"/>
                    <a:pt x="1303404" y="1738558"/>
                    <a:pt x="899464" y="1738558"/>
                  </a:cubicBezTo>
                  <a:cubicBezTo>
                    <a:pt x="436773" y="1738558"/>
                    <a:pt x="60342" y="1362127"/>
                    <a:pt x="60342" y="899436"/>
                  </a:cubicBezTo>
                  <a:cubicBezTo>
                    <a:pt x="60342" y="436744"/>
                    <a:pt x="436773" y="60342"/>
                    <a:pt x="899464" y="60342"/>
                  </a:cubicBezTo>
                  <a:cubicBezTo>
                    <a:pt x="1315265" y="60342"/>
                    <a:pt x="1663867" y="357975"/>
                    <a:pt x="1728346" y="768077"/>
                  </a:cubicBezTo>
                  <a:cubicBezTo>
                    <a:pt x="1730949" y="784536"/>
                    <a:pt x="1746512" y="795789"/>
                    <a:pt x="1762827" y="793186"/>
                  </a:cubicBezTo>
                  <a:cubicBezTo>
                    <a:pt x="1779287" y="790611"/>
                    <a:pt x="1790540" y="775164"/>
                    <a:pt x="1787965" y="758704"/>
                  </a:cubicBezTo>
                  <a:cubicBezTo>
                    <a:pt x="1755046" y="549300"/>
                    <a:pt x="1648044" y="357339"/>
                    <a:pt x="1486688" y="218141"/>
                  </a:cubicBezTo>
                  <a:cubicBezTo>
                    <a:pt x="1323625" y="77467"/>
                    <a:pt x="1115088" y="0"/>
                    <a:pt x="899464" y="0"/>
                  </a:cubicBezTo>
                  <a:cubicBezTo>
                    <a:pt x="403506" y="0"/>
                    <a:pt x="0" y="403506"/>
                    <a:pt x="0" y="899464"/>
                  </a:cubicBezTo>
                  <a:cubicBezTo>
                    <a:pt x="0" y="1395423"/>
                    <a:pt x="403506" y="1798929"/>
                    <a:pt x="899464" y="1798929"/>
                  </a:cubicBezTo>
                  <a:cubicBezTo>
                    <a:pt x="1115088" y="1798929"/>
                    <a:pt x="1323625" y="1721462"/>
                    <a:pt x="1486717" y="1580788"/>
                  </a:cubicBezTo>
                  <a:cubicBezTo>
                    <a:pt x="1648073" y="1441590"/>
                    <a:pt x="1755046" y="1249629"/>
                    <a:pt x="1787994" y="1040225"/>
                  </a:cubicBezTo>
                  <a:cubicBezTo>
                    <a:pt x="1789354" y="1031517"/>
                    <a:pt x="1786837" y="1022637"/>
                    <a:pt x="1781109" y="1015926"/>
                  </a:cubicBezTo>
                  <a:cubicBezTo>
                    <a:pt x="1775382" y="1009215"/>
                    <a:pt x="1766993" y="1005367"/>
                    <a:pt x="1758170" y="1005367"/>
                  </a:cubicBezTo>
                  <a:lnTo>
                    <a:pt x="1609108" y="1005367"/>
                  </a:lnTo>
                  <a:cubicBezTo>
                    <a:pt x="1594615" y="1005367"/>
                    <a:pt x="1582177" y="1015665"/>
                    <a:pt x="1579457" y="1029898"/>
                  </a:cubicBezTo>
                  <a:cubicBezTo>
                    <a:pt x="1517408" y="1355445"/>
                    <a:pt x="1231434" y="1591723"/>
                    <a:pt x="899464" y="1591723"/>
                  </a:cubicBezTo>
                  <a:cubicBezTo>
                    <a:pt x="517740" y="1591723"/>
                    <a:pt x="207206" y="1281189"/>
                    <a:pt x="207206" y="899464"/>
                  </a:cubicBezTo>
                  <a:cubicBezTo>
                    <a:pt x="207206" y="517740"/>
                    <a:pt x="517769" y="207206"/>
                    <a:pt x="899464" y="207206"/>
                  </a:cubicBezTo>
                  <a:cubicBezTo>
                    <a:pt x="1281159" y="207206"/>
                    <a:pt x="1591723" y="517740"/>
                    <a:pt x="1591723" y="899464"/>
                  </a:cubicBezTo>
                  <a:cubicBezTo>
                    <a:pt x="1591723" y="916127"/>
                    <a:pt x="1605231" y="929636"/>
                    <a:pt x="1621894" y="929636"/>
                  </a:cubicBezTo>
                  <a:lnTo>
                    <a:pt x="1963727" y="929636"/>
                  </a:lnTo>
                  <a:lnTo>
                    <a:pt x="1879173" y="1014190"/>
                  </a:lnTo>
                  <a:cubicBezTo>
                    <a:pt x="1867399" y="1025963"/>
                    <a:pt x="1867399" y="1045084"/>
                    <a:pt x="1879173" y="1056858"/>
                  </a:cubicBezTo>
                  <a:cubicBezTo>
                    <a:pt x="1885074" y="1062759"/>
                    <a:pt x="1892797" y="1065710"/>
                    <a:pt x="1900521" y="1065710"/>
                  </a:cubicBezTo>
                  <a:cubicBezTo>
                    <a:pt x="1908245" y="1065710"/>
                    <a:pt x="1915968" y="1062759"/>
                    <a:pt x="1921869" y="1056887"/>
                  </a:cubicBezTo>
                  <a:lnTo>
                    <a:pt x="2057943" y="920813"/>
                  </a:lnTo>
                  <a:lnTo>
                    <a:pt x="2057943" y="920813"/>
                  </a:lnTo>
                  <a:cubicBezTo>
                    <a:pt x="2059332" y="919424"/>
                    <a:pt x="2060576" y="917891"/>
                    <a:pt x="2061675" y="916242"/>
                  </a:cubicBezTo>
                  <a:close/>
                </a:path>
              </a:pathLst>
            </a:custGeom>
            <a:solidFill>
              <a:srgbClr val="8346FE"/>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187" name="Group 186">
              <a:extLst>
                <a:ext uri="{FF2B5EF4-FFF2-40B4-BE49-F238E27FC236}">
                  <a16:creationId xmlns:a16="http://schemas.microsoft.com/office/drawing/2014/main" id="{DFC4F10C-783C-DB17-7683-D287F493D9D0}"/>
                </a:ext>
              </a:extLst>
            </p:cNvPr>
            <p:cNvGrpSpPr/>
            <p:nvPr/>
          </p:nvGrpSpPr>
          <p:grpSpPr>
            <a:xfrm>
              <a:off x="6631220" y="2823735"/>
              <a:ext cx="420540" cy="425315"/>
              <a:chOff x="5426024" y="4379092"/>
              <a:chExt cx="1339910" cy="1355123"/>
            </a:xfrm>
          </p:grpSpPr>
          <p:sp>
            <p:nvSpPr>
              <p:cNvPr id="178" name="Freeform: Shape 177">
                <a:extLst>
                  <a:ext uri="{FF2B5EF4-FFF2-40B4-BE49-F238E27FC236}">
                    <a16:creationId xmlns:a16="http://schemas.microsoft.com/office/drawing/2014/main" id="{F3B70153-1303-F7DC-5393-A558141701F2}"/>
                  </a:ext>
                </a:extLst>
              </p:cNvPr>
              <p:cNvSpPr/>
              <p:nvPr/>
            </p:nvSpPr>
            <p:spPr>
              <a:xfrm>
                <a:off x="6343283" y="5123335"/>
                <a:ext cx="316472" cy="316514"/>
              </a:xfrm>
              <a:custGeom>
                <a:avLst/>
                <a:gdLst>
                  <a:gd name="connsiteX0" fmla="*/ 316472 w 316471"/>
                  <a:gd name="connsiteY0" fmla="*/ 158277 h 316512"/>
                  <a:gd name="connsiteX1" fmla="*/ 158236 w 316471"/>
                  <a:gd name="connsiteY1" fmla="*/ 316513 h 316512"/>
                  <a:gd name="connsiteX2" fmla="*/ 0 w 316471"/>
                  <a:gd name="connsiteY2" fmla="*/ 158277 h 316512"/>
                  <a:gd name="connsiteX3" fmla="*/ 158236 w 316471"/>
                  <a:gd name="connsiteY3" fmla="*/ 0 h 316512"/>
                  <a:gd name="connsiteX4" fmla="*/ 316472 w 316471"/>
                  <a:gd name="connsiteY4" fmla="*/ 158277 h 316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471" h="316512">
                    <a:moveTo>
                      <a:pt x="316472" y="158277"/>
                    </a:moveTo>
                    <a:cubicBezTo>
                      <a:pt x="316472" y="245658"/>
                      <a:pt x="245617" y="316513"/>
                      <a:pt x="158236" y="316513"/>
                    </a:cubicBezTo>
                    <a:cubicBezTo>
                      <a:pt x="70855" y="316513"/>
                      <a:pt x="0" y="245658"/>
                      <a:pt x="0" y="158277"/>
                    </a:cubicBezTo>
                    <a:cubicBezTo>
                      <a:pt x="0" y="70895"/>
                      <a:pt x="70855" y="0"/>
                      <a:pt x="158236" y="0"/>
                    </a:cubicBezTo>
                    <a:cubicBezTo>
                      <a:pt x="245617" y="0"/>
                      <a:pt x="316472" y="70855"/>
                      <a:pt x="316472" y="158277"/>
                    </a:cubicBezTo>
                    <a:close/>
                  </a:path>
                </a:pathLst>
              </a:custGeom>
              <a:noFill/>
              <a:ln w="15875" cap="rnd">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79" name="Freeform: Shape 178">
                <a:extLst>
                  <a:ext uri="{FF2B5EF4-FFF2-40B4-BE49-F238E27FC236}">
                    <a16:creationId xmlns:a16="http://schemas.microsoft.com/office/drawing/2014/main" id="{9108159F-7668-6482-8A0D-556E8B2D6CAC}"/>
                  </a:ext>
                </a:extLst>
              </p:cNvPr>
              <p:cNvSpPr/>
              <p:nvPr/>
            </p:nvSpPr>
            <p:spPr>
              <a:xfrm>
                <a:off x="6237019" y="5515803"/>
                <a:ext cx="528915" cy="218412"/>
              </a:xfrm>
              <a:custGeom>
                <a:avLst/>
                <a:gdLst>
                  <a:gd name="connsiteX0" fmla="*/ 0 w 528915"/>
                  <a:gd name="connsiteY0" fmla="*/ 218412 h 218412"/>
                  <a:gd name="connsiteX1" fmla="*/ 0 w 528915"/>
                  <a:gd name="connsiteY1" fmla="*/ 157709 h 218412"/>
                  <a:gd name="connsiteX2" fmla="*/ 155394 w 528915"/>
                  <a:gd name="connsiteY2" fmla="*/ 0 h 218412"/>
                  <a:gd name="connsiteX3" fmla="*/ 264458 w 528915"/>
                  <a:gd name="connsiteY3" fmla="*/ 82752 h 218412"/>
                  <a:gd name="connsiteX4" fmla="*/ 373522 w 528915"/>
                  <a:gd name="connsiteY4" fmla="*/ 0 h 218412"/>
                  <a:gd name="connsiteX5" fmla="*/ 528915 w 528915"/>
                  <a:gd name="connsiteY5" fmla="*/ 157709 h 218412"/>
                  <a:gd name="connsiteX6" fmla="*/ 528915 w 528915"/>
                  <a:gd name="connsiteY6" fmla="*/ 218412 h 218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915" h="218412">
                    <a:moveTo>
                      <a:pt x="0" y="218412"/>
                    </a:moveTo>
                    <a:lnTo>
                      <a:pt x="0" y="157709"/>
                    </a:lnTo>
                    <a:cubicBezTo>
                      <a:pt x="0" y="71708"/>
                      <a:pt x="69678" y="1259"/>
                      <a:pt x="155394" y="0"/>
                    </a:cubicBezTo>
                    <a:lnTo>
                      <a:pt x="264458" y="82752"/>
                    </a:lnTo>
                    <a:lnTo>
                      <a:pt x="373522" y="0"/>
                    </a:lnTo>
                    <a:cubicBezTo>
                      <a:pt x="459238" y="1259"/>
                      <a:pt x="528915" y="71748"/>
                      <a:pt x="528915" y="157709"/>
                    </a:cubicBezTo>
                    <a:lnTo>
                      <a:pt x="528915" y="218412"/>
                    </a:lnTo>
                  </a:path>
                </a:pathLst>
              </a:custGeom>
              <a:noFill/>
              <a:ln w="15875" cap="rnd">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80" name="Freeform: Shape 179">
                <a:extLst>
                  <a:ext uri="{FF2B5EF4-FFF2-40B4-BE49-F238E27FC236}">
                    <a16:creationId xmlns:a16="http://schemas.microsoft.com/office/drawing/2014/main" id="{B356018C-0E62-CBC5-0379-D821417DE954}"/>
                  </a:ext>
                </a:extLst>
              </p:cNvPr>
              <p:cNvSpPr/>
              <p:nvPr/>
            </p:nvSpPr>
            <p:spPr>
              <a:xfrm>
                <a:off x="5937764" y="4379092"/>
                <a:ext cx="316472" cy="316514"/>
              </a:xfrm>
              <a:custGeom>
                <a:avLst/>
                <a:gdLst>
                  <a:gd name="connsiteX0" fmla="*/ 316472 w 316471"/>
                  <a:gd name="connsiteY0" fmla="*/ 158277 h 316512"/>
                  <a:gd name="connsiteX1" fmla="*/ 158236 w 316471"/>
                  <a:gd name="connsiteY1" fmla="*/ 316513 h 316512"/>
                  <a:gd name="connsiteX2" fmla="*/ 0 w 316471"/>
                  <a:gd name="connsiteY2" fmla="*/ 158277 h 316512"/>
                  <a:gd name="connsiteX3" fmla="*/ 158236 w 316471"/>
                  <a:gd name="connsiteY3" fmla="*/ 0 h 316512"/>
                  <a:gd name="connsiteX4" fmla="*/ 316472 w 316471"/>
                  <a:gd name="connsiteY4" fmla="*/ 158277 h 316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471" h="316512">
                    <a:moveTo>
                      <a:pt x="316472" y="158277"/>
                    </a:moveTo>
                    <a:cubicBezTo>
                      <a:pt x="316472" y="245658"/>
                      <a:pt x="245617" y="316513"/>
                      <a:pt x="158236" y="316513"/>
                    </a:cubicBezTo>
                    <a:cubicBezTo>
                      <a:pt x="70855" y="316513"/>
                      <a:pt x="0" y="245658"/>
                      <a:pt x="0" y="158277"/>
                    </a:cubicBezTo>
                    <a:cubicBezTo>
                      <a:pt x="0" y="70896"/>
                      <a:pt x="70855" y="0"/>
                      <a:pt x="158236" y="0"/>
                    </a:cubicBezTo>
                    <a:cubicBezTo>
                      <a:pt x="245617" y="0"/>
                      <a:pt x="316472" y="70855"/>
                      <a:pt x="316472" y="158277"/>
                    </a:cubicBezTo>
                    <a:close/>
                  </a:path>
                </a:pathLst>
              </a:custGeom>
              <a:noFill/>
              <a:ln w="15875" cap="rnd">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81" name="Freeform: Shape 180">
                <a:extLst>
                  <a:ext uri="{FF2B5EF4-FFF2-40B4-BE49-F238E27FC236}">
                    <a16:creationId xmlns:a16="http://schemas.microsoft.com/office/drawing/2014/main" id="{297D6D56-E700-933B-2329-3A0545707B7E}"/>
                  </a:ext>
                </a:extLst>
              </p:cNvPr>
              <p:cNvSpPr/>
              <p:nvPr/>
            </p:nvSpPr>
            <p:spPr>
              <a:xfrm>
                <a:off x="5831542" y="4771521"/>
                <a:ext cx="528915" cy="218411"/>
              </a:xfrm>
              <a:custGeom>
                <a:avLst/>
                <a:gdLst>
                  <a:gd name="connsiteX0" fmla="*/ 0 w 528915"/>
                  <a:gd name="connsiteY0" fmla="*/ 218412 h 218411"/>
                  <a:gd name="connsiteX1" fmla="*/ 0 w 528915"/>
                  <a:gd name="connsiteY1" fmla="*/ 157708 h 218411"/>
                  <a:gd name="connsiteX2" fmla="*/ 155394 w 528915"/>
                  <a:gd name="connsiteY2" fmla="*/ 0 h 218411"/>
                  <a:gd name="connsiteX3" fmla="*/ 264458 w 528915"/>
                  <a:gd name="connsiteY3" fmla="*/ 82752 h 218411"/>
                  <a:gd name="connsiteX4" fmla="*/ 373522 w 528915"/>
                  <a:gd name="connsiteY4" fmla="*/ 0 h 218411"/>
                  <a:gd name="connsiteX5" fmla="*/ 528915 w 528915"/>
                  <a:gd name="connsiteY5" fmla="*/ 157708 h 218411"/>
                  <a:gd name="connsiteX6" fmla="*/ 528915 w 528915"/>
                  <a:gd name="connsiteY6" fmla="*/ 218412 h 218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915" h="218411">
                    <a:moveTo>
                      <a:pt x="0" y="218412"/>
                    </a:moveTo>
                    <a:lnTo>
                      <a:pt x="0" y="157708"/>
                    </a:lnTo>
                    <a:cubicBezTo>
                      <a:pt x="0" y="71707"/>
                      <a:pt x="69678" y="1258"/>
                      <a:pt x="155394" y="0"/>
                    </a:cubicBezTo>
                    <a:lnTo>
                      <a:pt x="264458" y="82752"/>
                    </a:lnTo>
                    <a:lnTo>
                      <a:pt x="373522" y="0"/>
                    </a:lnTo>
                    <a:cubicBezTo>
                      <a:pt x="459238" y="1258"/>
                      <a:pt x="528915" y="71748"/>
                      <a:pt x="528915" y="157708"/>
                    </a:cubicBezTo>
                    <a:lnTo>
                      <a:pt x="528915" y="218412"/>
                    </a:lnTo>
                  </a:path>
                </a:pathLst>
              </a:custGeom>
              <a:noFill/>
              <a:ln w="15875" cap="rnd">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82" name="Freeform: Shape 181">
                <a:extLst>
                  <a:ext uri="{FF2B5EF4-FFF2-40B4-BE49-F238E27FC236}">
                    <a16:creationId xmlns:a16="http://schemas.microsoft.com/office/drawing/2014/main" id="{35979937-7904-A9D4-508E-9C0E607CBF7B}"/>
                  </a:ext>
                </a:extLst>
              </p:cNvPr>
              <p:cNvSpPr/>
              <p:nvPr/>
            </p:nvSpPr>
            <p:spPr>
              <a:xfrm>
                <a:off x="5533340" y="5117284"/>
                <a:ext cx="319719" cy="319719"/>
              </a:xfrm>
              <a:custGeom>
                <a:avLst/>
                <a:gdLst>
                  <a:gd name="connsiteX0" fmla="*/ 319720 w 319720"/>
                  <a:gd name="connsiteY0" fmla="*/ 159860 h 319720"/>
                  <a:gd name="connsiteX1" fmla="*/ 159860 w 319720"/>
                  <a:gd name="connsiteY1" fmla="*/ 319720 h 319720"/>
                  <a:gd name="connsiteX2" fmla="*/ 0 w 319720"/>
                  <a:gd name="connsiteY2" fmla="*/ 159860 h 319720"/>
                  <a:gd name="connsiteX3" fmla="*/ 159860 w 319720"/>
                  <a:gd name="connsiteY3" fmla="*/ 0 h 319720"/>
                  <a:gd name="connsiteX4" fmla="*/ 319720 w 319720"/>
                  <a:gd name="connsiteY4" fmla="*/ 159860 h 319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20" h="319720">
                    <a:moveTo>
                      <a:pt x="319720" y="159860"/>
                    </a:moveTo>
                    <a:cubicBezTo>
                      <a:pt x="319720" y="248135"/>
                      <a:pt x="248135" y="319720"/>
                      <a:pt x="159860" y="319720"/>
                    </a:cubicBezTo>
                    <a:cubicBezTo>
                      <a:pt x="71586" y="319720"/>
                      <a:pt x="0" y="248135"/>
                      <a:pt x="0" y="159860"/>
                    </a:cubicBezTo>
                    <a:cubicBezTo>
                      <a:pt x="0" y="71586"/>
                      <a:pt x="71586" y="0"/>
                      <a:pt x="159860" y="0"/>
                    </a:cubicBezTo>
                    <a:cubicBezTo>
                      <a:pt x="248135" y="0"/>
                      <a:pt x="319720" y="71586"/>
                      <a:pt x="319720" y="159860"/>
                    </a:cubicBezTo>
                    <a:close/>
                  </a:path>
                </a:pathLst>
              </a:custGeom>
              <a:noFill/>
              <a:ln w="15875" cap="rnd">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83" name="Freeform: Shape 182">
                <a:extLst>
                  <a:ext uri="{FF2B5EF4-FFF2-40B4-BE49-F238E27FC236}">
                    <a16:creationId xmlns:a16="http://schemas.microsoft.com/office/drawing/2014/main" id="{191F2DC6-DFE7-F254-1F60-BEE98F29F687}"/>
                  </a:ext>
                </a:extLst>
              </p:cNvPr>
              <p:cNvSpPr/>
              <p:nvPr/>
            </p:nvSpPr>
            <p:spPr>
              <a:xfrm>
                <a:off x="5426024" y="5513570"/>
                <a:ext cx="534356" cy="220645"/>
              </a:xfrm>
              <a:custGeom>
                <a:avLst/>
                <a:gdLst>
                  <a:gd name="connsiteX0" fmla="*/ 0 w 534356"/>
                  <a:gd name="connsiteY0" fmla="*/ 220645 h 220645"/>
                  <a:gd name="connsiteX1" fmla="*/ 0 w 534356"/>
                  <a:gd name="connsiteY1" fmla="*/ 159332 h 220645"/>
                  <a:gd name="connsiteX2" fmla="*/ 156977 w 534356"/>
                  <a:gd name="connsiteY2" fmla="*/ 0 h 220645"/>
                  <a:gd name="connsiteX3" fmla="*/ 267178 w 534356"/>
                  <a:gd name="connsiteY3" fmla="*/ 83605 h 220645"/>
                  <a:gd name="connsiteX4" fmla="*/ 377379 w 534356"/>
                  <a:gd name="connsiteY4" fmla="*/ 0 h 220645"/>
                  <a:gd name="connsiteX5" fmla="*/ 534356 w 534356"/>
                  <a:gd name="connsiteY5" fmla="*/ 159332 h 220645"/>
                  <a:gd name="connsiteX6" fmla="*/ 534356 w 534356"/>
                  <a:gd name="connsiteY6" fmla="*/ 220645 h 22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4356" h="220645">
                    <a:moveTo>
                      <a:pt x="0" y="220645"/>
                    </a:moveTo>
                    <a:lnTo>
                      <a:pt x="0" y="159332"/>
                    </a:lnTo>
                    <a:cubicBezTo>
                      <a:pt x="0" y="72479"/>
                      <a:pt x="70408" y="1299"/>
                      <a:pt x="156977" y="0"/>
                    </a:cubicBezTo>
                    <a:lnTo>
                      <a:pt x="267178" y="83605"/>
                    </a:lnTo>
                    <a:lnTo>
                      <a:pt x="377379" y="0"/>
                    </a:lnTo>
                    <a:cubicBezTo>
                      <a:pt x="463989" y="1258"/>
                      <a:pt x="534356" y="72438"/>
                      <a:pt x="534356" y="159332"/>
                    </a:cubicBezTo>
                    <a:lnTo>
                      <a:pt x="534356" y="220645"/>
                    </a:lnTo>
                  </a:path>
                </a:pathLst>
              </a:custGeom>
              <a:noFill/>
              <a:ln w="15875" cap="rnd">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84" name="Freeform: Shape 183">
                <a:extLst>
                  <a:ext uri="{FF2B5EF4-FFF2-40B4-BE49-F238E27FC236}">
                    <a16:creationId xmlns:a16="http://schemas.microsoft.com/office/drawing/2014/main" id="{1AA98C18-D140-2229-8B6F-A01E8F60F92D}"/>
                  </a:ext>
                </a:extLst>
              </p:cNvPr>
              <p:cNvSpPr/>
              <p:nvPr/>
            </p:nvSpPr>
            <p:spPr>
              <a:xfrm>
                <a:off x="6096000" y="5057215"/>
                <a:ext cx="4060" cy="128838"/>
              </a:xfrm>
              <a:custGeom>
                <a:avLst/>
                <a:gdLst>
                  <a:gd name="connsiteX0" fmla="*/ 0 w 4060"/>
                  <a:gd name="connsiteY0" fmla="*/ 0 h 128838"/>
                  <a:gd name="connsiteX1" fmla="*/ 0 w 4060"/>
                  <a:gd name="connsiteY1" fmla="*/ 128838 h 128838"/>
                </a:gdLst>
                <a:ahLst/>
                <a:cxnLst>
                  <a:cxn ang="0">
                    <a:pos x="connsiteX0" y="connsiteY0"/>
                  </a:cxn>
                  <a:cxn ang="0">
                    <a:pos x="connsiteX1" y="connsiteY1"/>
                  </a:cxn>
                </a:cxnLst>
                <a:rect l="l" t="t" r="r" b="b"/>
                <a:pathLst>
                  <a:path w="4060" h="128838">
                    <a:moveTo>
                      <a:pt x="0" y="0"/>
                    </a:moveTo>
                    <a:lnTo>
                      <a:pt x="0" y="128838"/>
                    </a:lnTo>
                  </a:path>
                </a:pathLst>
              </a:custGeom>
              <a:ln w="15875" cap="rnd">
                <a:solidFill>
                  <a:srgbClr val="8346F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85" name="Freeform: Shape 184">
                <a:extLst>
                  <a:ext uri="{FF2B5EF4-FFF2-40B4-BE49-F238E27FC236}">
                    <a16:creationId xmlns:a16="http://schemas.microsoft.com/office/drawing/2014/main" id="{C61D9B71-1F10-E806-E71F-F8FA4A9B004C}"/>
                  </a:ext>
                </a:extLst>
              </p:cNvPr>
              <p:cNvSpPr/>
              <p:nvPr/>
            </p:nvSpPr>
            <p:spPr>
              <a:xfrm>
                <a:off x="6004883" y="5186053"/>
                <a:ext cx="91116" cy="91116"/>
              </a:xfrm>
              <a:custGeom>
                <a:avLst/>
                <a:gdLst>
                  <a:gd name="connsiteX0" fmla="*/ 91117 w 91116"/>
                  <a:gd name="connsiteY0" fmla="*/ 0 h 91116"/>
                  <a:gd name="connsiteX1" fmla="*/ 0 w 91116"/>
                  <a:gd name="connsiteY1" fmla="*/ 91116 h 91116"/>
                </a:gdLst>
                <a:ahLst/>
                <a:cxnLst>
                  <a:cxn ang="0">
                    <a:pos x="connsiteX0" y="connsiteY0"/>
                  </a:cxn>
                  <a:cxn ang="0">
                    <a:pos x="connsiteX1" y="connsiteY1"/>
                  </a:cxn>
                </a:cxnLst>
                <a:rect l="l" t="t" r="r" b="b"/>
                <a:pathLst>
                  <a:path w="91116" h="91116">
                    <a:moveTo>
                      <a:pt x="91117" y="0"/>
                    </a:moveTo>
                    <a:lnTo>
                      <a:pt x="0" y="91116"/>
                    </a:lnTo>
                  </a:path>
                </a:pathLst>
              </a:custGeom>
              <a:ln w="15875" cap="rnd">
                <a:solidFill>
                  <a:srgbClr val="8346F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86" name="Freeform: Shape 185">
                <a:extLst>
                  <a:ext uri="{FF2B5EF4-FFF2-40B4-BE49-F238E27FC236}">
                    <a16:creationId xmlns:a16="http://schemas.microsoft.com/office/drawing/2014/main" id="{C05D0BFF-FB93-7FA2-FBA1-FA4184E083ED}"/>
                  </a:ext>
                </a:extLst>
              </p:cNvPr>
              <p:cNvSpPr/>
              <p:nvPr/>
            </p:nvSpPr>
            <p:spPr>
              <a:xfrm>
                <a:off x="6096000" y="5186053"/>
                <a:ext cx="91116" cy="91116"/>
              </a:xfrm>
              <a:custGeom>
                <a:avLst/>
                <a:gdLst>
                  <a:gd name="connsiteX0" fmla="*/ 0 w 91116"/>
                  <a:gd name="connsiteY0" fmla="*/ 0 h 91116"/>
                  <a:gd name="connsiteX1" fmla="*/ 91116 w 91116"/>
                  <a:gd name="connsiteY1" fmla="*/ 91116 h 91116"/>
                </a:gdLst>
                <a:ahLst/>
                <a:cxnLst>
                  <a:cxn ang="0">
                    <a:pos x="connsiteX0" y="connsiteY0"/>
                  </a:cxn>
                  <a:cxn ang="0">
                    <a:pos x="connsiteX1" y="connsiteY1"/>
                  </a:cxn>
                </a:cxnLst>
                <a:rect l="l" t="t" r="r" b="b"/>
                <a:pathLst>
                  <a:path w="91116" h="91116">
                    <a:moveTo>
                      <a:pt x="0" y="0"/>
                    </a:moveTo>
                    <a:lnTo>
                      <a:pt x="91116" y="91116"/>
                    </a:lnTo>
                  </a:path>
                </a:pathLst>
              </a:custGeom>
              <a:ln w="15875" cap="rnd">
                <a:solidFill>
                  <a:srgbClr val="8346F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grpSp>
      <p:grpSp>
        <p:nvGrpSpPr>
          <p:cNvPr id="239" name="Group 238" descr="Step 8, view results.">
            <a:extLst>
              <a:ext uri="{FF2B5EF4-FFF2-40B4-BE49-F238E27FC236}">
                <a16:creationId xmlns:a16="http://schemas.microsoft.com/office/drawing/2014/main" id="{38821BF0-5120-E783-24E1-D388DE7C031A}"/>
              </a:ext>
            </a:extLst>
          </p:cNvPr>
          <p:cNvGrpSpPr/>
          <p:nvPr/>
        </p:nvGrpSpPr>
        <p:grpSpPr>
          <a:xfrm>
            <a:off x="10645076" y="2498441"/>
            <a:ext cx="1371600" cy="3107375"/>
            <a:chOff x="10645076" y="2498441"/>
            <a:chExt cx="1371600" cy="3107375"/>
          </a:xfrm>
        </p:grpSpPr>
        <p:sp>
          <p:nvSpPr>
            <p:cNvPr id="51" name="TextBox 50">
              <a:extLst>
                <a:ext uri="{FF2B5EF4-FFF2-40B4-BE49-F238E27FC236}">
                  <a16:creationId xmlns:a16="http://schemas.microsoft.com/office/drawing/2014/main" id="{697E01B4-A962-29D3-CA6B-04474CB07B60}"/>
                </a:ext>
              </a:extLst>
            </p:cNvPr>
            <p:cNvSpPr txBox="1"/>
            <p:nvPr/>
          </p:nvSpPr>
          <p:spPr>
            <a:xfrm>
              <a:off x="10645076" y="3959896"/>
              <a:ext cx="1371600" cy="1645920"/>
            </a:xfrm>
            <a:prstGeom prst="rect">
              <a:avLst/>
            </a:prstGeom>
          </p:spPr>
          <p:txBody>
            <a:bodyPr wrap="square" lIns="91440" tIns="0" rIns="91440" bIns="0">
              <a:noAutofit/>
            </a:bodyPr>
            <a:lstStyle>
              <a:defPPr>
                <a:defRPr lang="en-US"/>
              </a:defPPr>
              <a:lvl1pPr indent="0" algn="ctr">
                <a:lnSpc>
                  <a:spcPct val="90000"/>
                </a:lnSpc>
                <a:spcBef>
                  <a:spcPts val="0"/>
                </a:spcBef>
                <a:spcAft>
                  <a:spcPts val="1200"/>
                </a:spcAft>
                <a:buSzPct val="90000"/>
                <a:buFont typeface="Arial" panose="020B0604020202020204" pitchFamily="34" charset="0"/>
                <a:buNone/>
                <a:defRPr sz="2000">
                  <a:latin typeface="+mj-lt"/>
                </a:defRPr>
              </a:lvl1pPr>
              <a:lvl2pPr marL="514350" indent="-228600">
                <a:lnSpc>
                  <a:spcPct val="90000"/>
                </a:lnSpc>
                <a:spcBef>
                  <a:spcPts val="0"/>
                </a:spcBef>
                <a:spcAft>
                  <a:spcPts val="1200"/>
                </a:spcAft>
                <a:buSzPct val="90000"/>
                <a:buFont typeface="Wingdings" panose="05000000000000000000" pitchFamily="2" charset="2"/>
                <a:buChar char="§"/>
                <a:defRPr sz="2400"/>
              </a:lvl2pPr>
              <a:lvl3pPr marL="857250" indent="-228600">
                <a:lnSpc>
                  <a:spcPct val="90000"/>
                </a:lnSpc>
                <a:spcBef>
                  <a:spcPts val="0"/>
                </a:spcBef>
                <a:spcAft>
                  <a:spcPts val="1200"/>
                </a:spcAft>
                <a:buFont typeface="Amazon Ember" panose="020B0603020204020204" pitchFamily="34" charset="0"/>
                <a:buChar char="–"/>
                <a:defRPr sz="2000"/>
              </a:lvl3pPr>
              <a:lvl4pPr marL="1030288" indent="-171450">
                <a:lnSpc>
                  <a:spcPct val="90000"/>
                </a:lnSpc>
                <a:spcBef>
                  <a:spcPts val="0"/>
                </a:spcBef>
                <a:spcAft>
                  <a:spcPts val="1200"/>
                </a:spcAft>
                <a:buFont typeface="Arial" panose="020B0604020202020204" pitchFamily="34" charset="0"/>
                <a:buChar char="•"/>
              </a:lvl4pPr>
              <a:lvl5pPr marL="1201738" indent="-171450">
                <a:lnSpc>
                  <a:spcPct val="90000"/>
                </a:lnSpc>
                <a:spcBef>
                  <a:spcPts val="0"/>
                </a:spcBef>
                <a:spcAft>
                  <a:spcPts val="1200"/>
                </a:spcAft>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1200"/>
                </a:spcAft>
                <a:buClrTx/>
                <a:buSzPct val="90000"/>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View </a:t>
              </a:r>
              <a:br>
                <a:rPr kumimoji="0" lang="en-US" sz="1800" b="0" i="0" u="none" strike="noStrike" kern="1200" cap="none" spc="0" normalizeH="0" baseline="0" noProof="0" dirty="0">
                  <a:ln>
                    <a:noFill/>
                  </a:ln>
                  <a:solidFill>
                    <a:srgbClr val="232F3E"/>
                  </a:solidFill>
                  <a:effectLst/>
                  <a:uLnTx/>
                  <a:uFillTx/>
                  <a:latin typeface="Amazon Ember Light"/>
                  <a:ea typeface="+mn-ea"/>
                  <a:cs typeface="+mn-cs"/>
                </a:rPr>
              </a:b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results</a:t>
              </a:r>
            </a:p>
          </p:txBody>
        </p:sp>
        <p:grpSp>
          <p:nvGrpSpPr>
            <p:cNvPr id="55" name="Group 54">
              <a:extLst>
                <a:ext uri="{FF2B5EF4-FFF2-40B4-BE49-F238E27FC236}">
                  <a16:creationId xmlns:a16="http://schemas.microsoft.com/office/drawing/2014/main" id="{BE1A24D8-3EB2-25EC-E20D-27C653B4DEFA}"/>
                </a:ext>
              </a:extLst>
            </p:cNvPr>
            <p:cNvGrpSpPr/>
            <p:nvPr/>
          </p:nvGrpSpPr>
          <p:grpSpPr>
            <a:xfrm>
              <a:off x="10758406" y="2498441"/>
              <a:ext cx="1144940" cy="1144940"/>
              <a:chOff x="10073336" y="2405745"/>
              <a:chExt cx="1798928" cy="1798928"/>
            </a:xfrm>
            <a:solidFill>
              <a:schemeClr val="accent6">
                <a:lumMod val="60000"/>
                <a:lumOff val="40000"/>
              </a:schemeClr>
            </a:solidFill>
          </p:grpSpPr>
          <p:sp>
            <p:nvSpPr>
              <p:cNvPr id="56" name="Freeform: Shape 55">
                <a:extLst>
                  <a:ext uri="{FF2B5EF4-FFF2-40B4-BE49-F238E27FC236}">
                    <a16:creationId xmlns:a16="http://schemas.microsoft.com/office/drawing/2014/main" id="{DA0E29DB-6FAE-E346-6984-97F45D41638B}"/>
                  </a:ext>
                </a:extLst>
              </p:cNvPr>
              <p:cNvSpPr/>
              <p:nvPr/>
            </p:nvSpPr>
            <p:spPr>
              <a:xfrm>
                <a:off x="10073336" y="2405745"/>
                <a:ext cx="1798928" cy="1798928"/>
              </a:xfrm>
              <a:custGeom>
                <a:avLst/>
                <a:gdLst>
                  <a:gd name="connsiteX0" fmla="*/ 899464 w 1798928"/>
                  <a:gd name="connsiteY0" fmla="*/ 1798929 h 1798928"/>
                  <a:gd name="connsiteX1" fmla="*/ 0 w 1798928"/>
                  <a:gd name="connsiteY1" fmla="*/ 899464 h 1798928"/>
                  <a:gd name="connsiteX2" fmla="*/ 899464 w 1798928"/>
                  <a:gd name="connsiteY2" fmla="*/ 0 h 1798928"/>
                  <a:gd name="connsiteX3" fmla="*/ 1798928 w 1798928"/>
                  <a:gd name="connsiteY3" fmla="*/ 899464 h 1798928"/>
                  <a:gd name="connsiteX4" fmla="*/ 899464 w 1798928"/>
                  <a:gd name="connsiteY4" fmla="*/ 1798929 h 1798928"/>
                  <a:gd name="connsiteX5" fmla="*/ 899464 w 1798928"/>
                  <a:gd name="connsiteY5" fmla="*/ 60342 h 1798928"/>
                  <a:gd name="connsiteX6" fmla="*/ 60342 w 1798928"/>
                  <a:gd name="connsiteY6" fmla="*/ 899464 h 1798928"/>
                  <a:gd name="connsiteX7" fmla="*/ 899464 w 1798928"/>
                  <a:gd name="connsiteY7" fmla="*/ 1738587 h 1798928"/>
                  <a:gd name="connsiteX8" fmla="*/ 1738586 w 1798928"/>
                  <a:gd name="connsiteY8" fmla="*/ 899464 h 1798928"/>
                  <a:gd name="connsiteX9" fmla="*/ 899464 w 1798928"/>
                  <a:gd name="connsiteY9" fmla="*/ 60342 h 17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98928" h="1798928">
                    <a:moveTo>
                      <a:pt x="899464" y="1798929"/>
                    </a:moveTo>
                    <a:cubicBezTo>
                      <a:pt x="403506" y="1798929"/>
                      <a:pt x="0" y="1395423"/>
                      <a:pt x="0" y="899464"/>
                    </a:cubicBezTo>
                    <a:cubicBezTo>
                      <a:pt x="0" y="403506"/>
                      <a:pt x="403506" y="0"/>
                      <a:pt x="899464" y="0"/>
                    </a:cubicBezTo>
                    <a:cubicBezTo>
                      <a:pt x="1395422" y="0"/>
                      <a:pt x="1798928" y="403506"/>
                      <a:pt x="1798928" y="899464"/>
                    </a:cubicBezTo>
                    <a:cubicBezTo>
                      <a:pt x="1798928" y="1395423"/>
                      <a:pt x="1395422" y="1798929"/>
                      <a:pt x="899464" y="1798929"/>
                    </a:cubicBezTo>
                    <a:close/>
                    <a:moveTo>
                      <a:pt x="899464" y="60342"/>
                    </a:moveTo>
                    <a:cubicBezTo>
                      <a:pt x="436773" y="60342"/>
                      <a:pt x="60342" y="436773"/>
                      <a:pt x="60342" y="899464"/>
                    </a:cubicBezTo>
                    <a:cubicBezTo>
                      <a:pt x="60342" y="1362156"/>
                      <a:pt x="436773" y="1738587"/>
                      <a:pt x="899464" y="1738587"/>
                    </a:cubicBezTo>
                    <a:cubicBezTo>
                      <a:pt x="1362156" y="1738587"/>
                      <a:pt x="1738586" y="1362156"/>
                      <a:pt x="1738586" y="899464"/>
                    </a:cubicBezTo>
                    <a:cubicBezTo>
                      <a:pt x="1738586" y="436773"/>
                      <a:pt x="1362156" y="60342"/>
                      <a:pt x="899464" y="60342"/>
                    </a:cubicBezTo>
                    <a:close/>
                  </a:path>
                </a:pathLst>
              </a:custGeom>
              <a:solidFill>
                <a:srgbClr val="0F65F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57" name="Freeform: Shape 56">
                <a:extLst>
                  <a:ext uri="{FF2B5EF4-FFF2-40B4-BE49-F238E27FC236}">
                    <a16:creationId xmlns:a16="http://schemas.microsoft.com/office/drawing/2014/main" id="{32C86988-2CCD-5AB3-0128-793CC1974BF2}"/>
                  </a:ext>
                </a:extLst>
              </p:cNvPr>
              <p:cNvSpPr/>
              <p:nvPr/>
            </p:nvSpPr>
            <p:spPr>
              <a:xfrm>
                <a:off x="10220200" y="2552608"/>
                <a:ext cx="1505201" cy="1505201"/>
              </a:xfrm>
              <a:custGeom>
                <a:avLst/>
                <a:gdLst>
                  <a:gd name="connsiteX0" fmla="*/ 752600 w 1505201"/>
                  <a:gd name="connsiteY0" fmla="*/ 1505201 h 1505201"/>
                  <a:gd name="connsiteX1" fmla="*/ 0 w 1505201"/>
                  <a:gd name="connsiteY1" fmla="*/ 752601 h 1505201"/>
                  <a:gd name="connsiteX2" fmla="*/ 752600 w 1505201"/>
                  <a:gd name="connsiteY2" fmla="*/ 0 h 1505201"/>
                  <a:gd name="connsiteX3" fmla="*/ 1505201 w 1505201"/>
                  <a:gd name="connsiteY3" fmla="*/ 752601 h 1505201"/>
                  <a:gd name="connsiteX4" fmla="*/ 752600 w 1505201"/>
                  <a:gd name="connsiteY4" fmla="*/ 1505201 h 1505201"/>
                  <a:gd name="connsiteX5" fmla="*/ 752600 w 1505201"/>
                  <a:gd name="connsiteY5" fmla="*/ 60342 h 1505201"/>
                  <a:gd name="connsiteX6" fmla="*/ 60342 w 1505201"/>
                  <a:gd name="connsiteY6" fmla="*/ 752601 h 1505201"/>
                  <a:gd name="connsiteX7" fmla="*/ 752600 w 1505201"/>
                  <a:gd name="connsiteY7" fmla="*/ 1444859 h 1505201"/>
                  <a:gd name="connsiteX8" fmla="*/ 1444859 w 1505201"/>
                  <a:gd name="connsiteY8" fmla="*/ 752601 h 1505201"/>
                  <a:gd name="connsiteX9" fmla="*/ 752600 w 1505201"/>
                  <a:gd name="connsiteY9" fmla="*/ 60342 h 150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5201" h="1505201">
                    <a:moveTo>
                      <a:pt x="752600" y="1505201"/>
                    </a:moveTo>
                    <a:cubicBezTo>
                      <a:pt x="337610" y="1505201"/>
                      <a:pt x="0" y="1167591"/>
                      <a:pt x="0" y="752601"/>
                    </a:cubicBezTo>
                    <a:cubicBezTo>
                      <a:pt x="0" y="337610"/>
                      <a:pt x="337639" y="0"/>
                      <a:pt x="752600" y="0"/>
                    </a:cubicBezTo>
                    <a:cubicBezTo>
                      <a:pt x="1167562" y="0"/>
                      <a:pt x="1505201" y="337610"/>
                      <a:pt x="1505201" y="752601"/>
                    </a:cubicBezTo>
                    <a:cubicBezTo>
                      <a:pt x="1505201" y="1167591"/>
                      <a:pt x="1167591" y="1505201"/>
                      <a:pt x="752600" y="1505201"/>
                    </a:cubicBezTo>
                    <a:close/>
                    <a:moveTo>
                      <a:pt x="752600" y="60342"/>
                    </a:moveTo>
                    <a:cubicBezTo>
                      <a:pt x="370876" y="60342"/>
                      <a:pt x="60342" y="370876"/>
                      <a:pt x="60342" y="752601"/>
                    </a:cubicBezTo>
                    <a:cubicBezTo>
                      <a:pt x="60342" y="1134325"/>
                      <a:pt x="370876" y="1444859"/>
                      <a:pt x="752600" y="1444859"/>
                    </a:cubicBezTo>
                    <a:cubicBezTo>
                      <a:pt x="1134325" y="1444859"/>
                      <a:pt x="1444859" y="1134325"/>
                      <a:pt x="1444859" y="752601"/>
                    </a:cubicBezTo>
                    <a:cubicBezTo>
                      <a:pt x="1444859" y="370876"/>
                      <a:pt x="1134325" y="60342"/>
                      <a:pt x="752600" y="60342"/>
                    </a:cubicBezTo>
                    <a:close/>
                  </a:path>
                </a:pathLst>
              </a:custGeom>
              <a:solidFill>
                <a:srgbClr val="0F65F9"/>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grpSp>
          <p:nvGrpSpPr>
            <p:cNvPr id="216" name="Group 215">
              <a:extLst>
                <a:ext uri="{FF2B5EF4-FFF2-40B4-BE49-F238E27FC236}">
                  <a16:creationId xmlns:a16="http://schemas.microsoft.com/office/drawing/2014/main" id="{C8D059F2-AA0A-2CDB-D36D-7E9281DDDEFE}"/>
                </a:ext>
              </a:extLst>
            </p:cNvPr>
            <p:cNvGrpSpPr/>
            <p:nvPr/>
          </p:nvGrpSpPr>
          <p:grpSpPr>
            <a:xfrm>
              <a:off x="11056575" y="2875771"/>
              <a:ext cx="548603" cy="390281"/>
              <a:chOff x="11056575" y="2875771"/>
              <a:chExt cx="548603" cy="390281"/>
            </a:xfrm>
          </p:grpSpPr>
          <p:sp>
            <p:nvSpPr>
              <p:cNvPr id="189" name="Freeform: Shape 188">
                <a:extLst>
                  <a:ext uri="{FF2B5EF4-FFF2-40B4-BE49-F238E27FC236}">
                    <a16:creationId xmlns:a16="http://schemas.microsoft.com/office/drawing/2014/main" id="{B240D392-BCE6-AF75-A6E8-D1AFBD2A48CD}"/>
                  </a:ext>
                </a:extLst>
              </p:cNvPr>
              <p:cNvSpPr/>
              <p:nvPr/>
            </p:nvSpPr>
            <p:spPr>
              <a:xfrm>
                <a:off x="11187651" y="3258689"/>
                <a:ext cx="417527" cy="7363"/>
              </a:xfrm>
              <a:custGeom>
                <a:avLst/>
                <a:gdLst>
                  <a:gd name="connsiteX0" fmla="*/ 0 w 442848"/>
                  <a:gd name="connsiteY0" fmla="*/ 0 h 7810"/>
                  <a:gd name="connsiteX1" fmla="*/ 442848 w 442848"/>
                  <a:gd name="connsiteY1" fmla="*/ 0 h 7810"/>
                </a:gdLst>
                <a:ahLst/>
                <a:cxnLst>
                  <a:cxn ang="0">
                    <a:pos x="connsiteX0" y="connsiteY0"/>
                  </a:cxn>
                  <a:cxn ang="0">
                    <a:pos x="connsiteX1" y="connsiteY1"/>
                  </a:cxn>
                </a:cxnLst>
                <a:rect l="l" t="t" r="r" b="b"/>
                <a:pathLst>
                  <a:path w="442848" h="7810">
                    <a:moveTo>
                      <a:pt x="0" y="0"/>
                    </a:moveTo>
                    <a:lnTo>
                      <a:pt x="442848" y="0"/>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90" name="Freeform: Shape 189">
                <a:extLst>
                  <a:ext uri="{FF2B5EF4-FFF2-40B4-BE49-F238E27FC236}">
                    <a16:creationId xmlns:a16="http://schemas.microsoft.com/office/drawing/2014/main" id="{49FF5D98-0E2A-F475-FA15-91AEF5EC859C}"/>
                  </a:ext>
                </a:extLst>
              </p:cNvPr>
              <p:cNvSpPr/>
              <p:nvPr/>
            </p:nvSpPr>
            <p:spPr>
              <a:xfrm>
                <a:off x="11056575" y="2875771"/>
                <a:ext cx="104565" cy="382917"/>
              </a:xfrm>
              <a:custGeom>
                <a:avLst/>
                <a:gdLst>
                  <a:gd name="connsiteX0" fmla="*/ 0 w 110907"/>
                  <a:gd name="connsiteY0" fmla="*/ 406140 h 406139"/>
                  <a:gd name="connsiteX1" fmla="*/ 110907 w 110907"/>
                  <a:gd name="connsiteY1" fmla="*/ 406140 h 406139"/>
                  <a:gd name="connsiteX2" fmla="*/ 110907 w 110907"/>
                  <a:gd name="connsiteY2" fmla="*/ 0 h 406139"/>
                </a:gdLst>
                <a:ahLst/>
                <a:cxnLst>
                  <a:cxn ang="0">
                    <a:pos x="connsiteX0" y="connsiteY0"/>
                  </a:cxn>
                  <a:cxn ang="0">
                    <a:pos x="connsiteX1" y="connsiteY1"/>
                  </a:cxn>
                  <a:cxn ang="0">
                    <a:pos x="connsiteX2" y="connsiteY2"/>
                  </a:cxn>
                </a:cxnLst>
                <a:rect l="l" t="t" r="r" b="b"/>
                <a:pathLst>
                  <a:path w="110907" h="406139">
                    <a:moveTo>
                      <a:pt x="0" y="406140"/>
                    </a:moveTo>
                    <a:lnTo>
                      <a:pt x="110907" y="406140"/>
                    </a:lnTo>
                    <a:lnTo>
                      <a:pt x="110907" y="0"/>
                    </a:ln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91" name="Freeform: Shape 190">
                <a:extLst>
                  <a:ext uri="{FF2B5EF4-FFF2-40B4-BE49-F238E27FC236}">
                    <a16:creationId xmlns:a16="http://schemas.microsoft.com/office/drawing/2014/main" id="{F0ECDB90-EB3A-6A90-846D-79AFF5768D24}"/>
                  </a:ext>
                </a:extLst>
              </p:cNvPr>
              <p:cNvSpPr/>
              <p:nvPr/>
            </p:nvSpPr>
            <p:spPr>
              <a:xfrm>
                <a:off x="11056575" y="3019365"/>
                <a:ext cx="104565" cy="7363"/>
              </a:xfrm>
              <a:custGeom>
                <a:avLst/>
                <a:gdLst>
                  <a:gd name="connsiteX0" fmla="*/ 110907 w 110907"/>
                  <a:gd name="connsiteY0" fmla="*/ 0 h 7810"/>
                  <a:gd name="connsiteX1" fmla="*/ 0 w 110907"/>
                  <a:gd name="connsiteY1" fmla="*/ 0 h 7810"/>
                </a:gdLst>
                <a:ahLst/>
                <a:cxnLst>
                  <a:cxn ang="0">
                    <a:pos x="connsiteX0" y="connsiteY0"/>
                  </a:cxn>
                  <a:cxn ang="0">
                    <a:pos x="connsiteX1" y="connsiteY1"/>
                  </a:cxn>
                </a:cxnLst>
                <a:rect l="l" t="t" r="r" b="b"/>
                <a:pathLst>
                  <a:path w="110907" h="7810">
                    <a:moveTo>
                      <a:pt x="110907" y="0"/>
                    </a:moveTo>
                    <a:lnTo>
                      <a:pt x="0" y="0"/>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92" name="Freeform: Shape 191">
                <a:extLst>
                  <a:ext uri="{FF2B5EF4-FFF2-40B4-BE49-F238E27FC236}">
                    <a16:creationId xmlns:a16="http://schemas.microsoft.com/office/drawing/2014/main" id="{D8B2B17A-A9B4-7DE9-4D4B-E33B62F5EF9E}"/>
                  </a:ext>
                </a:extLst>
              </p:cNvPr>
              <p:cNvSpPr/>
              <p:nvPr/>
            </p:nvSpPr>
            <p:spPr>
              <a:xfrm>
                <a:off x="11056575" y="2944991"/>
                <a:ext cx="104565" cy="7363"/>
              </a:xfrm>
              <a:custGeom>
                <a:avLst/>
                <a:gdLst>
                  <a:gd name="connsiteX0" fmla="*/ 110907 w 110907"/>
                  <a:gd name="connsiteY0" fmla="*/ 0 h 7810"/>
                  <a:gd name="connsiteX1" fmla="*/ 0 w 110907"/>
                  <a:gd name="connsiteY1" fmla="*/ 0 h 7810"/>
                </a:gdLst>
                <a:ahLst/>
                <a:cxnLst>
                  <a:cxn ang="0">
                    <a:pos x="connsiteX0" y="connsiteY0"/>
                  </a:cxn>
                  <a:cxn ang="0">
                    <a:pos x="connsiteX1" y="connsiteY1"/>
                  </a:cxn>
                </a:cxnLst>
                <a:rect l="l" t="t" r="r" b="b"/>
                <a:pathLst>
                  <a:path w="110907" h="7810">
                    <a:moveTo>
                      <a:pt x="110907" y="0"/>
                    </a:moveTo>
                    <a:lnTo>
                      <a:pt x="0" y="0"/>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93" name="Freeform: Shape 192">
                <a:extLst>
                  <a:ext uri="{FF2B5EF4-FFF2-40B4-BE49-F238E27FC236}">
                    <a16:creationId xmlns:a16="http://schemas.microsoft.com/office/drawing/2014/main" id="{6179176C-39A3-03E3-4F38-32D2A666E864}"/>
                  </a:ext>
                </a:extLst>
              </p:cNvPr>
              <p:cNvSpPr/>
              <p:nvPr/>
            </p:nvSpPr>
            <p:spPr>
              <a:xfrm>
                <a:off x="11056575" y="3094475"/>
                <a:ext cx="104565" cy="7363"/>
              </a:xfrm>
              <a:custGeom>
                <a:avLst/>
                <a:gdLst>
                  <a:gd name="connsiteX0" fmla="*/ 110907 w 110907"/>
                  <a:gd name="connsiteY0" fmla="*/ 0 h 7810"/>
                  <a:gd name="connsiteX1" fmla="*/ 0 w 110907"/>
                  <a:gd name="connsiteY1" fmla="*/ 0 h 7810"/>
                </a:gdLst>
                <a:ahLst/>
                <a:cxnLst>
                  <a:cxn ang="0">
                    <a:pos x="connsiteX0" y="connsiteY0"/>
                  </a:cxn>
                  <a:cxn ang="0">
                    <a:pos x="connsiteX1" y="connsiteY1"/>
                  </a:cxn>
                </a:cxnLst>
                <a:rect l="l" t="t" r="r" b="b"/>
                <a:pathLst>
                  <a:path w="110907" h="7810">
                    <a:moveTo>
                      <a:pt x="110907" y="0"/>
                    </a:moveTo>
                    <a:lnTo>
                      <a:pt x="0" y="0"/>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94" name="Freeform: Shape 193">
                <a:extLst>
                  <a:ext uri="{FF2B5EF4-FFF2-40B4-BE49-F238E27FC236}">
                    <a16:creationId xmlns:a16="http://schemas.microsoft.com/office/drawing/2014/main" id="{35DF8F64-BA3E-DCF7-95F3-F9CAFECB1F57}"/>
                  </a:ext>
                </a:extLst>
              </p:cNvPr>
              <p:cNvSpPr/>
              <p:nvPr/>
            </p:nvSpPr>
            <p:spPr>
              <a:xfrm>
                <a:off x="11056575" y="3176951"/>
                <a:ext cx="104565" cy="7363"/>
              </a:xfrm>
              <a:custGeom>
                <a:avLst/>
                <a:gdLst>
                  <a:gd name="connsiteX0" fmla="*/ 110907 w 110907"/>
                  <a:gd name="connsiteY0" fmla="*/ 0 h 7810"/>
                  <a:gd name="connsiteX1" fmla="*/ 0 w 110907"/>
                  <a:gd name="connsiteY1" fmla="*/ 0 h 7810"/>
                </a:gdLst>
                <a:ahLst/>
                <a:cxnLst>
                  <a:cxn ang="0">
                    <a:pos x="connsiteX0" y="connsiteY0"/>
                  </a:cxn>
                  <a:cxn ang="0">
                    <a:pos x="connsiteX1" y="connsiteY1"/>
                  </a:cxn>
                </a:cxnLst>
                <a:rect l="l" t="t" r="r" b="b"/>
                <a:pathLst>
                  <a:path w="110907" h="7810">
                    <a:moveTo>
                      <a:pt x="110907" y="0"/>
                    </a:moveTo>
                    <a:lnTo>
                      <a:pt x="0" y="0"/>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95" name="Freeform: Shape 194">
                <a:extLst>
                  <a:ext uri="{FF2B5EF4-FFF2-40B4-BE49-F238E27FC236}">
                    <a16:creationId xmlns:a16="http://schemas.microsoft.com/office/drawing/2014/main" id="{EEB4BA05-0B93-4747-2E3F-B42162B382DF}"/>
                  </a:ext>
                </a:extLst>
              </p:cNvPr>
              <p:cNvSpPr/>
              <p:nvPr/>
            </p:nvSpPr>
            <p:spPr>
              <a:xfrm>
                <a:off x="11056575" y="2875771"/>
                <a:ext cx="548603" cy="356407"/>
              </a:xfrm>
              <a:custGeom>
                <a:avLst/>
                <a:gdLst>
                  <a:gd name="connsiteX0" fmla="*/ 0 w 581873"/>
                  <a:gd name="connsiteY0" fmla="*/ 378022 h 378022"/>
                  <a:gd name="connsiteX1" fmla="*/ 0 w 581873"/>
                  <a:gd name="connsiteY1" fmla="*/ 0 h 378022"/>
                  <a:gd name="connsiteX2" fmla="*/ 581873 w 581873"/>
                  <a:gd name="connsiteY2" fmla="*/ 0 h 378022"/>
                </a:gdLst>
                <a:ahLst/>
                <a:cxnLst>
                  <a:cxn ang="0">
                    <a:pos x="connsiteX0" y="connsiteY0"/>
                  </a:cxn>
                  <a:cxn ang="0">
                    <a:pos x="connsiteX1" y="connsiteY1"/>
                  </a:cxn>
                  <a:cxn ang="0">
                    <a:pos x="connsiteX2" y="connsiteY2"/>
                  </a:cxn>
                </a:cxnLst>
                <a:rect l="l" t="t" r="r" b="b"/>
                <a:pathLst>
                  <a:path w="581873" h="378022">
                    <a:moveTo>
                      <a:pt x="0" y="378022"/>
                    </a:moveTo>
                    <a:lnTo>
                      <a:pt x="0" y="0"/>
                    </a:lnTo>
                    <a:lnTo>
                      <a:pt x="581873" y="0"/>
                    </a:lnTo>
                  </a:path>
                </a:pathLst>
              </a:custGeom>
              <a:noFill/>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96" name="Freeform: Shape 195">
                <a:extLst>
                  <a:ext uri="{FF2B5EF4-FFF2-40B4-BE49-F238E27FC236}">
                    <a16:creationId xmlns:a16="http://schemas.microsoft.com/office/drawing/2014/main" id="{3DF658C1-6DFF-1BBF-B58B-1735F7AC7CA0}"/>
                  </a:ext>
                </a:extLst>
              </p:cNvPr>
              <p:cNvSpPr/>
              <p:nvPr/>
            </p:nvSpPr>
            <p:spPr>
              <a:xfrm>
                <a:off x="11187651" y="2910381"/>
                <a:ext cx="417527" cy="7363"/>
              </a:xfrm>
              <a:custGeom>
                <a:avLst/>
                <a:gdLst>
                  <a:gd name="connsiteX0" fmla="*/ 442848 w 442848"/>
                  <a:gd name="connsiteY0" fmla="*/ 0 h 7810"/>
                  <a:gd name="connsiteX1" fmla="*/ 0 w 442848"/>
                  <a:gd name="connsiteY1" fmla="*/ 0 h 7810"/>
                </a:gdLst>
                <a:ahLst/>
                <a:cxnLst>
                  <a:cxn ang="0">
                    <a:pos x="connsiteX0" y="connsiteY0"/>
                  </a:cxn>
                  <a:cxn ang="0">
                    <a:pos x="connsiteX1" y="connsiteY1"/>
                  </a:cxn>
                </a:cxnLst>
                <a:rect l="l" t="t" r="r" b="b"/>
                <a:pathLst>
                  <a:path w="442848" h="7810">
                    <a:moveTo>
                      <a:pt x="442848" y="0"/>
                    </a:moveTo>
                    <a:lnTo>
                      <a:pt x="0" y="0"/>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97" name="Freeform: Shape 196">
                <a:extLst>
                  <a:ext uri="{FF2B5EF4-FFF2-40B4-BE49-F238E27FC236}">
                    <a16:creationId xmlns:a16="http://schemas.microsoft.com/office/drawing/2014/main" id="{DBD18F25-59F1-2A42-17C9-ACC079801027}"/>
                  </a:ext>
                </a:extLst>
              </p:cNvPr>
              <p:cNvSpPr/>
              <p:nvPr/>
            </p:nvSpPr>
            <p:spPr>
              <a:xfrm>
                <a:off x="11083084" y="2910381"/>
                <a:ext cx="17672" cy="7363"/>
              </a:xfrm>
              <a:custGeom>
                <a:avLst/>
                <a:gdLst>
                  <a:gd name="connsiteX0" fmla="*/ 18745 w 18744"/>
                  <a:gd name="connsiteY0" fmla="*/ 0 h 7810"/>
                  <a:gd name="connsiteX1" fmla="*/ 0 w 18744"/>
                  <a:gd name="connsiteY1" fmla="*/ 0 h 7810"/>
                </a:gdLst>
                <a:ahLst/>
                <a:cxnLst>
                  <a:cxn ang="0">
                    <a:pos x="connsiteX0" y="connsiteY0"/>
                  </a:cxn>
                  <a:cxn ang="0">
                    <a:pos x="connsiteX1" y="connsiteY1"/>
                  </a:cxn>
                </a:cxnLst>
                <a:rect l="l" t="t" r="r" b="b"/>
                <a:pathLst>
                  <a:path w="18744" h="7810">
                    <a:moveTo>
                      <a:pt x="18745" y="0"/>
                    </a:moveTo>
                    <a:lnTo>
                      <a:pt x="0" y="0"/>
                    </a:lnTo>
                  </a:path>
                </a:pathLst>
              </a:custGeom>
              <a:ln w="15875" cap="flat">
                <a:solidFill>
                  <a:schemeClr val="tx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215" name="Group 214">
                <a:extLst>
                  <a:ext uri="{FF2B5EF4-FFF2-40B4-BE49-F238E27FC236}">
                    <a16:creationId xmlns:a16="http://schemas.microsoft.com/office/drawing/2014/main" id="{4979ED8B-1636-90F1-B968-1BEE397910A6}"/>
                  </a:ext>
                </a:extLst>
              </p:cNvPr>
              <p:cNvGrpSpPr/>
              <p:nvPr/>
            </p:nvGrpSpPr>
            <p:grpSpPr>
              <a:xfrm>
                <a:off x="11209006" y="2961191"/>
                <a:ext cx="378499" cy="236377"/>
                <a:chOff x="11209006" y="2961191"/>
                <a:chExt cx="378499" cy="236377"/>
              </a:xfrm>
            </p:grpSpPr>
            <p:sp>
              <p:nvSpPr>
                <p:cNvPr id="198" name="Freeform: Shape 197">
                  <a:extLst>
                    <a:ext uri="{FF2B5EF4-FFF2-40B4-BE49-F238E27FC236}">
                      <a16:creationId xmlns:a16="http://schemas.microsoft.com/office/drawing/2014/main" id="{A13B6CFF-2C76-F013-E1C4-858205F4B8B1}"/>
                    </a:ext>
                  </a:extLst>
                </p:cNvPr>
                <p:cNvSpPr/>
                <p:nvPr/>
              </p:nvSpPr>
              <p:spPr>
                <a:xfrm>
                  <a:off x="11259079" y="3012737"/>
                  <a:ext cx="120030" cy="129602"/>
                </a:xfrm>
                <a:custGeom>
                  <a:avLst/>
                  <a:gdLst>
                    <a:gd name="connsiteX0" fmla="*/ 0 w 127309"/>
                    <a:gd name="connsiteY0" fmla="*/ 50767 h 137462"/>
                    <a:gd name="connsiteX1" fmla="*/ 0 w 127309"/>
                    <a:gd name="connsiteY1" fmla="*/ 32804 h 137462"/>
                    <a:gd name="connsiteX2" fmla="*/ 64045 w 127309"/>
                    <a:gd name="connsiteY2" fmla="*/ 0 h 137462"/>
                    <a:gd name="connsiteX3" fmla="*/ 127309 w 127309"/>
                    <a:gd name="connsiteY3" fmla="*/ 32804 h 137462"/>
                    <a:gd name="connsiteX4" fmla="*/ 127309 w 127309"/>
                    <a:gd name="connsiteY4" fmla="*/ 103097 h 137462"/>
                    <a:gd name="connsiteX5" fmla="*/ 64045 w 127309"/>
                    <a:gd name="connsiteY5" fmla="*/ 137462 h 137462"/>
                    <a:gd name="connsiteX6" fmla="*/ 0 w 127309"/>
                    <a:gd name="connsiteY6" fmla="*/ 103878 h 137462"/>
                    <a:gd name="connsiteX7" fmla="*/ 0 w 127309"/>
                    <a:gd name="connsiteY7" fmla="*/ 91382 h 13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309" h="137462">
                      <a:moveTo>
                        <a:pt x="0" y="50767"/>
                      </a:moveTo>
                      <a:lnTo>
                        <a:pt x="0" y="32804"/>
                      </a:lnTo>
                      <a:lnTo>
                        <a:pt x="64045" y="0"/>
                      </a:lnTo>
                      <a:lnTo>
                        <a:pt x="127309" y="32804"/>
                      </a:lnTo>
                      <a:lnTo>
                        <a:pt x="127309" y="103097"/>
                      </a:lnTo>
                      <a:lnTo>
                        <a:pt x="64045" y="137462"/>
                      </a:lnTo>
                      <a:lnTo>
                        <a:pt x="0" y="103878"/>
                      </a:lnTo>
                      <a:lnTo>
                        <a:pt x="0" y="91382"/>
                      </a:lnTo>
                    </a:path>
                  </a:pathLst>
                </a:custGeom>
                <a:noFill/>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199" name="Freeform: Shape 198">
                  <a:extLst>
                    <a:ext uri="{FF2B5EF4-FFF2-40B4-BE49-F238E27FC236}">
                      <a16:creationId xmlns:a16="http://schemas.microsoft.com/office/drawing/2014/main" id="{1F3398F2-EE31-F097-ED38-BD6EFF5CCD14}"/>
                    </a:ext>
                  </a:extLst>
                </p:cNvPr>
                <p:cNvSpPr/>
                <p:nvPr/>
              </p:nvSpPr>
              <p:spPr>
                <a:xfrm>
                  <a:off x="11259079" y="3070175"/>
                  <a:ext cx="7363" cy="19145"/>
                </a:xfrm>
                <a:custGeom>
                  <a:avLst/>
                  <a:gdLst>
                    <a:gd name="connsiteX0" fmla="*/ 0 w 7810"/>
                    <a:gd name="connsiteY0" fmla="*/ 20307 h 20306"/>
                    <a:gd name="connsiteX1" fmla="*/ 0 w 7810"/>
                    <a:gd name="connsiteY1" fmla="*/ 0 h 20306"/>
                  </a:gdLst>
                  <a:ahLst/>
                  <a:cxnLst>
                    <a:cxn ang="0">
                      <a:pos x="connsiteX0" y="connsiteY0"/>
                    </a:cxn>
                    <a:cxn ang="0">
                      <a:pos x="connsiteX1" y="connsiteY1"/>
                    </a:cxn>
                  </a:cxnLst>
                  <a:rect l="l" t="t" r="r" b="b"/>
                  <a:pathLst>
                    <a:path w="7810" h="20306">
                      <a:moveTo>
                        <a:pt x="0" y="20307"/>
                      </a:moveTo>
                      <a:lnTo>
                        <a:pt x="0" y="0"/>
                      </a:lnTo>
                    </a:path>
                  </a:pathLst>
                </a:custGeom>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0" name="Freeform: Shape 199">
                  <a:extLst>
                    <a:ext uri="{FF2B5EF4-FFF2-40B4-BE49-F238E27FC236}">
                      <a16:creationId xmlns:a16="http://schemas.microsoft.com/office/drawing/2014/main" id="{8B401281-96DD-9974-2B92-7F58EFB4D5FB}"/>
                    </a:ext>
                  </a:extLst>
                </p:cNvPr>
                <p:cNvSpPr/>
                <p:nvPr/>
              </p:nvSpPr>
              <p:spPr>
                <a:xfrm>
                  <a:off x="11303262" y="3165168"/>
                  <a:ext cx="32400" cy="32400"/>
                </a:xfrm>
                <a:custGeom>
                  <a:avLst/>
                  <a:gdLst>
                    <a:gd name="connsiteX0" fmla="*/ 34366 w 34365"/>
                    <a:gd name="connsiteY0" fmla="*/ 17183 h 34365"/>
                    <a:gd name="connsiteX1" fmla="*/ 17183 w 34365"/>
                    <a:gd name="connsiteY1" fmla="*/ 34366 h 34365"/>
                    <a:gd name="connsiteX2" fmla="*/ 0 w 34365"/>
                    <a:gd name="connsiteY2" fmla="*/ 17183 h 34365"/>
                    <a:gd name="connsiteX3" fmla="*/ 17183 w 34365"/>
                    <a:gd name="connsiteY3" fmla="*/ 0 h 34365"/>
                    <a:gd name="connsiteX4" fmla="*/ 34366 w 34365"/>
                    <a:gd name="connsiteY4" fmla="*/ 17183 h 34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65" h="34365">
                      <a:moveTo>
                        <a:pt x="34366" y="17183"/>
                      </a:moveTo>
                      <a:cubicBezTo>
                        <a:pt x="34366" y="26673"/>
                        <a:pt x="26673" y="34366"/>
                        <a:pt x="17183" y="34366"/>
                      </a:cubicBezTo>
                      <a:cubicBezTo>
                        <a:pt x="7693" y="34366"/>
                        <a:pt x="0" y="26673"/>
                        <a:pt x="0" y="17183"/>
                      </a:cubicBezTo>
                      <a:cubicBezTo>
                        <a:pt x="0" y="7693"/>
                        <a:pt x="7693" y="0"/>
                        <a:pt x="17183" y="0"/>
                      </a:cubicBezTo>
                      <a:cubicBezTo>
                        <a:pt x="26673" y="0"/>
                        <a:pt x="34366" y="7693"/>
                        <a:pt x="34366" y="17183"/>
                      </a:cubicBezTo>
                      <a:close/>
                    </a:path>
                  </a:pathLst>
                </a:custGeom>
                <a:noFill/>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1" name="Freeform: Shape 200">
                  <a:extLst>
                    <a:ext uri="{FF2B5EF4-FFF2-40B4-BE49-F238E27FC236}">
                      <a16:creationId xmlns:a16="http://schemas.microsoft.com/office/drawing/2014/main" id="{B91D0F59-7326-BD56-8BC7-1437C4F90D8B}"/>
                    </a:ext>
                  </a:extLst>
                </p:cNvPr>
                <p:cNvSpPr/>
                <p:nvPr/>
              </p:nvSpPr>
              <p:spPr>
                <a:xfrm>
                  <a:off x="11302527" y="2961191"/>
                  <a:ext cx="32400" cy="32400"/>
                </a:xfrm>
                <a:custGeom>
                  <a:avLst/>
                  <a:gdLst>
                    <a:gd name="connsiteX0" fmla="*/ 34366 w 34365"/>
                    <a:gd name="connsiteY0" fmla="*/ 17183 h 34365"/>
                    <a:gd name="connsiteX1" fmla="*/ 17183 w 34365"/>
                    <a:gd name="connsiteY1" fmla="*/ 34366 h 34365"/>
                    <a:gd name="connsiteX2" fmla="*/ 0 w 34365"/>
                    <a:gd name="connsiteY2" fmla="*/ 17183 h 34365"/>
                    <a:gd name="connsiteX3" fmla="*/ 17183 w 34365"/>
                    <a:gd name="connsiteY3" fmla="*/ 0 h 34365"/>
                    <a:gd name="connsiteX4" fmla="*/ 34366 w 34365"/>
                    <a:gd name="connsiteY4" fmla="*/ 17183 h 34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65" h="34365">
                      <a:moveTo>
                        <a:pt x="34366" y="17183"/>
                      </a:moveTo>
                      <a:cubicBezTo>
                        <a:pt x="34366" y="26673"/>
                        <a:pt x="26672" y="34366"/>
                        <a:pt x="17183" y="34366"/>
                      </a:cubicBezTo>
                      <a:cubicBezTo>
                        <a:pt x="7693" y="34366"/>
                        <a:pt x="0" y="26673"/>
                        <a:pt x="0" y="17183"/>
                      </a:cubicBezTo>
                      <a:cubicBezTo>
                        <a:pt x="0" y="7693"/>
                        <a:pt x="7693" y="0"/>
                        <a:pt x="17183" y="0"/>
                      </a:cubicBezTo>
                      <a:cubicBezTo>
                        <a:pt x="26672" y="0"/>
                        <a:pt x="34366" y="7693"/>
                        <a:pt x="34366" y="17183"/>
                      </a:cubicBezTo>
                      <a:close/>
                    </a:path>
                  </a:pathLst>
                </a:custGeom>
                <a:noFill/>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2" name="Freeform: Shape 201">
                  <a:extLst>
                    <a:ext uri="{FF2B5EF4-FFF2-40B4-BE49-F238E27FC236}">
                      <a16:creationId xmlns:a16="http://schemas.microsoft.com/office/drawing/2014/main" id="{ED144263-4367-73AB-2B70-B250B5A11D3F}"/>
                    </a:ext>
                  </a:extLst>
                </p:cNvPr>
                <p:cNvSpPr/>
                <p:nvPr/>
              </p:nvSpPr>
              <p:spPr>
                <a:xfrm>
                  <a:off x="11209006" y="3112148"/>
                  <a:ext cx="32400" cy="32400"/>
                </a:xfrm>
                <a:custGeom>
                  <a:avLst/>
                  <a:gdLst>
                    <a:gd name="connsiteX0" fmla="*/ 34365 w 34365"/>
                    <a:gd name="connsiteY0" fmla="*/ 17183 h 34365"/>
                    <a:gd name="connsiteX1" fmla="*/ 17183 w 34365"/>
                    <a:gd name="connsiteY1" fmla="*/ 34366 h 34365"/>
                    <a:gd name="connsiteX2" fmla="*/ 0 w 34365"/>
                    <a:gd name="connsiteY2" fmla="*/ 17183 h 34365"/>
                    <a:gd name="connsiteX3" fmla="*/ 17183 w 34365"/>
                    <a:gd name="connsiteY3" fmla="*/ 0 h 34365"/>
                    <a:gd name="connsiteX4" fmla="*/ 34365 w 34365"/>
                    <a:gd name="connsiteY4" fmla="*/ 17183 h 34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65" h="34365">
                      <a:moveTo>
                        <a:pt x="34365" y="17183"/>
                      </a:moveTo>
                      <a:cubicBezTo>
                        <a:pt x="34365" y="26673"/>
                        <a:pt x="26672" y="34366"/>
                        <a:pt x="17183" y="34366"/>
                      </a:cubicBezTo>
                      <a:cubicBezTo>
                        <a:pt x="7693" y="34366"/>
                        <a:pt x="0" y="26673"/>
                        <a:pt x="0" y="17183"/>
                      </a:cubicBezTo>
                      <a:cubicBezTo>
                        <a:pt x="0" y="7693"/>
                        <a:pt x="7693" y="0"/>
                        <a:pt x="17183" y="0"/>
                      </a:cubicBezTo>
                      <a:cubicBezTo>
                        <a:pt x="26672" y="0"/>
                        <a:pt x="34365" y="7693"/>
                        <a:pt x="34365" y="17183"/>
                      </a:cubicBezTo>
                      <a:close/>
                    </a:path>
                  </a:pathLst>
                </a:custGeom>
                <a:noFill/>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3" name="Freeform: Shape 202">
                  <a:extLst>
                    <a:ext uri="{FF2B5EF4-FFF2-40B4-BE49-F238E27FC236}">
                      <a16:creationId xmlns:a16="http://schemas.microsoft.com/office/drawing/2014/main" id="{32B3EF96-F793-9E70-FE76-BCD760D0B11F}"/>
                    </a:ext>
                  </a:extLst>
                </p:cNvPr>
                <p:cNvSpPr/>
                <p:nvPr/>
              </p:nvSpPr>
              <p:spPr>
                <a:xfrm>
                  <a:off x="11209006" y="3005374"/>
                  <a:ext cx="32400" cy="32400"/>
                </a:xfrm>
                <a:custGeom>
                  <a:avLst/>
                  <a:gdLst>
                    <a:gd name="connsiteX0" fmla="*/ 34365 w 34365"/>
                    <a:gd name="connsiteY0" fmla="*/ 17183 h 34365"/>
                    <a:gd name="connsiteX1" fmla="*/ 17183 w 34365"/>
                    <a:gd name="connsiteY1" fmla="*/ 34366 h 34365"/>
                    <a:gd name="connsiteX2" fmla="*/ 0 w 34365"/>
                    <a:gd name="connsiteY2" fmla="*/ 17183 h 34365"/>
                    <a:gd name="connsiteX3" fmla="*/ 17183 w 34365"/>
                    <a:gd name="connsiteY3" fmla="*/ 0 h 34365"/>
                    <a:gd name="connsiteX4" fmla="*/ 34365 w 34365"/>
                    <a:gd name="connsiteY4" fmla="*/ 17183 h 34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65" h="34365">
                      <a:moveTo>
                        <a:pt x="34365" y="17183"/>
                      </a:moveTo>
                      <a:cubicBezTo>
                        <a:pt x="34365" y="26673"/>
                        <a:pt x="26672" y="34366"/>
                        <a:pt x="17183" y="34366"/>
                      </a:cubicBezTo>
                      <a:cubicBezTo>
                        <a:pt x="7693" y="34366"/>
                        <a:pt x="0" y="26673"/>
                        <a:pt x="0" y="17183"/>
                      </a:cubicBezTo>
                      <a:cubicBezTo>
                        <a:pt x="0" y="7693"/>
                        <a:pt x="7693" y="0"/>
                        <a:pt x="17183" y="0"/>
                      </a:cubicBezTo>
                      <a:cubicBezTo>
                        <a:pt x="26672" y="0"/>
                        <a:pt x="34365" y="7693"/>
                        <a:pt x="34365" y="17183"/>
                      </a:cubicBezTo>
                      <a:close/>
                    </a:path>
                  </a:pathLst>
                </a:custGeom>
                <a:noFill/>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4" name="Freeform: Shape 203">
                  <a:extLst>
                    <a:ext uri="{FF2B5EF4-FFF2-40B4-BE49-F238E27FC236}">
                      <a16:creationId xmlns:a16="http://schemas.microsoft.com/office/drawing/2014/main" id="{01989391-DCC3-F777-52BC-312A86DD0655}"/>
                    </a:ext>
                  </a:extLst>
                </p:cNvPr>
                <p:cNvSpPr/>
                <p:nvPr/>
              </p:nvSpPr>
              <p:spPr>
                <a:xfrm>
                  <a:off x="11396782" y="3006110"/>
                  <a:ext cx="32400" cy="32400"/>
                </a:xfrm>
                <a:custGeom>
                  <a:avLst/>
                  <a:gdLst>
                    <a:gd name="connsiteX0" fmla="*/ 34365 w 34365"/>
                    <a:gd name="connsiteY0" fmla="*/ 17183 h 34365"/>
                    <a:gd name="connsiteX1" fmla="*/ 17183 w 34365"/>
                    <a:gd name="connsiteY1" fmla="*/ 34366 h 34365"/>
                    <a:gd name="connsiteX2" fmla="*/ 0 w 34365"/>
                    <a:gd name="connsiteY2" fmla="*/ 17183 h 34365"/>
                    <a:gd name="connsiteX3" fmla="*/ 17183 w 34365"/>
                    <a:gd name="connsiteY3" fmla="*/ 0 h 34365"/>
                    <a:gd name="connsiteX4" fmla="*/ 34365 w 34365"/>
                    <a:gd name="connsiteY4" fmla="*/ 17183 h 34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65" h="34365">
                      <a:moveTo>
                        <a:pt x="34365" y="17183"/>
                      </a:moveTo>
                      <a:cubicBezTo>
                        <a:pt x="34365" y="26673"/>
                        <a:pt x="26672" y="34366"/>
                        <a:pt x="17183" y="34366"/>
                      </a:cubicBezTo>
                      <a:cubicBezTo>
                        <a:pt x="7693" y="34366"/>
                        <a:pt x="0" y="26673"/>
                        <a:pt x="0" y="17183"/>
                      </a:cubicBezTo>
                      <a:cubicBezTo>
                        <a:pt x="0" y="7693"/>
                        <a:pt x="7693" y="0"/>
                        <a:pt x="17183" y="0"/>
                      </a:cubicBezTo>
                      <a:cubicBezTo>
                        <a:pt x="26672" y="0"/>
                        <a:pt x="34365" y="7693"/>
                        <a:pt x="34365" y="17183"/>
                      </a:cubicBezTo>
                      <a:close/>
                    </a:path>
                  </a:pathLst>
                </a:custGeom>
                <a:noFill/>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5" name="Freeform: Shape 204">
                  <a:extLst>
                    <a:ext uri="{FF2B5EF4-FFF2-40B4-BE49-F238E27FC236}">
                      <a16:creationId xmlns:a16="http://schemas.microsoft.com/office/drawing/2014/main" id="{299779F4-6A22-1917-AFB8-1DE006F2B72D}"/>
                    </a:ext>
                  </a:extLst>
                </p:cNvPr>
                <p:cNvSpPr/>
                <p:nvPr/>
              </p:nvSpPr>
              <p:spPr>
                <a:xfrm>
                  <a:off x="11331981" y="2979600"/>
                  <a:ext cx="64801" cy="37554"/>
                </a:xfrm>
                <a:custGeom>
                  <a:avLst/>
                  <a:gdLst>
                    <a:gd name="connsiteX0" fmla="*/ 0 w 68731"/>
                    <a:gd name="connsiteY0" fmla="*/ 0 h 39832"/>
                    <a:gd name="connsiteX1" fmla="*/ 68731 w 68731"/>
                    <a:gd name="connsiteY1" fmla="*/ 39833 h 39832"/>
                  </a:gdLst>
                  <a:ahLst/>
                  <a:cxnLst>
                    <a:cxn ang="0">
                      <a:pos x="connsiteX0" y="connsiteY0"/>
                    </a:cxn>
                    <a:cxn ang="0">
                      <a:pos x="connsiteX1" y="connsiteY1"/>
                    </a:cxn>
                  </a:cxnLst>
                  <a:rect l="l" t="t" r="r" b="b"/>
                  <a:pathLst>
                    <a:path w="68731" h="39832">
                      <a:moveTo>
                        <a:pt x="0" y="0"/>
                      </a:moveTo>
                      <a:lnTo>
                        <a:pt x="68731" y="39833"/>
                      </a:lnTo>
                    </a:path>
                  </a:pathLst>
                </a:custGeom>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6" name="Freeform: Shape 205">
                  <a:extLst>
                    <a:ext uri="{FF2B5EF4-FFF2-40B4-BE49-F238E27FC236}">
                      <a16:creationId xmlns:a16="http://schemas.microsoft.com/office/drawing/2014/main" id="{B1ED1E0B-E67D-6E36-2B70-B5A3922936BD}"/>
                    </a:ext>
                  </a:extLst>
                </p:cNvPr>
                <p:cNvSpPr/>
                <p:nvPr/>
              </p:nvSpPr>
              <p:spPr>
                <a:xfrm>
                  <a:off x="11242143" y="2981074"/>
                  <a:ext cx="61120" cy="33137"/>
                </a:xfrm>
                <a:custGeom>
                  <a:avLst/>
                  <a:gdLst>
                    <a:gd name="connsiteX0" fmla="*/ 0 w 64826"/>
                    <a:gd name="connsiteY0" fmla="*/ 35147 h 35146"/>
                    <a:gd name="connsiteX1" fmla="*/ 64826 w 64826"/>
                    <a:gd name="connsiteY1" fmla="*/ 0 h 35146"/>
                  </a:gdLst>
                  <a:ahLst/>
                  <a:cxnLst>
                    <a:cxn ang="0">
                      <a:pos x="connsiteX0" y="connsiteY0"/>
                    </a:cxn>
                    <a:cxn ang="0">
                      <a:pos x="connsiteX1" y="connsiteY1"/>
                    </a:cxn>
                  </a:cxnLst>
                  <a:rect l="l" t="t" r="r" b="b"/>
                  <a:pathLst>
                    <a:path w="64826" h="35146">
                      <a:moveTo>
                        <a:pt x="0" y="35147"/>
                      </a:moveTo>
                      <a:lnTo>
                        <a:pt x="64826" y="0"/>
                      </a:lnTo>
                    </a:path>
                  </a:pathLst>
                </a:custGeom>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7" name="Freeform: Shape 206">
                  <a:extLst>
                    <a:ext uri="{FF2B5EF4-FFF2-40B4-BE49-F238E27FC236}">
                      <a16:creationId xmlns:a16="http://schemas.microsoft.com/office/drawing/2014/main" id="{D34966DB-B73F-A0B8-9921-A6C905B1328B}"/>
                    </a:ext>
                  </a:extLst>
                </p:cNvPr>
                <p:cNvSpPr/>
                <p:nvPr/>
              </p:nvSpPr>
              <p:spPr>
                <a:xfrm>
                  <a:off x="11335662" y="3149704"/>
                  <a:ext cx="45655" cy="26509"/>
                </a:xfrm>
                <a:custGeom>
                  <a:avLst/>
                  <a:gdLst>
                    <a:gd name="connsiteX0" fmla="*/ 0 w 48424"/>
                    <a:gd name="connsiteY0" fmla="*/ 28117 h 28117"/>
                    <a:gd name="connsiteX1" fmla="*/ 48424 w 48424"/>
                    <a:gd name="connsiteY1" fmla="*/ 0 h 28117"/>
                  </a:gdLst>
                  <a:ahLst/>
                  <a:cxnLst>
                    <a:cxn ang="0">
                      <a:pos x="connsiteX0" y="connsiteY0"/>
                    </a:cxn>
                    <a:cxn ang="0">
                      <a:pos x="connsiteX1" y="connsiteY1"/>
                    </a:cxn>
                  </a:cxnLst>
                  <a:rect l="l" t="t" r="r" b="b"/>
                  <a:pathLst>
                    <a:path w="48424" h="28117">
                      <a:moveTo>
                        <a:pt x="0" y="28117"/>
                      </a:moveTo>
                      <a:lnTo>
                        <a:pt x="48424" y="0"/>
                      </a:lnTo>
                    </a:path>
                  </a:pathLst>
                </a:custGeom>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8" name="Freeform: Shape 207">
                  <a:extLst>
                    <a:ext uri="{FF2B5EF4-FFF2-40B4-BE49-F238E27FC236}">
                      <a16:creationId xmlns:a16="http://schemas.microsoft.com/office/drawing/2014/main" id="{41CBCA97-BA15-EBFF-752C-E503CA527A4F}"/>
                    </a:ext>
                  </a:extLst>
                </p:cNvPr>
                <p:cNvSpPr/>
                <p:nvPr/>
              </p:nvSpPr>
              <p:spPr>
                <a:xfrm>
                  <a:off x="11225943" y="3039248"/>
                  <a:ext cx="7363" cy="76582"/>
                </a:xfrm>
                <a:custGeom>
                  <a:avLst/>
                  <a:gdLst>
                    <a:gd name="connsiteX0" fmla="*/ 0 w 7810"/>
                    <a:gd name="connsiteY0" fmla="*/ 81228 h 81227"/>
                    <a:gd name="connsiteX1" fmla="*/ 0 w 7810"/>
                    <a:gd name="connsiteY1" fmla="*/ 0 h 81227"/>
                  </a:gdLst>
                  <a:ahLst/>
                  <a:cxnLst>
                    <a:cxn ang="0">
                      <a:pos x="connsiteX0" y="connsiteY0"/>
                    </a:cxn>
                    <a:cxn ang="0">
                      <a:pos x="connsiteX1" y="connsiteY1"/>
                    </a:cxn>
                  </a:cxnLst>
                  <a:rect l="l" t="t" r="r" b="b"/>
                  <a:pathLst>
                    <a:path w="7810" h="81227">
                      <a:moveTo>
                        <a:pt x="0" y="81228"/>
                      </a:moveTo>
                      <a:lnTo>
                        <a:pt x="0" y="0"/>
                      </a:lnTo>
                    </a:path>
                  </a:pathLst>
                </a:custGeom>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09" name="Freeform: Shape 208">
                  <a:extLst>
                    <a:ext uri="{FF2B5EF4-FFF2-40B4-BE49-F238E27FC236}">
                      <a16:creationId xmlns:a16="http://schemas.microsoft.com/office/drawing/2014/main" id="{CEB52D7B-BB59-F920-6A22-1A518C5205E3}"/>
                    </a:ext>
                  </a:extLst>
                </p:cNvPr>
                <p:cNvSpPr/>
                <p:nvPr/>
              </p:nvSpPr>
              <p:spPr>
                <a:xfrm>
                  <a:off x="11412983" y="3037775"/>
                  <a:ext cx="7363" cy="51546"/>
                </a:xfrm>
                <a:custGeom>
                  <a:avLst/>
                  <a:gdLst>
                    <a:gd name="connsiteX0" fmla="*/ 0 w 7810"/>
                    <a:gd name="connsiteY0" fmla="*/ 0 h 54672"/>
                    <a:gd name="connsiteX1" fmla="*/ 0 w 7810"/>
                    <a:gd name="connsiteY1" fmla="*/ 54673 h 54672"/>
                  </a:gdLst>
                  <a:ahLst/>
                  <a:cxnLst>
                    <a:cxn ang="0">
                      <a:pos x="connsiteX0" y="connsiteY0"/>
                    </a:cxn>
                    <a:cxn ang="0">
                      <a:pos x="connsiteX1" y="connsiteY1"/>
                    </a:cxn>
                  </a:cxnLst>
                  <a:rect l="l" t="t" r="r" b="b"/>
                  <a:pathLst>
                    <a:path w="7810" h="54672">
                      <a:moveTo>
                        <a:pt x="0" y="0"/>
                      </a:moveTo>
                      <a:lnTo>
                        <a:pt x="0" y="54673"/>
                      </a:lnTo>
                    </a:path>
                  </a:pathLst>
                </a:custGeom>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10" name="Freeform: Shape 209">
                  <a:extLst>
                    <a:ext uri="{FF2B5EF4-FFF2-40B4-BE49-F238E27FC236}">
                      <a16:creationId xmlns:a16="http://schemas.microsoft.com/office/drawing/2014/main" id="{43CB1A94-5BC9-A7AA-E51B-B371BCF3D4B6}"/>
                    </a:ext>
                  </a:extLst>
                </p:cNvPr>
                <p:cNvSpPr/>
                <p:nvPr/>
              </p:nvSpPr>
              <p:spPr>
                <a:xfrm>
                  <a:off x="11239197" y="3137922"/>
                  <a:ext cx="64801" cy="38291"/>
                </a:xfrm>
                <a:custGeom>
                  <a:avLst/>
                  <a:gdLst>
                    <a:gd name="connsiteX0" fmla="*/ 0 w 68731"/>
                    <a:gd name="connsiteY0" fmla="*/ 0 h 40613"/>
                    <a:gd name="connsiteX1" fmla="*/ 68731 w 68731"/>
                    <a:gd name="connsiteY1" fmla="*/ 40614 h 40613"/>
                  </a:gdLst>
                  <a:ahLst/>
                  <a:cxnLst>
                    <a:cxn ang="0">
                      <a:pos x="connsiteX0" y="connsiteY0"/>
                    </a:cxn>
                    <a:cxn ang="0">
                      <a:pos x="connsiteX1" y="connsiteY1"/>
                    </a:cxn>
                  </a:cxnLst>
                  <a:rect l="l" t="t" r="r" b="b"/>
                  <a:pathLst>
                    <a:path w="68731" h="40613">
                      <a:moveTo>
                        <a:pt x="0" y="0"/>
                      </a:moveTo>
                      <a:lnTo>
                        <a:pt x="68731" y="40614"/>
                      </a:lnTo>
                    </a:path>
                  </a:pathLst>
                </a:custGeom>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11" name="Freeform: Shape 210">
                  <a:extLst>
                    <a:ext uri="{FF2B5EF4-FFF2-40B4-BE49-F238E27FC236}">
                      <a16:creationId xmlns:a16="http://schemas.microsoft.com/office/drawing/2014/main" id="{6A45A726-7792-EC68-F8CB-40AA63D30BC0}"/>
                    </a:ext>
                  </a:extLst>
                </p:cNvPr>
                <p:cNvSpPr/>
                <p:nvPr/>
              </p:nvSpPr>
              <p:spPr>
                <a:xfrm>
                  <a:off x="11432129" y="3022311"/>
                  <a:ext cx="57437" cy="7363"/>
                </a:xfrm>
                <a:custGeom>
                  <a:avLst/>
                  <a:gdLst>
                    <a:gd name="connsiteX0" fmla="*/ 60921 w 60920"/>
                    <a:gd name="connsiteY0" fmla="*/ 0 h 7810"/>
                    <a:gd name="connsiteX1" fmla="*/ 0 w 60920"/>
                    <a:gd name="connsiteY1" fmla="*/ 0 h 7810"/>
                  </a:gdLst>
                  <a:ahLst/>
                  <a:cxnLst>
                    <a:cxn ang="0">
                      <a:pos x="connsiteX0" y="connsiteY0"/>
                    </a:cxn>
                    <a:cxn ang="0">
                      <a:pos x="connsiteX1" y="connsiteY1"/>
                    </a:cxn>
                  </a:cxnLst>
                  <a:rect l="l" t="t" r="r" b="b"/>
                  <a:pathLst>
                    <a:path w="60920" h="7810">
                      <a:moveTo>
                        <a:pt x="60921" y="0"/>
                      </a:moveTo>
                      <a:lnTo>
                        <a:pt x="0" y="0"/>
                      </a:lnTo>
                    </a:path>
                  </a:pathLst>
                </a:custGeom>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12" name="Freeform: Shape 211">
                  <a:extLst>
                    <a:ext uri="{FF2B5EF4-FFF2-40B4-BE49-F238E27FC236}">
                      <a16:creationId xmlns:a16="http://schemas.microsoft.com/office/drawing/2014/main" id="{F69D2785-AEAC-E530-1D23-37003A089914}"/>
                    </a:ext>
                  </a:extLst>
                </p:cNvPr>
                <p:cNvSpPr/>
                <p:nvPr/>
              </p:nvSpPr>
              <p:spPr>
                <a:xfrm>
                  <a:off x="11525649" y="3000956"/>
                  <a:ext cx="30927" cy="13991"/>
                </a:xfrm>
                <a:custGeom>
                  <a:avLst/>
                  <a:gdLst>
                    <a:gd name="connsiteX0" fmla="*/ 32804 w 32803"/>
                    <a:gd name="connsiteY0" fmla="*/ 0 h 14839"/>
                    <a:gd name="connsiteX1" fmla="*/ 0 w 32803"/>
                    <a:gd name="connsiteY1" fmla="*/ 14840 h 14839"/>
                  </a:gdLst>
                  <a:ahLst/>
                  <a:cxnLst>
                    <a:cxn ang="0">
                      <a:pos x="connsiteX0" y="connsiteY0"/>
                    </a:cxn>
                    <a:cxn ang="0">
                      <a:pos x="connsiteX1" y="connsiteY1"/>
                    </a:cxn>
                  </a:cxnLst>
                  <a:rect l="l" t="t" r="r" b="b"/>
                  <a:pathLst>
                    <a:path w="32803" h="14839">
                      <a:moveTo>
                        <a:pt x="32804" y="0"/>
                      </a:moveTo>
                      <a:lnTo>
                        <a:pt x="0" y="14840"/>
                      </a:lnTo>
                    </a:path>
                  </a:pathLst>
                </a:custGeom>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13" name="Freeform: Shape 212">
                  <a:extLst>
                    <a:ext uri="{FF2B5EF4-FFF2-40B4-BE49-F238E27FC236}">
                      <a16:creationId xmlns:a16="http://schemas.microsoft.com/office/drawing/2014/main" id="{E5B56812-6111-5D4E-1066-A09C81D8744C}"/>
                    </a:ext>
                  </a:extLst>
                </p:cNvPr>
                <p:cNvSpPr/>
                <p:nvPr/>
              </p:nvSpPr>
              <p:spPr>
                <a:xfrm>
                  <a:off x="11487358" y="3000956"/>
                  <a:ext cx="41237" cy="41237"/>
                </a:xfrm>
                <a:custGeom>
                  <a:avLst/>
                  <a:gdLst>
                    <a:gd name="connsiteX0" fmla="*/ 43738 w 43738"/>
                    <a:gd name="connsiteY0" fmla="*/ 21869 h 43738"/>
                    <a:gd name="connsiteX1" fmla="*/ 21869 w 43738"/>
                    <a:gd name="connsiteY1" fmla="*/ 43738 h 43738"/>
                    <a:gd name="connsiteX2" fmla="*/ 0 w 43738"/>
                    <a:gd name="connsiteY2" fmla="*/ 21869 h 43738"/>
                    <a:gd name="connsiteX3" fmla="*/ 21869 w 43738"/>
                    <a:gd name="connsiteY3" fmla="*/ 0 h 43738"/>
                    <a:gd name="connsiteX4" fmla="*/ 43738 w 43738"/>
                    <a:gd name="connsiteY4" fmla="*/ 21869 h 43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38" h="43738">
                      <a:moveTo>
                        <a:pt x="43738" y="21869"/>
                      </a:moveTo>
                      <a:cubicBezTo>
                        <a:pt x="43738" y="33947"/>
                        <a:pt x="33947" y="43738"/>
                        <a:pt x="21869" y="43738"/>
                      </a:cubicBezTo>
                      <a:cubicBezTo>
                        <a:pt x="9791" y="43738"/>
                        <a:pt x="0" y="33947"/>
                        <a:pt x="0" y="21869"/>
                      </a:cubicBezTo>
                      <a:cubicBezTo>
                        <a:pt x="0" y="9791"/>
                        <a:pt x="9791" y="0"/>
                        <a:pt x="21869" y="0"/>
                      </a:cubicBezTo>
                      <a:cubicBezTo>
                        <a:pt x="33947" y="0"/>
                        <a:pt x="43738" y="9791"/>
                        <a:pt x="43738" y="21869"/>
                      </a:cubicBezTo>
                      <a:close/>
                    </a:path>
                  </a:pathLst>
                </a:custGeom>
                <a:noFill/>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14" name="Freeform: Shape 213">
                  <a:extLst>
                    <a:ext uri="{FF2B5EF4-FFF2-40B4-BE49-F238E27FC236}">
                      <a16:creationId xmlns:a16="http://schemas.microsoft.com/office/drawing/2014/main" id="{096993EF-4A4D-A222-21F8-2AF79AB4DF6D}"/>
                    </a:ext>
                  </a:extLst>
                </p:cNvPr>
                <p:cNvSpPr/>
                <p:nvPr/>
              </p:nvSpPr>
              <p:spPr>
                <a:xfrm>
                  <a:off x="11555105" y="2977391"/>
                  <a:ext cx="32400" cy="32400"/>
                </a:xfrm>
                <a:custGeom>
                  <a:avLst/>
                  <a:gdLst>
                    <a:gd name="connsiteX0" fmla="*/ 34365 w 34365"/>
                    <a:gd name="connsiteY0" fmla="*/ 17183 h 34365"/>
                    <a:gd name="connsiteX1" fmla="*/ 17183 w 34365"/>
                    <a:gd name="connsiteY1" fmla="*/ 34366 h 34365"/>
                    <a:gd name="connsiteX2" fmla="*/ 0 w 34365"/>
                    <a:gd name="connsiteY2" fmla="*/ 17183 h 34365"/>
                    <a:gd name="connsiteX3" fmla="*/ 17183 w 34365"/>
                    <a:gd name="connsiteY3" fmla="*/ 0 h 34365"/>
                    <a:gd name="connsiteX4" fmla="*/ 34365 w 34365"/>
                    <a:gd name="connsiteY4" fmla="*/ 17183 h 34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65" h="34365">
                      <a:moveTo>
                        <a:pt x="34365" y="17183"/>
                      </a:moveTo>
                      <a:cubicBezTo>
                        <a:pt x="34365" y="26673"/>
                        <a:pt x="26672" y="34366"/>
                        <a:pt x="17183" y="34366"/>
                      </a:cubicBezTo>
                      <a:cubicBezTo>
                        <a:pt x="7693" y="34366"/>
                        <a:pt x="0" y="26673"/>
                        <a:pt x="0" y="17183"/>
                      </a:cubicBezTo>
                      <a:cubicBezTo>
                        <a:pt x="0" y="7693"/>
                        <a:pt x="7693" y="0"/>
                        <a:pt x="17183" y="0"/>
                      </a:cubicBezTo>
                      <a:cubicBezTo>
                        <a:pt x="26672" y="0"/>
                        <a:pt x="34365" y="7693"/>
                        <a:pt x="34365" y="17183"/>
                      </a:cubicBezTo>
                      <a:close/>
                    </a:path>
                  </a:pathLst>
                </a:custGeom>
                <a:noFill/>
                <a:ln w="15875" cap="flat">
                  <a:solidFill>
                    <a:srgbClr val="0F65F9"/>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grpSp>
      </p:grpSp>
      <p:grpSp>
        <p:nvGrpSpPr>
          <p:cNvPr id="237" name="Group 236" descr="Step 6, inference.">
            <a:extLst>
              <a:ext uri="{FF2B5EF4-FFF2-40B4-BE49-F238E27FC236}">
                <a16:creationId xmlns:a16="http://schemas.microsoft.com/office/drawing/2014/main" id="{B145E722-C28E-D059-3B81-B89E204057ED}"/>
              </a:ext>
            </a:extLst>
          </p:cNvPr>
          <p:cNvGrpSpPr/>
          <p:nvPr/>
        </p:nvGrpSpPr>
        <p:grpSpPr>
          <a:xfrm>
            <a:off x="7677241" y="2498441"/>
            <a:ext cx="1414442" cy="3107375"/>
            <a:chOff x="7677241" y="2498441"/>
            <a:chExt cx="1414442" cy="3107375"/>
          </a:xfrm>
        </p:grpSpPr>
        <p:sp>
          <p:nvSpPr>
            <p:cNvPr id="16" name="TextBox 15">
              <a:extLst>
                <a:ext uri="{FF2B5EF4-FFF2-40B4-BE49-F238E27FC236}">
                  <a16:creationId xmlns:a16="http://schemas.microsoft.com/office/drawing/2014/main" id="{1372188A-AEB2-346B-DD45-ABD5FA8BAD62}"/>
                </a:ext>
              </a:extLst>
            </p:cNvPr>
            <p:cNvSpPr txBox="1"/>
            <p:nvPr/>
          </p:nvSpPr>
          <p:spPr>
            <a:xfrm>
              <a:off x="7677241" y="3959896"/>
              <a:ext cx="1371600" cy="1645920"/>
            </a:xfrm>
            <a:prstGeom prst="rect">
              <a:avLst/>
            </a:prstGeom>
          </p:spPr>
          <p:txBody>
            <a:bodyPr wrap="square" lIns="91440" tIns="0" rIns="91440" bIns="0">
              <a:noAutofit/>
            </a:bodyPr>
            <a:lstStyle>
              <a:defPPr>
                <a:defRPr lang="en-US"/>
              </a:defPPr>
              <a:lvl1pPr indent="0" algn="ctr">
                <a:lnSpc>
                  <a:spcPct val="90000"/>
                </a:lnSpc>
                <a:spcBef>
                  <a:spcPts val="0"/>
                </a:spcBef>
                <a:spcAft>
                  <a:spcPts val="1200"/>
                </a:spcAft>
                <a:buSzPct val="90000"/>
                <a:buFont typeface="Arial" panose="020B0604020202020204" pitchFamily="34" charset="0"/>
                <a:buNone/>
                <a:defRPr sz="2000">
                  <a:latin typeface="+mj-lt"/>
                </a:defRPr>
              </a:lvl1pPr>
              <a:lvl2pPr marL="514350" indent="-228600">
                <a:lnSpc>
                  <a:spcPct val="90000"/>
                </a:lnSpc>
                <a:spcBef>
                  <a:spcPts val="0"/>
                </a:spcBef>
                <a:spcAft>
                  <a:spcPts val="1200"/>
                </a:spcAft>
                <a:buSzPct val="90000"/>
                <a:buFont typeface="Wingdings" panose="05000000000000000000" pitchFamily="2" charset="2"/>
                <a:buChar char="§"/>
                <a:defRPr sz="2400"/>
              </a:lvl2pPr>
              <a:lvl3pPr marL="857250" indent="-228600">
                <a:lnSpc>
                  <a:spcPct val="90000"/>
                </a:lnSpc>
                <a:spcBef>
                  <a:spcPts val="0"/>
                </a:spcBef>
                <a:spcAft>
                  <a:spcPts val="1200"/>
                </a:spcAft>
                <a:buFont typeface="Amazon Ember" panose="020B0603020204020204" pitchFamily="34" charset="0"/>
                <a:buChar char="–"/>
                <a:defRPr sz="2000"/>
              </a:lvl3pPr>
              <a:lvl4pPr marL="1030288" indent="-171450">
                <a:lnSpc>
                  <a:spcPct val="90000"/>
                </a:lnSpc>
                <a:spcBef>
                  <a:spcPts val="0"/>
                </a:spcBef>
                <a:spcAft>
                  <a:spcPts val="1200"/>
                </a:spcAft>
                <a:buFont typeface="Arial" panose="020B0604020202020204" pitchFamily="34" charset="0"/>
                <a:buChar char="•"/>
              </a:lvl4pPr>
              <a:lvl5pPr marL="1201738" indent="-171450">
                <a:lnSpc>
                  <a:spcPct val="90000"/>
                </a:lnSpc>
                <a:spcBef>
                  <a:spcPts val="0"/>
                </a:spcBef>
                <a:spcAft>
                  <a:spcPts val="1200"/>
                </a:spcAft>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1200"/>
                </a:spcAft>
                <a:buClrTx/>
                <a:buSzPct val="90000"/>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Amazon Ember Light"/>
                  <a:ea typeface="+mn-ea"/>
                  <a:cs typeface="+mn-cs"/>
                </a:rPr>
                <a:t>Inference</a:t>
              </a:r>
            </a:p>
          </p:txBody>
        </p:sp>
        <p:sp>
          <p:nvSpPr>
            <p:cNvPr id="75" name="Freeform: Shape 74">
              <a:extLst>
                <a:ext uri="{FF2B5EF4-FFF2-40B4-BE49-F238E27FC236}">
                  <a16:creationId xmlns:a16="http://schemas.microsoft.com/office/drawing/2014/main" id="{B0968BBC-C3BB-8DE5-E804-AE45F07F4965}"/>
                </a:ext>
              </a:extLst>
            </p:cNvPr>
            <p:cNvSpPr/>
            <p:nvPr/>
          </p:nvSpPr>
          <p:spPr>
            <a:xfrm>
              <a:off x="7776276" y="2498441"/>
              <a:ext cx="1315407" cy="1144940"/>
            </a:xfrm>
            <a:custGeom>
              <a:avLst/>
              <a:gdLst>
                <a:gd name="connsiteX0" fmla="*/ 2061646 w 2066765"/>
                <a:gd name="connsiteY0" fmla="*/ 916242 h 1798928"/>
                <a:gd name="connsiteX1" fmla="*/ 2062340 w 2066765"/>
                <a:gd name="connsiteY1" fmla="*/ 914998 h 1798928"/>
                <a:gd name="connsiteX2" fmla="*/ 2064423 w 2066765"/>
                <a:gd name="connsiteY2" fmla="*/ 911064 h 1798928"/>
                <a:gd name="connsiteX3" fmla="*/ 2065001 w 2066765"/>
                <a:gd name="connsiteY3" fmla="*/ 909213 h 1798928"/>
                <a:gd name="connsiteX4" fmla="*/ 2066159 w 2066765"/>
                <a:gd name="connsiteY4" fmla="*/ 905423 h 1798928"/>
                <a:gd name="connsiteX5" fmla="*/ 2066766 w 2066765"/>
                <a:gd name="connsiteY5" fmla="*/ 899464 h 1798928"/>
                <a:gd name="connsiteX6" fmla="*/ 2066159 w 2066765"/>
                <a:gd name="connsiteY6" fmla="*/ 893505 h 1798928"/>
                <a:gd name="connsiteX7" fmla="*/ 2065001 w 2066765"/>
                <a:gd name="connsiteY7" fmla="*/ 889716 h 1798928"/>
                <a:gd name="connsiteX8" fmla="*/ 2064423 w 2066765"/>
                <a:gd name="connsiteY8" fmla="*/ 887865 h 1798928"/>
                <a:gd name="connsiteX9" fmla="*/ 2062340 w 2066765"/>
                <a:gd name="connsiteY9" fmla="*/ 883931 h 1798928"/>
                <a:gd name="connsiteX10" fmla="*/ 2061646 w 2066765"/>
                <a:gd name="connsiteY10" fmla="*/ 882687 h 1798928"/>
                <a:gd name="connsiteX11" fmla="*/ 2057914 w 2066765"/>
                <a:gd name="connsiteY11" fmla="*/ 878116 h 1798928"/>
                <a:gd name="connsiteX12" fmla="*/ 2057914 w 2066765"/>
                <a:gd name="connsiteY12" fmla="*/ 878116 h 1798928"/>
                <a:gd name="connsiteX13" fmla="*/ 1921840 w 2066765"/>
                <a:gd name="connsiteY13" fmla="*/ 742042 h 1798928"/>
                <a:gd name="connsiteX14" fmla="*/ 1879173 w 2066765"/>
                <a:gd name="connsiteY14" fmla="*/ 742042 h 1798928"/>
                <a:gd name="connsiteX15" fmla="*/ 1879173 w 2066765"/>
                <a:gd name="connsiteY15" fmla="*/ 784710 h 1798928"/>
                <a:gd name="connsiteX16" fmla="*/ 1963727 w 2066765"/>
                <a:gd name="connsiteY16" fmla="*/ 869264 h 1798928"/>
                <a:gd name="connsiteX17" fmla="*/ 1651313 w 2066765"/>
                <a:gd name="connsiteY17" fmla="*/ 869264 h 1798928"/>
                <a:gd name="connsiteX18" fmla="*/ 899493 w 2066765"/>
                <a:gd name="connsiteY18" fmla="*/ 146835 h 1798928"/>
                <a:gd name="connsiteX19" fmla="*/ 146864 w 2066765"/>
                <a:gd name="connsiteY19" fmla="*/ 899464 h 1798928"/>
                <a:gd name="connsiteX20" fmla="*/ 899464 w 2066765"/>
                <a:gd name="connsiteY20" fmla="*/ 1652065 h 1798928"/>
                <a:gd name="connsiteX21" fmla="*/ 1633638 w 2066765"/>
                <a:gd name="connsiteY21" fmla="*/ 1065710 h 1798928"/>
                <a:gd name="connsiteX22" fmla="*/ 1722156 w 2066765"/>
                <a:gd name="connsiteY22" fmla="*/ 1065710 h 1798928"/>
                <a:gd name="connsiteX23" fmla="*/ 899464 w 2066765"/>
                <a:gd name="connsiteY23" fmla="*/ 1738558 h 1798928"/>
                <a:gd name="connsiteX24" fmla="*/ 60342 w 2066765"/>
                <a:gd name="connsiteY24" fmla="*/ 899436 h 1798928"/>
                <a:gd name="connsiteX25" fmla="*/ 899464 w 2066765"/>
                <a:gd name="connsiteY25" fmla="*/ 60342 h 1798928"/>
                <a:gd name="connsiteX26" fmla="*/ 1728346 w 2066765"/>
                <a:gd name="connsiteY26" fmla="*/ 768077 h 1798928"/>
                <a:gd name="connsiteX27" fmla="*/ 1762827 w 2066765"/>
                <a:gd name="connsiteY27" fmla="*/ 793186 h 1798928"/>
                <a:gd name="connsiteX28" fmla="*/ 1787965 w 2066765"/>
                <a:gd name="connsiteY28" fmla="*/ 758704 h 1798928"/>
                <a:gd name="connsiteX29" fmla="*/ 1486688 w 2066765"/>
                <a:gd name="connsiteY29" fmla="*/ 218141 h 1798928"/>
                <a:gd name="connsiteX30" fmla="*/ 899464 w 2066765"/>
                <a:gd name="connsiteY30" fmla="*/ 0 h 1798928"/>
                <a:gd name="connsiteX31" fmla="*/ 0 w 2066765"/>
                <a:gd name="connsiteY31" fmla="*/ 899464 h 1798928"/>
                <a:gd name="connsiteX32" fmla="*/ 899464 w 2066765"/>
                <a:gd name="connsiteY32" fmla="*/ 1798929 h 1798928"/>
                <a:gd name="connsiteX33" fmla="*/ 1486717 w 2066765"/>
                <a:gd name="connsiteY33" fmla="*/ 1580788 h 1798928"/>
                <a:gd name="connsiteX34" fmla="*/ 1787994 w 2066765"/>
                <a:gd name="connsiteY34" fmla="*/ 1040225 h 1798928"/>
                <a:gd name="connsiteX35" fmla="*/ 1781109 w 2066765"/>
                <a:gd name="connsiteY35" fmla="*/ 1015926 h 1798928"/>
                <a:gd name="connsiteX36" fmla="*/ 1758170 w 2066765"/>
                <a:gd name="connsiteY36" fmla="*/ 1005367 h 1798928"/>
                <a:gd name="connsiteX37" fmla="*/ 1609108 w 2066765"/>
                <a:gd name="connsiteY37" fmla="*/ 1005367 h 1798928"/>
                <a:gd name="connsiteX38" fmla="*/ 1579457 w 2066765"/>
                <a:gd name="connsiteY38" fmla="*/ 1029898 h 1798928"/>
                <a:gd name="connsiteX39" fmla="*/ 899464 w 2066765"/>
                <a:gd name="connsiteY39" fmla="*/ 1591723 h 1798928"/>
                <a:gd name="connsiteX40" fmla="*/ 207206 w 2066765"/>
                <a:gd name="connsiteY40" fmla="*/ 899464 h 1798928"/>
                <a:gd name="connsiteX41" fmla="*/ 899464 w 2066765"/>
                <a:gd name="connsiteY41" fmla="*/ 207206 h 1798928"/>
                <a:gd name="connsiteX42" fmla="*/ 1591723 w 2066765"/>
                <a:gd name="connsiteY42" fmla="*/ 899464 h 1798928"/>
                <a:gd name="connsiteX43" fmla="*/ 1621894 w 2066765"/>
                <a:gd name="connsiteY43" fmla="*/ 929636 h 1798928"/>
                <a:gd name="connsiteX44" fmla="*/ 1963727 w 2066765"/>
                <a:gd name="connsiteY44" fmla="*/ 929636 h 1798928"/>
                <a:gd name="connsiteX45" fmla="*/ 1879173 w 2066765"/>
                <a:gd name="connsiteY45" fmla="*/ 1014190 h 1798928"/>
                <a:gd name="connsiteX46" fmla="*/ 1879173 w 2066765"/>
                <a:gd name="connsiteY46" fmla="*/ 1056858 h 1798928"/>
                <a:gd name="connsiteX47" fmla="*/ 1900521 w 2066765"/>
                <a:gd name="connsiteY47" fmla="*/ 1065710 h 1798928"/>
                <a:gd name="connsiteX48" fmla="*/ 1921869 w 2066765"/>
                <a:gd name="connsiteY48" fmla="*/ 1056887 h 1798928"/>
                <a:gd name="connsiteX49" fmla="*/ 2057943 w 2066765"/>
                <a:gd name="connsiteY49" fmla="*/ 920813 h 1798928"/>
                <a:gd name="connsiteX50" fmla="*/ 2057943 w 2066765"/>
                <a:gd name="connsiteY50" fmla="*/ 920813 h 1798928"/>
                <a:gd name="connsiteX51" fmla="*/ 2061675 w 2066765"/>
                <a:gd name="connsiteY51" fmla="*/ 916242 h 179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066765" h="1798928">
                  <a:moveTo>
                    <a:pt x="2061646" y="916242"/>
                  </a:moveTo>
                  <a:cubicBezTo>
                    <a:pt x="2061906" y="915837"/>
                    <a:pt x="2062080" y="915403"/>
                    <a:pt x="2062340" y="914998"/>
                  </a:cubicBezTo>
                  <a:cubicBezTo>
                    <a:pt x="2063092" y="913726"/>
                    <a:pt x="2063844" y="912453"/>
                    <a:pt x="2064423" y="911064"/>
                  </a:cubicBezTo>
                  <a:cubicBezTo>
                    <a:pt x="2064683" y="910457"/>
                    <a:pt x="2064799" y="909820"/>
                    <a:pt x="2065001" y="909213"/>
                  </a:cubicBezTo>
                  <a:cubicBezTo>
                    <a:pt x="2065435" y="907969"/>
                    <a:pt x="2065898" y="906754"/>
                    <a:pt x="2066159" y="905423"/>
                  </a:cubicBezTo>
                  <a:cubicBezTo>
                    <a:pt x="2066564" y="903485"/>
                    <a:pt x="2066766" y="901489"/>
                    <a:pt x="2066766" y="899464"/>
                  </a:cubicBezTo>
                  <a:cubicBezTo>
                    <a:pt x="2066766" y="897440"/>
                    <a:pt x="2066564" y="895444"/>
                    <a:pt x="2066159" y="893505"/>
                  </a:cubicBezTo>
                  <a:cubicBezTo>
                    <a:pt x="2065898" y="892204"/>
                    <a:pt x="2065435" y="890960"/>
                    <a:pt x="2065001" y="889716"/>
                  </a:cubicBezTo>
                  <a:cubicBezTo>
                    <a:pt x="2064799" y="889108"/>
                    <a:pt x="2064683" y="888472"/>
                    <a:pt x="2064423" y="887865"/>
                  </a:cubicBezTo>
                  <a:cubicBezTo>
                    <a:pt x="2063844" y="886476"/>
                    <a:pt x="2063092" y="885203"/>
                    <a:pt x="2062340" y="883931"/>
                  </a:cubicBezTo>
                  <a:cubicBezTo>
                    <a:pt x="2062080" y="883526"/>
                    <a:pt x="2061935" y="883063"/>
                    <a:pt x="2061646" y="882687"/>
                  </a:cubicBezTo>
                  <a:cubicBezTo>
                    <a:pt x="2060547" y="881038"/>
                    <a:pt x="2059303" y="879505"/>
                    <a:pt x="2057914" y="878116"/>
                  </a:cubicBezTo>
                  <a:lnTo>
                    <a:pt x="2057914" y="878116"/>
                  </a:lnTo>
                  <a:lnTo>
                    <a:pt x="1921840" y="742042"/>
                  </a:lnTo>
                  <a:cubicBezTo>
                    <a:pt x="1910067" y="730269"/>
                    <a:pt x="1890946" y="730269"/>
                    <a:pt x="1879173" y="742042"/>
                  </a:cubicBezTo>
                  <a:cubicBezTo>
                    <a:pt x="1867399" y="753816"/>
                    <a:pt x="1867399" y="772937"/>
                    <a:pt x="1879173" y="784710"/>
                  </a:cubicBezTo>
                  <a:lnTo>
                    <a:pt x="1963727" y="869264"/>
                  </a:lnTo>
                  <a:lnTo>
                    <a:pt x="1651313" y="869264"/>
                  </a:lnTo>
                  <a:cubicBezTo>
                    <a:pt x="1635403" y="468217"/>
                    <a:pt x="1304359" y="146835"/>
                    <a:pt x="899493" y="146835"/>
                  </a:cubicBezTo>
                  <a:cubicBezTo>
                    <a:pt x="494627" y="146835"/>
                    <a:pt x="146864" y="484474"/>
                    <a:pt x="146864" y="899464"/>
                  </a:cubicBezTo>
                  <a:cubicBezTo>
                    <a:pt x="146864" y="1314455"/>
                    <a:pt x="484474" y="1652065"/>
                    <a:pt x="899464" y="1652065"/>
                  </a:cubicBezTo>
                  <a:cubicBezTo>
                    <a:pt x="1251972" y="1652065"/>
                    <a:pt x="1556778" y="1406964"/>
                    <a:pt x="1633638" y="1065710"/>
                  </a:cubicBezTo>
                  <a:lnTo>
                    <a:pt x="1722156" y="1065710"/>
                  </a:lnTo>
                  <a:cubicBezTo>
                    <a:pt x="1643936" y="1457703"/>
                    <a:pt x="1303404" y="1738558"/>
                    <a:pt x="899464" y="1738558"/>
                  </a:cubicBezTo>
                  <a:cubicBezTo>
                    <a:pt x="436773" y="1738558"/>
                    <a:pt x="60342" y="1362127"/>
                    <a:pt x="60342" y="899436"/>
                  </a:cubicBezTo>
                  <a:cubicBezTo>
                    <a:pt x="60342" y="436744"/>
                    <a:pt x="436773" y="60342"/>
                    <a:pt x="899464" y="60342"/>
                  </a:cubicBezTo>
                  <a:cubicBezTo>
                    <a:pt x="1315265" y="60342"/>
                    <a:pt x="1663867" y="357975"/>
                    <a:pt x="1728346" y="768077"/>
                  </a:cubicBezTo>
                  <a:cubicBezTo>
                    <a:pt x="1730949" y="784536"/>
                    <a:pt x="1746512" y="795789"/>
                    <a:pt x="1762827" y="793186"/>
                  </a:cubicBezTo>
                  <a:cubicBezTo>
                    <a:pt x="1779287" y="790611"/>
                    <a:pt x="1790540" y="775164"/>
                    <a:pt x="1787965" y="758704"/>
                  </a:cubicBezTo>
                  <a:cubicBezTo>
                    <a:pt x="1755046" y="549300"/>
                    <a:pt x="1648044" y="357339"/>
                    <a:pt x="1486688" y="218141"/>
                  </a:cubicBezTo>
                  <a:cubicBezTo>
                    <a:pt x="1323625" y="77467"/>
                    <a:pt x="1115088" y="0"/>
                    <a:pt x="899464" y="0"/>
                  </a:cubicBezTo>
                  <a:cubicBezTo>
                    <a:pt x="403506" y="0"/>
                    <a:pt x="0" y="403506"/>
                    <a:pt x="0" y="899464"/>
                  </a:cubicBezTo>
                  <a:cubicBezTo>
                    <a:pt x="0" y="1395423"/>
                    <a:pt x="403506" y="1798929"/>
                    <a:pt x="899464" y="1798929"/>
                  </a:cubicBezTo>
                  <a:cubicBezTo>
                    <a:pt x="1115088" y="1798929"/>
                    <a:pt x="1323625" y="1721462"/>
                    <a:pt x="1486717" y="1580788"/>
                  </a:cubicBezTo>
                  <a:cubicBezTo>
                    <a:pt x="1648073" y="1441590"/>
                    <a:pt x="1755046" y="1249629"/>
                    <a:pt x="1787994" y="1040225"/>
                  </a:cubicBezTo>
                  <a:cubicBezTo>
                    <a:pt x="1789354" y="1031517"/>
                    <a:pt x="1786837" y="1022637"/>
                    <a:pt x="1781109" y="1015926"/>
                  </a:cubicBezTo>
                  <a:cubicBezTo>
                    <a:pt x="1775382" y="1009215"/>
                    <a:pt x="1766993" y="1005367"/>
                    <a:pt x="1758170" y="1005367"/>
                  </a:cubicBezTo>
                  <a:lnTo>
                    <a:pt x="1609108" y="1005367"/>
                  </a:lnTo>
                  <a:cubicBezTo>
                    <a:pt x="1594615" y="1005367"/>
                    <a:pt x="1582177" y="1015665"/>
                    <a:pt x="1579457" y="1029898"/>
                  </a:cubicBezTo>
                  <a:cubicBezTo>
                    <a:pt x="1517408" y="1355445"/>
                    <a:pt x="1231434" y="1591723"/>
                    <a:pt x="899464" y="1591723"/>
                  </a:cubicBezTo>
                  <a:cubicBezTo>
                    <a:pt x="517740" y="1591723"/>
                    <a:pt x="207206" y="1281189"/>
                    <a:pt x="207206" y="899464"/>
                  </a:cubicBezTo>
                  <a:cubicBezTo>
                    <a:pt x="207206" y="517740"/>
                    <a:pt x="517769" y="207206"/>
                    <a:pt x="899464" y="207206"/>
                  </a:cubicBezTo>
                  <a:cubicBezTo>
                    <a:pt x="1281159" y="207206"/>
                    <a:pt x="1591723" y="517740"/>
                    <a:pt x="1591723" y="899464"/>
                  </a:cubicBezTo>
                  <a:cubicBezTo>
                    <a:pt x="1591723" y="916127"/>
                    <a:pt x="1605231" y="929636"/>
                    <a:pt x="1621894" y="929636"/>
                  </a:cubicBezTo>
                  <a:lnTo>
                    <a:pt x="1963727" y="929636"/>
                  </a:lnTo>
                  <a:lnTo>
                    <a:pt x="1879173" y="1014190"/>
                  </a:lnTo>
                  <a:cubicBezTo>
                    <a:pt x="1867399" y="1025963"/>
                    <a:pt x="1867399" y="1045084"/>
                    <a:pt x="1879173" y="1056858"/>
                  </a:cubicBezTo>
                  <a:cubicBezTo>
                    <a:pt x="1885074" y="1062759"/>
                    <a:pt x="1892797" y="1065710"/>
                    <a:pt x="1900521" y="1065710"/>
                  </a:cubicBezTo>
                  <a:cubicBezTo>
                    <a:pt x="1908245" y="1065710"/>
                    <a:pt x="1915968" y="1062759"/>
                    <a:pt x="1921869" y="1056887"/>
                  </a:cubicBezTo>
                  <a:lnTo>
                    <a:pt x="2057943" y="920813"/>
                  </a:lnTo>
                  <a:lnTo>
                    <a:pt x="2057943" y="920813"/>
                  </a:lnTo>
                  <a:cubicBezTo>
                    <a:pt x="2059332" y="919424"/>
                    <a:pt x="2060576" y="917891"/>
                    <a:pt x="2061675" y="916242"/>
                  </a:cubicBezTo>
                  <a:close/>
                </a:path>
              </a:pathLst>
            </a:custGeom>
            <a:solidFill>
              <a:srgbClr val="624FF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nvGrpSpPr>
            <p:cNvPr id="231" name="Group 230">
              <a:extLst>
                <a:ext uri="{FF2B5EF4-FFF2-40B4-BE49-F238E27FC236}">
                  <a16:creationId xmlns:a16="http://schemas.microsoft.com/office/drawing/2014/main" id="{7ED9E9DC-AD3B-507A-84CB-8D9404D87D22}"/>
                </a:ext>
              </a:extLst>
            </p:cNvPr>
            <p:cNvGrpSpPr/>
            <p:nvPr/>
          </p:nvGrpSpPr>
          <p:grpSpPr>
            <a:xfrm>
              <a:off x="8161706" y="2825530"/>
              <a:ext cx="416014" cy="473905"/>
              <a:chOff x="8161706" y="2825530"/>
              <a:chExt cx="416014" cy="473905"/>
            </a:xfrm>
          </p:grpSpPr>
          <p:sp>
            <p:nvSpPr>
              <p:cNvPr id="220" name="Freeform: Shape 219">
                <a:extLst>
                  <a:ext uri="{FF2B5EF4-FFF2-40B4-BE49-F238E27FC236}">
                    <a16:creationId xmlns:a16="http://schemas.microsoft.com/office/drawing/2014/main" id="{7A9C5EC8-AB94-9C83-4A3F-9FE078A97ABB}"/>
                  </a:ext>
                </a:extLst>
              </p:cNvPr>
              <p:cNvSpPr/>
              <p:nvPr/>
            </p:nvSpPr>
            <p:spPr>
              <a:xfrm>
                <a:off x="8369489" y="3088960"/>
                <a:ext cx="4487" cy="118027"/>
              </a:xfrm>
              <a:custGeom>
                <a:avLst/>
                <a:gdLst>
                  <a:gd name="connsiteX0" fmla="*/ 0 w 4487"/>
                  <a:gd name="connsiteY0" fmla="*/ 118028 h 118027"/>
                  <a:gd name="connsiteX1" fmla="*/ 0 w 4487"/>
                  <a:gd name="connsiteY1" fmla="*/ 0 h 118027"/>
                </a:gdLst>
                <a:ahLst/>
                <a:cxnLst>
                  <a:cxn ang="0">
                    <a:pos x="connsiteX0" y="connsiteY0"/>
                  </a:cxn>
                  <a:cxn ang="0">
                    <a:pos x="connsiteX1" y="connsiteY1"/>
                  </a:cxn>
                </a:cxnLst>
                <a:rect l="l" t="t" r="r" b="b"/>
                <a:pathLst>
                  <a:path w="4487" h="118027">
                    <a:moveTo>
                      <a:pt x="0" y="118028"/>
                    </a:moveTo>
                    <a:lnTo>
                      <a:pt x="0" y="0"/>
                    </a:lnTo>
                  </a:path>
                </a:pathLst>
              </a:custGeom>
              <a:ln w="15875" cap="flat">
                <a:solidFill>
                  <a:srgbClr val="624FFD"/>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21" name="Freeform: Shape 220">
                <a:extLst>
                  <a:ext uri="{FF2B5EF4-FFF2-40B4-BE49-F238E27FC236}">
                    <a16:creationId xmlns:a16="http://schemas.microsoft.com/office/drawing/2014/main" id="{926C48CE-2AA4-944F-D915-112A901A4ACE}"/>
                  </a:ext>
                </a:extLst>
              </p:cNvPr>
              <p:cNvSpPr/>
              <p:nvPr/>
            </p:nvSpPr>
            <p:spPr>
              <a:xfrm>
                <a:off x="8340318" y="3088063"/>
                <a:ext cx="58789" cy="4487"/>
              </a:xfrm>
              <a:custGeom>
                <a:avLst/>
                <a:gdLst>
                  <a:gd name="connsiteX0" fmla="*/ 0 w 58789"/>
                  <a:gd name="connsiteY0" fmla="*/ 0 h 4487"/>
                  <a:gd name="connsiteX1" fmla="*/ 58790 w 58789"/>
                  <a:gd name="connsiteY1" fmla="*/ 0 h 4487"/>
                </a:gdLst>
                <a:ahLst/>
                <a:cxnLst>
                  <a:cxn ang="0">
                    <a:pos x="connsiteX0" y="connsiteY0"/>
                  </a:cxn>
                  <a:cxn ang="0">
                    <a:pos x="connsiteX1" y="connsiteY1"/>
                  </a:cxn>
                </a:cxnLst>
                <a:rect l="l" t="t" r="r" b="b"/>
                <a:pathLst>
                  <a:path w="58789" h="4487">
                    <a:moveTo>
                      <a:pt x="0" y="0"/>
                    </a:moveTo>
                    <a:lnTo>
                      <a:pt x="58790" y="0"/>
                    </a:lnTo>
                  </a:path>
                </a:pathLst>
              </a:custGeom>
              <a:ln w="15875" cap="flat">
                <a:solidFill>
                  <a:srgbClr val="624FFD"/>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22" name="Freeform: Shape 221">
                <a:extLst>
                  <a:ext uri="{FF2B5EF4-FFF2-40B4-BE49-F238E27FC236}">
                    <a16:creationId xmlns:a16="http://schemas.microsoft.com/office/drawing/2014/main" id="{D1DAFD0D-F413-AB5D-E901-CB84D56AD8ED}"/>
                  </a:ext>
                </a:extLst>
              </p:cNvPr>
              <p:cNvSpPr/>
              <p:nvPr/>
            </p:nvSpPr>
            <p:spPr>
              <a:xfrm>
                <a:off x="8283324" y="2825530"/>
                <a:ext cx="22438" cy="53852"/>
              </a:xfrm>
              <a:custGeom>
                <a:avLst/>
                <a:gdLst>
                  <a:gd name="connsiteX0" fmla="*/ 22439 w 22438"/>
                  <a:gd name="connsiteY0" fmla="*/ 53853 h 53852"/>
                  <a:gd name="connsiteX1" fmla="*/ 0 w 22438"/>
                  <a:gd name="connsiteY1" fmla="*/ 0 h 53852"/>
                </a:gdLst>
                <a:ahLst/>
                <a:cxnLst>
                  <a:cxn ang="0">
                    <a:pos x="connsiteX0" y="connsiteY0"/>
                  </a:cxn>
                  <a:cxn ang="0">
                    <a:pos x="connsiteX1" y="connsiteY1"/>
                  </a:cxn>
                </a:cxnLst>
                <a:rect l="l" t="t" r="r" b="b"/>
                <a:pathLst>
                  <a:path w="22438" h="53852">
                    <a:moveTo>
                      <a:pt x="22439" y="53853"/>
                    </a:moveTo>
                    <a:lnTo>
                      <a:pt x="0" y="0"/>
                    </a:lnTo>
                  </a:path>
                </a:pathLst>
              </a:custGeom>
              <a:ln w="15875" cap="flat">
                <a:solidFill>
                  <a:srgbClr val="624FFD"/>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23" name="Freeform: Shape 222">
                <a:extLst>
                  <a:ext uri="{FF2B5EF4-FFF2-40B4-BE49-F238E27FC236}">
                    <a16:creationId xmlns:a16="http://schemas.microsoft.com/office/drawing/2014/main" id="{40B73E51-3410-231F-DEDB-1746DB454B65}"/>
                  </a:ext>
                </a:extLst>
              </p:cNvPr>
              <p:cNvSpPr/>
              <p:nvPr/>
            </p:nvSpPr>
            <p:spPr>
              <a:xfrm>
                <a:off x="8161706" y="3097038"/>
                <a:ext cx="53853" cy="22438"/>
              </a:xfrm>
              <a:custGeom>
                <a:avLst/>
                <a:gdLst>
                  <a:gd name="connsiteX0" fmla="*/ 0 w 53853"/>
                  <a:gd name="connsiteY0" fmla="*/ 22439 h 22438"/>
                  <a:gd name="connsiteX1" fmla="*/ 53853 w 53853"/>
                  <a:gd name="connsiteY1" fmla="*/ 0 h 22438"/>
                </a:gdLst>
                <a:ahLst/>
                <a:cxnLst>
                  <a:cxn ang="0">
                    <a:pos x="connsiteX0" y="connsiteY0"/>
                  </a:cxn>
                  <a:cxn ang="0">
                    <a:pos x="connsiteX1" y="connsiteY1"/>
                  </a:cxn>
                </a:cxnLst>
                <a:rect l="l" t="t" r="r" b="b"/>
                <a:pathLst>
                  <a:path w="53853" h="22438">
                    <a:moveTo>
                      <a:pt x="0" y="22439"/>
                    </a:moveTo>
                    <a:lnTo>
                      <a:pt x="53853" y="0"/>
                    </a:lnTo>
                  </a:path>
                </a:pathLst>
              </a:custGeom>
              <a:ln w="15875" cap="flat">
                <a:solidFill>
                  <a:srgbClr val="624FFD"/>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24" name="Freeform: Shape 223">
                <a:extLst>
                  <a:ext uri="{FF2B5EF4-FFF2-40B4-BE49-F238E27FC236}">
                    <a16:creationId xmlns:a16="http://schemas.microsoft.com/office/drawing/2014/main" id="{D9FA76BA-D37F-F7CC-4F63-1C513150BDA5}"/>
                  </a:ext>
                </a:extLst>
              </p:cNvPr>
              <p:cNvSpPr/>
              <p:nvPr/>
            </p:nvSpPr>
            <p:spPr>
              <a:xfrm>
                <a:off x="8523867" y="2947148"/>
                <a:ext cx="53853" cy="22438"/>
              </a:xfrm>
              <a:custGeom>
                <a:avLst/>
                <a:gdLst>
                  <a:gd name="connsiteX0" fmla="*/ 0 w 53853"/>
                  <a:gd name="connsiteY0" fmla="*/ 22439 h 22438"/>
                  <a:gd name="connsiteX1" fmla="*/ 53853 w 53853"/>
                  <a:gd name="connsiteY1" fmla="*/ 0 h 22438"/>
                </a:gdLst>
                <a:ahLst/>
                <a:cxnLst>
                  <a:cxn ang="0">
                    <a:pos x="connsiteX0" y="connsiteY0"/>
                  </a:cxn>
                  <a:cxn ang="0">
                    <a:pos x="connsiteX1" y="connsiteY1"/>
                  </a:cxn>
                </a:cxnLst>
                <a:rect l="l" t="t" r="r" b="b"/>
                <a:pathLst>
                  <a:path w="53853" h="22438">
                    <a:moveTo>
                      <a:pt x="0" y="22439"/>
                    </a:moveTo>
                    <a:lnTo>
                      <a:pt x="53853" y="0"/>
                    </a:lnTo>
                  </a:path>
                </a:pathLst>
              </a:custGeom>
              <a:ln w="15875" cap="flat">
                <a:solidFill>
                  <a:srgbClr val="624FFD"/>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25" name="Freeform: Shape 224">
                <a:extLst>
                  <a:ext uri="{FF2B5EF4-FFF2-40B4-BE49-F238E27FC236}">
                    <a16:creationId xmlns:a16="http://schemas.microsoft.com/office/drawing/2014/main" id="{C14CB893-B173-C107-4F31-4F6500404149}"/>
                  </a:ext>
                </a:extLst>
              </p:cNvPr>
              <p:cNvSpPr/>
              <p:nvPr/>
            </p:nvSpPr>
            <p:spPr>
              <a:xfrm>
                <a:off x="8161706" y="2947148"/>
                <a:ext cx="53853" cy="22438"/>
              </a:xfrm>
              <a:custGeom>
                <a:avLst/>
                <a:gdLst>
                  <a:gd name="connsiteX0" fmla="*/ 0 w 53853"/>
                  <a:gd name="connsiteY0" fmla="*/ 0 h 22438"/>
                  <a:gd name="connsiteX1" fmla="*/ 53853 w 53853"/>
                  <a:gd name="connsiteY1" fmla="*/ 22439 h 22438"/>
                </a:gdLst>
                <a:ahLst/>
                <a:cxnLst>
                  <a:cxn ang="0">
                    <a:pos x="connsiteX0" y="connsiteY0"/>
                  </a:cxn>
                  <a:cxn ang="0">
                    <a:pos x="connsiteX1" y="connsiteY1"/>
                  </a:cxn>
                </a:cxnLst>
                <a:rect l="l" t="t" r="r" b="b"/>
                <a:pathLst>
                  <a:path w="53853" h="22438">
                    <a:moveTo>
                      <a:pt x="0" y="0"/>
                    </a:moveTo>
                    <a:lnTo>
                      <a:pt x="53853" y="22439"/>
                    </a:lnTo>
                  </a:path>
                </a:pathLst>
              </a:custGeom>
              <a:ln w="15875" cap="flat">
                <a:solidFill>
                  <a:srgbClr val="624FFD"/>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26" name="Freeform: Shape 225">
                <a:extLst>
                  <a:ext uri="{FF2B5EF4-FFF2-40B4-BE49-F238E27FC236}">
                    <a16:creationId xmlns:a16="http://schemas.microsoft.com/office/drawing/2014/main" id="{57EFCA75-E908-E222-7C49-54DDFF57E18A}"/>
                  </a:ext>
                </a:extLst>
              </p:cNvPr>
              <p:cNvSpPr/>
              <p:nvPr/>
            </p:nvSpPr>
            <p:spPr>
              <a:xfrm>
                <a:off x="8523867" y="3097487"/>
                <a:ext cx="53853" cy="21989"/>
              </a:xfrm>
              <a:custGeom>
                <a:avLst/>
                <a:gdLst>
                  <a:gd name="connsiteX0" fmla="*/ 0 w 53853"/>
                  <a:gd name="connsiteY0" fmla="*/ 0 h 21989"/>
                  <a:gd name="connsiteX1" fmla="*/ 53853 w 53853"/>
                  <a:gd name="connsiteY1" fmla="*/ 21990 h 21989"/>
                </a:gdLst>
                <a:ahLst/>
                <a:cxnLst>
                  <a:cxn ang="0">
                    <a:pos x="connsiteX0" y="connsiteY0"/>
                  </a:cxn>
                  <a:cxn ang="0">
                    <a:pos x="connsiteX1" y="connsiteY1"/>
                  </a:cxn>
                </a:cxnLst>
                <a:rect l="l" t="t" r="r" b="b"/>
                <a:pathLst>
                  <a:path w="53853" h="21989">
                    <a:moveTo>
                      <a:pt x="0" y="0"/>
                    </a:moveTo>
                    <a:lnTo>
                      <a:pt x="53853" y="21990"/>
                    </a:lnTo>
                  </a:path>
                </a:pathLst>
              </a:custGeom>
              <a:ln w="15875" cap="flat">
                <a:solidFill>
                  <a:srgbClr val="624FFD"/>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27" name="Freeform: Shape 226">
                <a:extLst>
                  <a:ext uri="{FF2B5EF4-FFF2-40B4-BE49-F238E27FC236}">
                    <a16:creationId xmlns:a16="http://schemas.microsoft.com/office/drawing/2014/main" id="{0EF50E84-922D-B712-7961-EA9087B5FA14}"/>
                  </a:ext>
                </a:extLst>
              </p:cNvPr>
              <p:cNvSpPr/>
              <p:nvPr/>
            </p:nvSpPr>
            <p:spPr>
              <a:xfrm>
                <a:off x="8433663" y="2825530"/>
                <a:ext cx="21989" cy="53852"/>
              </a:xfrm>
              <a:custGeom>
                <a:avLst/>
                <a:gdLst>
                  <a:gd name="connsiteX0" fmla="*/ 0 w 21989"/>
                  <a:gd name="connsiteY0" fmla="*/ 53853 h 53852"/>
                  <a:gd name="connsiteX1" fmla="*/ 21990 w 21989"/>
                  <a:gd name="connsiteY1" fmla="*/ 0 h 53852"/>
                </a:gdLst>
                <a:ahLst/>
                <a:cxnLst>
                  <a:cxn ang="0">
                    <a:pos x="connsiteX0" y="connsiteY0"/>
                  </a:cxn>
                  <a:cxn ang="0">
                    <a:pos x="connsiteX1" y="connsiteY1"/>
                  </a:cxn>
                </a:cxnLst>
                <a:rect l="l" t="t" r="r" b="b"/>
                <a:pathLst>
                  <a:path w="21989" h="53852">
                    <a:moveTo>
                      <a:pt x="0" y="53853"/>
                    </a:moveTo>
                    <a:lnTo>
                      <a:pt x="21990" y="0"/>
                    </a:lnTo>
                  </a:path>
                </a:pathLst>
              </a:custGeom>
              <a:ln w="15875" cap="flat">
                <a:solidFill>
                  <a:srgbClr val="624FFD"/>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28" name="Freeform: Shape 227">
                <a:extLst>
                  <a:ext uri="{FF2B5EF4-FFF2-40B4-BE49-F238E27FC236}">
                    <a16:creationId xmlns:a16="http://schemas.microsoft.com/office/drawing/2014/main" id="{95C1993E-A921-E71B-7594-90F5818EF6E0}"/>
                  </a:ext>
                </a:extLst>
              </p:cNvPr>
              <p:cNvSpPr/>
              <p:nvPr/>
            </p:nvSpPr>
            <p:spPr>
              <a:xfrm>
                <a:off x="8312494" y="3220900"/>
                <a:ext cx="114023" cy="17053"/>
              </a:xfrm>
              <a:custGeom>
                <a:avLst/>
                <a:gdLst>
                  <a:gd name="connsiteX0" fmla="*/ 105462 w 114023"/>
                  <a:gd name="connsiteY0" fmla="*/ 17053 h 17053"/>
                  <a:gd name="connsiteX1" fmla="*/ 8527 w 114023"/>
                  <a:gd name="connsiteY1" fmla="*/ 17053 h 17053"/>
                  <a:gd name="connsiteX2" fmla="*/ 0 w 114023"/>
                  <a:gd name="connsiteY2" fmla="*/ 8527 h 17053"/>
                  <a:gd name="connsiteX3" fmla="*/ 0 w 114023"/>
                  <a:gd name="connsiteY3" fmla="*/ 8527 h 17053"/>
                  <a:gd name="connsiteX4" fmla="*/ 8527 w 114023"/>
                  <a:gd name="connsiteY4" fmla="*/ 0 h 17053"/>
                  <a:gd name="connsiteX5" fmla="*/ 105462 w 114023"/>
                  <a:gd name="connsiteY5" fmla="*/ 0 h 17053"/>
                  <a:gd name="connsiteX6" fmla="*/ 113989 w 114023"/>
                  <a:gd name="connsiteY6" fmla="*/ 8527 h 17053"/>
                  <a:gd name="connsiteX7" fmla="*/ 113989 w 114023"/>
                  <a:gd name="connsiteY7" fmla="*/ 8527 h 17053"/>
                  <a:gd name="connsiteX8" fmla="*/ 105462 w 114023"/>
                  <a:gd name="connsiteY8" fmla="*/ 17053 h 1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023" h="17053">
                    <a:moveTo>
                      <a:pt x="105462" y="17053"/>
                    </a:moveTo>
                    <a:lnTo>
                      <a:pt x="8527" y="17053"/>
                    </a:lnTo>
                    <a:cubicBezTo>
                      <a:pt x="3590" y="17053"/>
                      <a:pt x="0" y="13014"/>
                      <a:pt x="0" y="8527"/>
                    </a:cubicBezTo>
                    <a:lnTo>
                      <a:pt x="0" y="8527"/>
                    </a:lnTo>
                    <a:cubicBezTo>
                      <a:pt x="0" y="3590"/>
                      <a:pt x="4039" y="0"/>
                      <a:pt x="8527" y="0"/>
                    </a:cubicBezTo>
                    <a:lnTo>
                      <a:pt x="105462" y="0"/>
                    </a:lnTo>
                    <a:cubicBezTo>
                      <a:pt x="110399" y="0"/>
                      <a:pt x="113989" y="4039"/>
                      <a:pt x="113989" y="8527"/>
                    </a:cubicBezTo>
                    <a:lnTo>
                      <a:pt x="113989" y="8527"/>
                    </a:lnTo>
                    <a:cubicBezTo>
                      <a:pt x="114438" y="13014"/>
                      <a:pt x="110399" y="17053"/>
                      <a:pt x="105462" y="17053"/>
                    </a:cubicBezTo>
                    <a:close/>
                  </a:path>
                </a:pathLst>
              </a:custGeom>
              <a:noFill/>
              <a:ln w="1587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29" name="Freeform: Shape 228">
                <a:extLst>
                  <a:ext uri="{FF2B5EF4-FFF2-40B4-BE49-F238E27FC236}">
                    <a16:creationId xmlns:a16="http://schemas.microsoft.com/office/drawing/2014/main" id="{7A77B989-5E2D-A814-FADA-D991D93D55E2}"/>
                  </a:ext>
                </a:extLst>
              </p:cNvPr>
              <p:cNvSpPr/>
              <p:nvPr/>
            </p:nvSpPr>
            <p:spPr>
              <a:xfrm>
                <a:off x="8312494" y="3251417"/>
                <a:ext cx="114023" cy="17053"/>
              </a:xfrm>
              <a:custGeom>
                <a:avLst/>
                <a:gdLst>
                  <a:gd name="connsiteX0" fmla="*/ 105462 w 114023"/>
                  <a:gd name="connsiteY0" fmla="*/ 17053 h 17053"/>
                  <a:gd name="connsiteX1" fmla="*/ 8527 w 114023"/>
                  <a:gd name="connsiteY1" fmla="*/ 17053 h 17053"/>
                  <a:gd name="connsiteX2" fmla="*/ 0 w 114023"/>
                  <a:gd name="connsiteY2" fmla="*/ 8527 h 17053"/>
                  <a:gd name="connsiteX3" fmla="*/ 0 w 114023"/>
                  <a:gd name="connsiteY3" fmla="*/ 8527 h 17053"/>
                  <a:gd name="connsiteX4" fmla="*/ 8527 w 114023"/>
                  <a:gd name="connsiteY4" fmla="*/ 0 h 17053"/>
                  <a:gd name="connsiteX5" fmla="*/ 105462 w 114023"/>
                  <a:gd name="connsiteY5" fmla="*/ 0 h 17053"/>
                  <a:gd name="connsiteX6" fmla="*/ 113989 w 114023"/>
                  <a:gd name="connsiteY6" fmla="*/ 8527 h 17053"/>
                  <a:gd name="connsiteX7" fmla="*/ 113989 w 114023"/>
                  <a:gd name="connsiteY7" fmla="*/ 8527 h 17053"/>
                  <a:gd name="connsiteX8" fmla="*/ 105462 w 114023"/>
                  <a:gd name="connsiteY8" fmla="*/ 17053 h 1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023" h="17053">
                    <a:moveTo>
                      <a:pt x="105462" y="17053"/>
                    </a:moveTo>
                    <a:lnTo>
                      <a:pt x="8527" y="17053"/>
                    </a:lnTo>
                    <a:cubicBezTo>
                      <a:pt x="3590" y="17053"/>
                      <a:pt x="0" y="13014"/>
                      <a:pt x="0" y="8527"/>
                    </a:cubicBezTo>
                    <a:lnTo>
                      <a:pt x="0" y="8527"/>
                    </a:lnTo>
                    <a:cubicBezTo>
                      <a:pt x="0" y="3590"/>
                      <a:pt x="4039" y="0"/>
                      <a:pt x="8527" y="0"/>
                    </a:cubicBezTo>
                    <a:lnTo>
                      <a:pt x="105462" y="0"/>
                    </a:lnTo>
                    <a:cubicBezTo>
                      <a:pt x="110399" y="0"/>
                      <a:pt x="113989" y="4039"/>
                      <a:pt x="113989" y="8527"/>
                    </a:cubicBezTo>
                    <a:lnTo>
                      <a:pt x="113989" y="8527"/>
                    </a:lnTo>
                    <a:cubicBezTo>
                      <a:pt x="114438" y="13463"/>
                      <a:pt x="110399" y="17053"/>
                      <a:pt x="105462" y="17053"/>
                    </a:cubicBezTo>
                    <a:close/>
                  </a:path>
                </a:pathLst>
              </a:custGeom>
              <a:noFill/>
              <a:ln w="1587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30" name="Freeform: Shape 229">
                <a:extLst>
                  <a:ext uri="{FF2B5EF4-FFF2-40B4-BE49-F238E27FC236}">
                    <a16:creationId xmlns:a16="http://schemas.microsoft.com/office/drawing/2014/main" id="{08A7AE76-4821-8F53-ED9F-A1EEC800E074}"/>
                  </a:ext>
                </a:extLst>
              </p:cNvPr>
              <p:cNvSpPr/>
              <p:nvPr/>
            </p:nvSpPr>
            <p:spPr>
              <a:xfrm>
                <a:off x="8342562" y="3282382"/>
                <a:ext cx="53853" cy="17053"/>
              </a:xfrm>
              <a:custGeom>
                <a:avLst/>
                <a:gdLst>
                  <a:gd name="connsiteX0" fmla="*/ 44878 w 53853"/>
                  <a:gd name="connsiteY0" fmla="*/ 17053 h 17053"/>
                  <a:gd name="connsiteX1" fmla="*/ 8976 w 53853"/>
                  <a:gd name="connsiteY1" fmla="*/ 17053 h 17053"/>
                  <a:gd name="connsiteX2" fmla="*/ 0 w 53853"/>
                  <a:gd name="connsiteY2" fmla="*/ 0 h 17053"/>
                  <a:gd name="connsiteX3" fmla="*/ 53853 w 53853"/>
                  <a:gd name="connsiteY3" fmla="*/ 0 h 17053"/>
                </a:gdLst>
                <a:ahLst/>
                <a:cxnLst>
                  <a:cxn ang="0">
                    <a:pos x="connsiteX0" y="connsiteY0"/>
                  </a:cxn>
                  <a:cxn ang="0">
                    <a:pos x="connsiteX1" y="connsiteY1"/>
                  </a:cxn>
                  <a:cxn ang="0">
                    <a:pos x="connsiteX2" y="connsiteY2"/>
                  </a:cxn>
                  <a:cxn ang="0">
                    <a:pos x="connsiteX3" y="connsiteY3"/>
                  </a:cxn>
                </a:cxnLst>
                <a:rect l="l" t="t" r="r" b="b"/>
                <a:pathLst>
                  <a:path w="53853" h="17053">
                    <a:moveTo>
                      <a:pt x="44878" y="17053"/>
                    </a:moveTo>
                    <a:lnTo>
                      <a:pt x="8976" y="17053"/>
                    </a:lnTo>
                    <a:lnTo>
                      <a:pt x="0" y="0"/>
                    </a:lnTo>
                    <a:lnTo>
                      <a:pt x="53853" y="0"/>
                    </a:lnTo>
                    <a:close/>
                  </a:path>
                </a:pathLst>
              </a:custGeom>
              <a:noFill/>
              <a:ln w="1587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219" name="Freeform: Shape 218">
                <a:extLst>
                  <a:ext uri="{FF2B5EF4-FFF2-40B4-BE49-F238E27FC236}">
                    <a16:creationId xmlns:a16="http://schemas.microsoft.com/office/drawing/2014/main" id="{75C26284-D7B7-DF73-23FF-8AB57725D938}"/>
                  </a:ext>
                </a:extLst>
              </p:cNvPr>
              <p:cNvSpPr/>
              <p:nvPr/>
            </p:nvSpPr>
            <p:spPr>
              <a:xfrm>
                <a:off x="8237100" y="2902270"/>
                <a:ext cx="265226" cy="305166"/>
              </a:xfrm>
              <a:custGeom>
                <a:avLst/>
                <a:gdLst>
                  <a:gd name="connsiteX0" fmla="*/ 265226 w 265226"/>
                  <a:gd name="connsiteY0" fmla="*/ 132389 h 305166"/>
                  <a:gd name="connsiteX1" fmla="*/ 132837 w 265226"/>
                  <a:gd name="connsiteY1" fmla="*/ 0 h 305166"/>
                  <a:gd name="connsiteX2" fmla="*/ 0 w 265226"/>
                  <a:gd name="connsiteY2" fmla="*/ 132389 h 305166"/>
                  <a:gd name="connsiteX3" fmla="*/ 75394 w 265226"/>
                  <a:gd name="connsiteY3" fmla="*/ 251763 h 305166"/>
                  <a:gd name="connsiteX4" fmla="*/ 75394 w 265226"/>
                  <a:gd name="connsiteY4" fmla="*/ 305167 h 305166"/>
                  <a:gd name="connsiteX5" fmla="*/ 189832 w 265226"/>
                  <a:gd name="connsiteY5" fmla="*/ 305167 h 305166"/>
                  <a:gd name="connsiteX6" fmla="*/ 189832 w 265226"/>
                  <a:gd name="connsiteY6" fmla="*/ 251763 h 305166"/>
                  <a:gd name="connsiteX7" fmla="*/ 265226 w 265226"/>
                  <a:gd name="connsiteY7" fmla="*/ 132389 h 30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5226" h="305166">
                    <a:moveTo>
                      <a:pt x="265226" y="132389"/>
                    </a:moveTo>
                    <a:cubicBezTo>
                      <a:pt x="265226" y="59238"/>
                      <a:pt x="205988" y="0"/>
                      <a:pt x="132837" y="0"/>
                    </a:cubicBezTo>
                    <a:cubicBezTo>
                      <a:pt x="59687" y="0"/>
                      <a:pt x="0" y="59238"/>
                      <a:pt x="0" y="132389"/>
                    </a:cubicBezTo>
                    <a:cubicBezTo>
                      <a:pt x="0" y="184895"/>
                      <a:pt x="30965" y="230221"/>
                      <a:pt x="75394" y="251763"/>
                    </a:cubicBezTo>
                    <a:lnTo>
                      <a:pt x="75394" y="305167"/>
                    </a:lnTo>
                    <a:lnTo>
                      <a:pt x="189832" y="305167"/>
                    </a:lnTo>
                    <a:lnTo>
                      <a:pt x="189832" y="251763"/>
                    </a:lnTo>
                    <a:cubicBezTo>
                      <a:pt x="234261" y="230221"/>
                      <a:pt x="265226" y="184895"/>
                      <a:pt x="265226" y="132389"/>
                    </a:cubicBezTo>
                    <a:close/>
                  </a:path>
                </a:pathLst>
              </a:custGeom>
              <a:noFill/>
              <a:ln w="15875"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32F3E"/>
                  </a:solidFill>
                  <a:effectLst/>
                  <a:uLnTx/>
                  <a:uFillTx/>
                  <a:latin typeface="Amazon Ember Light"/>
                  <a:ea typeface="+mn-ea"/>
                  <a:cs typeface="+mn-cs"/>
                </a:endParaRPr>
              </a:p>
            </p:txBody>
          </p:sp>
        </p:grpSp>
      </p:grpSp>
    </p:spTree>
    <p:extLst>
      <p:ext uri="{BB962C8B-B14F-4D97-AF65-F5344CB8AC3E}">
        <p14:creationId xmlns:p14="http://schemas.microsoft.com/office/powerpoint/2010/main" val="793101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shot of human evaluation report on Bedrock, with two distributions of ratings by human evaluators of the output of two different models.">
            <a:extLst>
              <a:ext uri="{FF2B5EF4-FFF2-40B4-BE49-F238E27FC236}">
                <a16:creationId xmlns:a16="http://schemas.microsoft.com/office/drawing/2014/main" id="{1EEB8CCD-AA59-7A48-A2CC-622140389FAA}"/>
              </a:ext>
            </a:extLst>
          </p:cNvPr>
          <p:cNvPicPr>
            <a:picLocks noChangeAspect="1"/>
          </p:cNvPicPr>
          <p:nvPr/>
        </p:nvPicPr>
        <p:blipFill>
          <a:blip r:embed="rId3"/>
          <a:stretch>
            <a:fillRect/>
          </a:stretch>
        </p:blipFill>
        <p:spPr>
          <a:xfrm>
            <a:off x="56426" y="1525093"/>
            <a:ext cx="11241490" cy="5263979"/>
          </a:xfrm>
          <a:prstGeom prst="rect">
            <a:avLst/>
          </a:prstGeom>
        </p:spPr>
      </p:pic>
      <p:sp>
        <p:nvSpPr>
          <p:cNvPr id="2" name="Slide Number Placeholder 1">
            <a:extLst>
              <a:ext uri="{FF2B5EF4-FFF2-40B4-BE49-F238E27FC236}">
                <a16:creationId xmlns:a16="http://schemas.microsoft.com/office/drawing/2014/main" id="{25433A60-DC4A-555A-4102-DE8FCF6246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13A35D-97EF-7A48-AACF-97D95E22C11E}" type="slidenum">
              <a:rPr kumimoji="0" lang="en-US" sz="1400" b="0" i="0" u="none" strike="noStrike" kern="1200" cap="none" spc="0" normalizeH="0" baseline="0" noProof="0" smtClean="0">
                <a:ln>
                  <a:noFill/>
                </a:ln>
                <a:solidFill>
                  <a:srgbClr val="232F3E"/>
                </a:solidFill>
                <a:effectLst/>
                <a:uLnTx/>
                <a:uFillTx/>
                <a:latin typeface="Amazon Ember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dirty="0">
              <a:ln>
                <a:noFill/>
              </a:ln>
              <a:solidFill>
                <a:srgbClr val="232F3E"/>
              </a:solidFill>
              <a:effectLst/>
              <a:uLnTx/>
              <a:uFillTx/>
              <a:latin typeface="Amazon Ember Light"/>
              <a:ea typeface="+mn-ea"/>
              <a:cs typeface="+mn-cs"/>
            </a:endParaRPr>
          </a:p>
        </p:txBody>
      </p:sp>
      <p:sp>
        <p:nvSpPr>
          <p:cNvPr id="3" name="Title 2">
            <a:extLst>
              <a:ext uri="{FF2B5EF4-FFF2-40B4-BE49-F238E27FC236}">
                <a16:creationId xmlns:a16="http://schemas.microsoft.com/office/drawing/2014/main" id="{249A6C2A-9D0C-7A41-42BC-E60D531EB175}"/>
              </a:ext>
            </a:extLst>
          </p:cNvPr>
          <p:cNvSpPr>
            <a:spLocks noGrp="1"/>
          </p:cNvSpPr>
          <p:nvPr>
            <p:ph type="title"/>
          </p:nvPr>
        </p:nvSpPr>
        <p:spPr/>
        <p:txBody>
          <a:bodyPr/>
          <a:lstStyle/>
          <a:p>
            <a:r>
              <a:rPr lang="en-US" altLang="en-US" dirty="0"/>
              <a:t>Analyze results</a:t>
            </a:r>
            <a:endParaRPr lang="en-DE" dirty="0"/>
          </a:p>
        </p:txBody>
      </p:sp>
      <p:sp>
        <p:nvSpPr>
          <p:cNvPr id="5" name="Content Placeholder 2">
            <a:extLst>
              <a:ext uri="{FF2B5EF4-FFF2-40B4-BE49-F238E27FC236}">
                <a16:creationId xmlns:a16="http://schemas.microsoft.com/office/drawing/2014/main" id="{DAD2D1F6-7A43-B17E-8A8F-EE2DA275A571}"/>
              </a:ext>
            </a:extLst>
          </p:cNvPr>
          <p:cNvSpPr txBox="1">
            <a:spLocks/>
          </p:cNvSpPr>
          <p:nvPr/>
        </p:nvSpPr>
        <p:spPr>
          <a:xfrm>
            <a:off x="9156961" y="2933476"/>
            <a:ext cx="2831839" cy="1367592"/>
          </a:xfrm>
          <a:prstGeom prst="rect">
            <a:avLst/>
          </a:prstGeom>
          <a:ln>
            <a:solidFill>
              <a:schemeClr val="accent1"/>
            </a:solidFill>
          </a:ln>
          <a:effectLst>
            <a:outerShdw blurRad="50800" dist="38100" dir="2700000" algn="tl" rotWithShape="0">
              <a:prstClr val="black">
                <a:alpha val="40000"/>
              </a:prstClr>
            </a:outerShdw>
          </a:effectLst>
        </p:spPr>
        <p:txBody>
          <a:bodyPr vert="horz" lIns="91440" tIns="45720" rIns="91440" bIns="45720" rtlCol="0">
            <a:noAutofit/>
          </a:bodyPr>
          <a:lstStyle>
            <a:lvl1pPr marL="344488" marR="0" indent="-344488" algn="l" defTabSz="91440" rtl="0" eaLnBrk="1" fontAlgn="auto" latinLnBrk="0" hangingPunct="1">
              <a:lnSpc>
                <a:spcPct val="100000"/>
              </a:lnSpc>
              <a:spcBef>
                <a:spcPts val="0"/>
              </a:spcBef>
              <a:spcAft>
                <a:spcPts val="600"/>
              </a:spcAft>
              <a:buClr>
                <a:srgbClr val="1D212E"/>
              </a:buClr>
              <a:buSzPct val="100000"/>
              <a:buFontTx/>
              <a:buBlip>
                <a:blip r:embed="rId4">
                  <a:extLst>
                    <a:ext uri="{96DAC541-7B7A-43D3-8B79-37D633B846F1}">
                      <asvg:svgBlip xmlns:asvg="http://schemas.microsoft.com/office/drawing/2016/SVG/main" r:embed="rId5"/>
                    </a:ext>
                  </a:extLst>
                </a:blip>
              </a:buBlip>
              <a:tabLst>
                <a:tab pos="227013" algn="l"/>
              </a:tabLst>
              <a:defRPr sz="28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27063" marR="0" indent="-282575" algn="l" defTabSz="1143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defRPr sz="24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914400" marR="0" indent="-225425" algn="l" defTabSz="914400" rtl="0" eaLnBrk="1" fontAlgn="auto" latinLnBrk="0" hangingPunct="1">
              <a:lnSpc>
                <a:spcPct val="100000"/>
              </a:lnSpc>
              <a:spcBef>
                <a:spcPts val="0"/>
              </a:spcBef>
              <a:spcAft>
                <a:spcPts val="600"/>
              </a:spcAft>
              <a:buClr>
                <a:srgbClr val="1D212E"/>
              </a:buClr>
              <a:buSzTx/>
              <a:buFont typeface="Amazon Ember Light" panose="020B0403020204020204" pitchFamily="34" charset="0"/>
              <a:buChar char="»"/>
              <a:tabLst>
                <a:tab pos="91440" algn="l"/>
              </a:tabLst>
              <a:defRPr sz="20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201738" marR="0" indent="-231775" algn="l" defTabSz="914400" rtl="0" eaLnBrk="1" fontAlgn="auto" latinLnBrk="0" hangingPunct="1">
              <a:lnSpc>
                <a:spcPct val="100000"/>
              </a:lnSpc>
              <a:spcBef>
                <a:spcPts val="0"/>
              </a:spcBef>
              <a:spcAft>
                <a:spcPts val="400"/>
              </a:spcAft>
              <a:buClr>
                <a:srgbClr val="1D212E"/>
              </a:buClr>
              <a:buSzTx/>
              <a:buFont typeface="Amazon Ember Light" panose="020B0403020204020204" pitchFamily="34" charset="0"/>
              <a:buChar char="»"/>
              <a:tabLst>
                <a:tab pos="91440" algn="l"/>
              </a:tabLst>
              <a:defRPr sz="1800" kern="1200" baseline="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 rtl="0" eaLnBrk="1" latinLnBrk="0" hangingPunct="1">
              <a:lnSpc>
                <a:spcPct val="90000"/>
              </a:lnSpc>
              <a:spcBef>
                <a:spcPts val="500"/>
              </a:spcBef>
              <a:buClr>
                <a:srgbClr val="1D212E"/>
              </a:buClr>
              <a:buFont typeface="System Font Regular"/>
              <a:buNone/>
              <a:tabLst>
                <a:tab pos="91440" algn="l"/>
              </a:tabLst>
              <a:defRPr sz="1200" kern="1200" baseline="0">
                <a:solidFill>
                  <a:schemeClr val="tx1"/>
                </a:solidFill>
                <a:latin typeface="Amazon Ember Display Medium"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 rtl="0" eaLnBrk="1" fontAlgn="auto" latinLnBrk="0" hangingPunct="1">
              <a:lnSpc>
                <a:spcPct val="100000"/>
              </a:lnSpc>
              <a:spcBef>
                <a:spcPts val="0"/>
              </a:spcBef>
              <a:spcAft>
                <a:spcPts val="600"/>
              </a:spcAft>
              <a:buClr>
                <a:srgbClr val="1D212E"/>
              </a:buClr>
              <a:buSzPct val="100000"/>
              <a:buFontTx/>
              <a:buNone/>
              <a:tabLst>
                <a:tab pos="227013" algn="l"/>
              </a:tabLst>
              <a:defRPr/>
            </a:pPr>
            <a:r>
              <a:rPr kumimoji="0" lang="en-US" sz="1400" b="0"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Evaluation report: </a:t>
            </a:r>
          </a:p>
          <a:p>
            <a:pPr marL="344488" marR="0" lvl="0" indent="-344488" algn="l" defTabSz="91440" rtl="0" eaLnBrk="1" fontAlgn="auto" latinLnBrk="0" hangingPunct="1">
              <a:lnSpc>
                <a:spcPct val="100000"/>
              </a:lnSpc>
              <a:spcBef>
                <a:spcPts val="0"/>
              </a:spcBef>
              <a:spcAft>
                <a:spcPts val="600"/>
              </a:spcAft>
              <a:buClr>
                <a:srgbClr val="1D212E"/>
              </a:buClr>
              <a:buSzPct val="100000"/>
              <a:buFont typeface="Wingdings" pitchFamily="2" charset="2"/>
              <a:buChar char="ü"/>
              <a:tabLst>
                <a:tab pos="227013" algn="l"/>
              </a:tabLst>
              <a:defRPr/>
            </a:pPr>
            <a:r>
              <a:rPr kumimoji="0" lang="en-US" sz="1400" b="0"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Track ratings from your team</a:t>
            </a:r>
          </a:p>
          <a:p>
            <a:pPr marL="344488" marR="0" lvl="0" indent="-344488" algn="l" defTabSz="91440" rtl="0" eaLnBrk="1" fontAlgn="auto" latinLnBrk="0" hangingPunct="1">
              <a:lnSpc>
                <a:spcPct val="100000"/>
              </a:lnSpc>
              <a:spcBef>
                <a:spcPts val="0"/>
              </a:spcBef>
              <a:spcAft>
                <a:spcPts val="600"/>
              </a:spcAft>
              <a:buClr>
                <a:srgbClr val="1D212E"/>
              </a:buClr>
              <a:buSzPct val="100000"/>
              <a:buFont typeface="Wingdings" pitchFamily="2" charset="2"/>
              <a:buChar char="ü"/>
              <a:tabLst>
                <a:tab pos="227013" algn="l"/>
              </a:tabLst>
              <a:defRPr/>
            </a:pPr>
            <a:r>
              <a:rPr kumimoji="0" lang="en-US" sz="1400" b="0"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See distributions visually</a:t>
            </a:r>
          </a:p>
          <a:p>
            <a:pPr marL="344488" marR="0" lvl="0" indent="-344488" algn="l" defTabSz="91440" rtl="0" eaLnBrk="1" fontAlgn="auto" latinLnBrk="0" hangingPunct="1">
              <a:lnSpc>
                <a:spcPct val="100000"/>
              </a:lnSpc>
              <a:spcBef>
                <a:spcPts val="0"/>
              </a:spcBef>
              <a:spcAft>
                <a:spcPts val="600"/>
              </a:spcAft>
              <a:buClr>
                <a:srgbClr val="1D212E"/>
              </a:buClr>
              <a:buSzPct val="100000"/>
              <a:buFont typeface="Wingdings" pitchFamily="2" charset="2"/>
              <a:buChar char="ü"/>
              <a:tabLst>
                <a:tab pos="227013" algn="l"/>
              </a:tabLst>
              <a:defRPr/>
            </a:pPr>
            <a:r>
              <a:rPr kumimoji="0" lang="en-US" sz="1400" b="0"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Simple metric explanations</a:t>
            </a:r>
          </a:p>
          <a:p>
            <a:pPr marL="0" marR="0" lvl="0" indent="0" algn="l" defTabSz="91440" rtl="0" eaLnBrk="1" fontAlgn="auto" latinLnBrk="0" hangingPunct="1">
              <a:lnSpc>
                <a:spcPct val="100000"/>
              </a:lnSpc>
              <a:spcBef>
                <a:spcPts val="0"/>
              </a:spcBef>
              <a:spcAft>
                <a:spcPts val="600"/>
              </a:spcAft>
              <a:buClr>
                <a:srgbClr val="1D212E"/>
              </a:buClr>
              <a:buSzPct val="100000"/>
              <a:buFontTx/>
              <a:buNone/>
              <a:tabLst>
                <a:tab pos="227013" algn="l"/>
              </a:tabLst>
              <a:defRPr/>
            </a:pPr>
            <a:endParaRPr kumimoji="0" lang="en-DE" sz="2400" b="0" i="0" u="none" strike="noStrike" kern="1200" cap="none" spc="0" normalizeH="0" baseline="0" noProof="0" dirty="0">
              <a:ln>
                <a:noFill/>
              </a:ln>
              <a:solidFill>
                <a:srgbClr val="232F3E"/>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2135370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0EF2D4-4E33-4639-9303-EF711B381B8B}"/>
              </a:ext>
            </a:extLst>
          </p:cNvPr>
          <p:cNvSpPr>
            <a:spLocks noGrp="1"/>
          </p:cNvSpPr>
          <p:nvPr>
            <p:ph type="sldNum" idx="97"/>
          </p:nvPr>
        </p:nvSpPr>
        <p:spPr/>
        <p:txBody>
          <a:bodyPr/>
          <a:lstStyle/>
          <a:p>
            <a:fld id="{86A8BF56-6CB3-514C-9A64-F39D95C9E25B}" type="slidenum">
              <a:rPr lang="en-US" smtClean="0"/>
              <a:pPr/>
              <a:t>27</a:t>
            </a:fld>
            <a:endParaRPr lang="en-US" dirty="0"/>
          </a:p>
        </p:txBody>
      </p:sp>
      <p:sp>
        <p:nvSpPr>
          <p:cNvPr id="2" name="Title 1">
            <a:extLst>
              <a:ext uri="{FF2B5EF4-FFF2-40B4-BE49-F238E27FC236}">
                <a16:creationId xmlns:a16="http://schemas.microsoft.com/office/drawing/2014/main" id="{A37AED68-493B-AC57-ED89-D2D178E4ECB9}"/>
              </a:ext>
            </a:extLst>
          </p:cNvPr>
          <p:cNvSpPr>
            <a:spLocks noGrp="1"/>
          </p:cNvSpPr>
          <p:nvPr>
            <p:ph type="title" idx="1"/>
          </p:nvPr>
        </p:nvSpPr>
        <p:spPr/>
        <p:txBody>
          <a:bodyPr/>
          <a:lstStyle/>
          <a:p>
            <a:r>
              <a:rPr lang="en-US" dirty="0"/>
              <a:t>Next lesson</a:t>
            </a:r>
          </a:p>
        </p:txBody>
      </p:sp>
      <p:sp>
        <p:nvSpPr>
          <p:cNvPr id="4" name="Content Placeholder 5">
            <a:extLst>
              <a:ext uri="{FF2B5EF4-FFF2-40B4-BE49-F238E27FC236}">
                <a16:creationId xmlns:a16="http://schemas.microsoft.com/office/drawing/2014/main" id="{0FFF8176-240D-94A8-6114-62857B0123DF}"/>
              </a:ext>
            </a:extLst>
          </p:cNvPr>
          <p:cNvSpPr>
            <a:spLocks noGrp="1"/>
          </p:cNvSpPr>
          <p:nvPr>
            <p:ph idx="2"/>
          </p:nvPr>
        </p:nvSpPr>
        <p:spPr>
          <a:xfrm>
            <a:off x="365760" y="1165536"/>
            <a:ext cx="11466576" cy="2128853"/>
          </a:xfrm>
        </p:spPr>
        <p:txBody>
          <a:bodyPr/>
          <a:lstStyle/>
          <a:p>
            <a:r>
              <a:rPr lang="en-US" dirty="0"/>
              <a:t>This lesson covered topics related to evaluation of LLMs</a:t>
            </a:r>
          </a:p>
          <a:p>
            <a:r>
              <a:rPr lang="en-US" dirty="0"/>
              <a:t>In the next lesson, you will learn about foundations of responsible AI.</a:t>
            </a:r>
          </a:p>
        </p:txBody>
      </p:sp>
      <p:pic>
        <p:nvPicPr>
          <p:cNvPr id="22" name="Picture 21">
            <a:extLst>
              <a:ext uri="{FF2B5EF4-FFF2-40B4-BE49-F238E27FC236}">
                <a16:creationId xmlns:a16="http://schemas.microsoft.com/office/drawing/2014/main" id="{5D21BB7E-05A4-45DA-82D9-FAEF3F63857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58405" y="3563611"/>
            <a:ext cx="2475191" cy="2261812"/>
          </a:xfrm>
          <a:prstGeom prst="rect">
            <a:avLst/>
          </a:prstGeom>
        </p:spPr>
      </p:pic>
    </p:spTree>
    <p:extLst>
      <p:ext uri="{BB962C8B-B14F-4D97-AF65-F5344CB8AC3E}">
        <p14:creationId xmlns:p14="http://schemas.microsoft.com/office/powerpoint/2010/main" val="563027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B4AA4-CEC0-189B-3D62-7CAC1F84922E}"/>
              </a:ext>
            </a:extLst>
          </p:cNvPr>
          <p:cNvSpPr>
            <a:spLocks noGrp="1"/>
          </p:cNvSpPr>
          <p:nvPr>
            <p:ph type="sldNum" idx="97"/>
          </p:nvPr>
        </p:nvSpPr>
        <p:spPr/>
        <p:txBody>
          <a:bodyPr/>
          <a:lstStyle/>
          <a:p>
            <a:fld id="{86A8BF56-6CB3-514C-9A64-F39D95C9E25B}" type="slidenum">
              <a:rPr lang="en-US" smtClean="0"/>
              <a:t>28</a:t>
            </a:fld>
            <a:endParaRPr lang="en-US"/>
          </a:p>
        </p:txBody>
      </p:sp>
    </p:spTree>
    <p:extLst>
      <p:ext uri="{BB962C8B-B14F-4D97-AF65-F5344CB8AC3E}">
        <p14:creationId xmlns:p14="http://schemas.microsoft.com/office/powerpoint/2010/main" val="2598545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7F5875-47BC-311A-F663-451CFFA936D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BE3D98-92CB-1096-A665-5E2BCCD71340}"/>
              </a:ext>
            </a:extLst>
          </p:cNvPr>
          <p:cNvSpPr>
            <a:spLocks noGrp="1"/>
          </p:cNvSpPr>
          <p:nvPr>
            <p:ph type="sldNum" idx="97"/>
          </p:nvPr>
        </p:nvSpPr>
        <p:spPr/>
        <p:txBody>
          <a:bodyPr/>
          <a:lstStyle/>
          <a:p>
            <a:fld id="{86A8BF56-6CB3-514C-9A64-F39D95C9E25B}" type="slidenum">
              <a:rPr lang="en-US" smtClean="0"/>
              <a:t>29</a:t>
            </a:fld>
            <a:endParaRPr lang="en-US"/>
          </a:p>
        </p:txBody>
      </p:sp>
      <p:sp>
        <p:nvSpPr>
          <p:cNvPr id="3" name="Title 2">
            <a:extLst>
              <a:ext uri="{FF2B5EF4-FFF2-40B4-BE49-F238E27FC236}">
                <a16:creationId xmlns:a16="http://schemas.microsoft.com/office/drawing/2014/main" id="{4D3197D8-8F03-D4D6-C888-16AFED00E32B}"/>
              </a:ext>
            </a:extLst>
          </p:cNvPr>
          <p:cNvSpPr>
            <a:spLocks noGrp="1"/>
          </p:cNvSpPr>
          <p:nvPr>
            <p:ph type="title" idx="1"/>
          </p:nvPr>
        </p:nvSpPr>
        <p:spPr/>
        <p:txBody>
          <a:bodyPr/>
          <a:lstStyle/>
          <a:p>
            <a:r>
              <a:rPr lang="en-US" dirty="0"/>
              <a:t>Spectrum of evaluation approaches</a:t>
            </a:r>
          </a:p>
        </p:txBody>
      </p:sp>
      <p:sp>
        <p:nvSpPr>
          <p:cNvPr id="5" name="Rounded Rectangle 4">
            <a:extLst>
              <a:ext uri="{FF2B5EF4-FFF2-40B4-BE49-F238E27FC236}">
                <a16:creationId xmlns:a16="http://schemas.microsoft.com/office/drawing/2014/main" id="{5D608090-3486-0754-CCCB-0261D93C68B3}"/>
              </a:ext>
              <a:ext uri="{C183D7F6-B498-43B3-948B-1728B52AA6E4}">
                <adec:decorative xmlns:adec="http://schemas.microsoft.com/office/drawing/2017/decorative" val="1"/>
              </a:ext>
            </a:extLst>
          </p:cNvPr>
          <p:cNvSpPr/>
          <p:nvPr/>
        </p:nvSpPr>
        <p:spPr>
          <a:xfrm>
            <a:off x="648227" y="2443828"/>
            <a:ext cx="11265877" cy="664476"/>
          </a:xfrm>
          <a:prstGeom prst="roundRect">
            <a:avLst/>
          </a:prstGeom>
          <a:gradFill flip="none" rotWithShape="1">
            <a:gsLst>
              <a:gs pos="51000">
                <a:schemeClr val="accent5">
                  <a:lumMod val="40000"/>
                  <a:lumOff val="60000"/>
                </a:schemeClr>
              </a:gs>
              <a:gs pos="0">
                <a:schemeClr val="accent3"/>
              </a:gs>
              <a:gs pos="100000">
                <a:schemeClr val="accent5">
                  <a:lumMod val="75000"/>
                </a:schemeClr>
              </a:gs>
            </a:gsLst>
            <a:path path="circle">
              <a:fillToRect l="100000" t="100000"/>
            </a:path>
            <a:tileRect r="-100000" b="-100000"/>
          </a:gra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6" name="TextBox 5">
            <a:extLst>
              <a:ext uri="{FF2B5EF4-FFF2-40B4-BE49-F238E27FC236}">
                <a16:creationId xmlns:a16="http://schemas.microsoft.com/office/drawing/2014/main" id="{3064242A-FFA4-0243-C386-8051238DF496}"/>
              </a:ext>
            </a:extLst>
          </p:cNvPr>
          <p:cNvSpPr txBox="1"/>
          <p:nvPr/>
        </p:nvSpPr>
        <p:spPr>
          <a:xfrm>
            <a:off x="1504012" y="1837072"/>
            <a:ext cx="196720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DF2A5D"/>
                </a:solidFill>
                <a:effectLst/>
                <a:uLnTx/>
                <a:uFillTx/>
                <a:latin typeface="Amazon Ember Medium"/>
                <a:ea typeface="+mn-ea"/>
                <a:cs typeface="+mn-cs"/>
              </a:rPr>
              <a:t>Objective</a:t>
            </a:r>
          </a:p>
        </p:txBody>
      </p:sp>
      <p:sp>
        <p:nvSpPr>
          <p:cNvPr id="7" name="TextBox 6">
            <a:extLst>
              <a:ext uri="{FF2B5EF4-FFF2-40B4-BE49-F238E27FC236}">
                <a16:creationId xmlns:a16="http://schemas.microsoft.com/office/drawing/2014/main" id="{D2D0CF63-B5FA-BFFA-F150-17E1D1F167DB}"/>
              </a:ext>
            </a:extLst>
          </p:cNvPr>
          <p:cNvSpPr txBox="1"/>
          <p:nvPr/>
        </p:nvSpPr>
        <p:spPr>
          <a:xfrm>
            <a:off x="8795196" y="1815091"/>
            <a:ext cx="21307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DF2A5D"/>
                </a:solidFill>
                <a:effectLst/>
                <a:uLnTx/>
                <a:uFillTx/>
                <a:latin typeface="Amazon Ember Medium"/>
                <a:ea typeface="+mn-ea"/>
                <a:cs typeface="+mn-cs"/>
              </a:rPr>
              <a:t>Subjective</a:t>
            </a:r>
          </a:p>
        </p:txBody>
      </p:sp>
      <p:sp>
        <p:nvSpPr>
          <p:cNvPr id="8" name="Right Arrow 7">
            <a:extLst>
              <a:ext uri="{FF2B5EF4-FFF2-40B4-BE49-F238E27FC236}">
                <a16:creationId xmlns:a16="http://schemas.microsoft.com/office/drawing/2014/main" id="{C5404B04-47E0-0545-380C-3DCC29D7E183}"/>
              </a:ext>
              <a:ext uri="{C183D7F6-B498-43B3-948B-1728B52AA6E4}">
                <adec:decorative xmlns:adec="http://schemas.microsoft.com/office/drawing/2017/decorative" val="1"/>
              </a:ext>
            </a:extLst>
          </p:cNvPr>
          <p:cNvSpPr/>
          <p:nvPr/>
        </p:nvSpPr>
        <p:spPr>
          <a:xfrm>
            <a:off x="10925907" y="1906648"/>
            <a:ext cx="855785" cy="449257"/>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9" name="Right Arrow 8">
            <a:extLst>
              <a:ext uri="{FF2B5EF4-FFF2-40B4-BE49-F238E27FC236}">
                <a16:creationId xmlns:a16="http://schemas.microsoft.com/office/drawing/2014/main" id="{903E9EFF-9A34-C5F3-A038-5B0CC57FA85E}"/>
              </a:ext>
              <a:ext uri="{C183D7F6-B498-43B3-948B-1728B52AA6E4}">
                <adec:decorative xmlns:adec="http://schemas.microsoft.com/office/drawing/2017/decorative" val="1"/>
              </a:ext>
            </a:extLst>
          </p:cNvPr>
          <p:cNvSpPr/>
          <p:nvPr/>
        </p:nvSpPr>
        <p:spPr>
          <a:xfrm rot="10800000">
            <a:off x="648227" y="1882848"/>
            <a:ext cx="855785" cy="449257"/>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cxnSp>
        <p:nvCxnSpPr>
          <p:cNvPr id="10" name="Straight Arrow Connector 9">
            <a:extLst>
              <a:ext uri="{FF2B5EF4-FFF2-40B4-BE49-F238E27FC236}">
                <a16:creationId xmlns:a16="http://schemas.microsoft.com/office/drawing/2014/main" id="{B5CE482A-105D-3FA7-2378-5ADEA4B23699}"/>
              </a:ext>
              <a:ext uri="{C183D7F6-B498-43B3-948B-1728B52AA6E4}">
                <adec:decorative xmlns:adec="http://schemas.microsoft.com/office/drawing/2017/decorative" val="1"/>
              </a:ext>
            </a:extLst>
          </p:cNvPr>
          <p:cNvCxnSpPr>
            <a:cxnSpLocks/>
          </p:cNvCxnSpPr>
          <p:nvPr/>
        </p:nvCxnSpPr>
        <p:spPr>
          <a:xfrm>
            <a:off x="1076119" y="3108304"/>
            <a:ext cx="0" cy="2307324"/>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13B03D3-D038-AC6F-59C4-F9B6186E8ED8}"/>
              </a:ext>
            </a:extLst>
          </p:cNvPr>
          <p:cNvSpPr txBox="1"/>
          <p:nvPr/>
        </p:nvSpPr>
        <p:spPr>
          <a:xfrm>
            <a:off x="11943" y="5367818"/>
            <a:ext cx="3028393"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Accuracy, precision, </a:t>
            </a:r>
            <a:br>
              <a:rPr kumimoji="0" lang="en-US" sz="2400" b="0" i="0" u="none" strike="noStrike" kern="1200" cap="none" spc="0" normalizeH="0" baseline="0" noProof="0" dirty="0">
                <a:ln>
                  <a:noFill/>
                </a:ln>
                <a:solidFill>
                  <a:srgbClr val="232F3E"/>
                </a:solidFill>
                <a:effectLst/>
                <a:uLnTx/>
                <a:uFillTx/>
                <a:latin typeface="Amazon Ember Medium"/>
                <a:ea typeface="+mn-ea"/>
                <a:cs typeface="+mn-cs"/>
              </a:rPr>
            </a:b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BLEU, Perplexity</a:t>
            </a:r>
          </a:p>
        </p:txBody>
      </p:sp>
      <p:cxnSp>
        <p:nvCxnSpPr>
          <p:cNvPr id="12" name="Straight Arrow Connector 11">
            <a:extLst>
              <a:ext uri="{FF2B5EF4-FFF2-40B4-BE49-F238E27FC236}">
                <a16:creationId xmlns:a16="http://schemas.microsoft.com/office/drawing/2014/main" id="{AB9CF53A-C92F-A174-D7BE-E73FA9D4F984}"/>
              </a:ext>
              <a:ext uri="{C183D7F6-B498-43B3-948B-1728B52AA6E4}">
                <adec:decorative xmlns:adec="http://schemas.microsoft.com/office/drawing/2017/decorative" val="1"/>
              </a:ext>
            </a:extLst>
          </p:cNvPr>
          <p:cNvCxnSpPr>
            <a:cxnSpLocks/>
          </p:cNvCxnSpPr>
          <p:nvPr/>
        </p:nvCxnSpPr>
        <p:spPr>
          <a:xfrm>
            <a:off x="11461579" y="3108304"/>
            <a:ext cx="0" cy="1768063"/>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78189E4-B8D6-4142-4E81-71E4B746F0AF}"/>
              </a:ext>
            </a:extLst>
          </p:cNvPr>
          <p:cNvSpPr txBox="1"/>
          <p:nvPr/>
        </p:nvSpPr>
        <p:spPr>
          <a:xfrm>
            <a:off x="9860230" y="4888856"/>
            <a:ext cx="2414444"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Manual Human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Evaluation</a:t>
            </a:r>
          </a:p>
        </p:txBody>
      </p:sp>
      <p:cxnSp>
        <p:nvCxnSpPr>
          <p:cNvPr id="14" name="Straight Arrow Connector 13">
            <a:extLst>
              <a:ext uri="{FF2B5EF4-FFF2-40B4-BE49-F238E27FC236}">
                <a16:creationId xmlns:a16="http://schemas.microsoft.com/office/drawing/2014/main" id="{06254F55-405E-302D-CF3A-00B1CA49E937}"/>
              </a:ext>
              <a:ext uri="{C183D7F6-B498-43B3-948B-1728B52AA6E4}">
                <adec:decorative xmlns:adec="http://schemas.microsoft.com/office/drawing/2017/decorative" val="1"/>
              </a:ext>
            </a:extLst>
          </p:cNvPr>
          <p:cNvCxnSpPr>
            <a:cxnSpLocks/>
          </p:cNvCxnSpPr>
          <p:nvPr/>
        </p:nvCxnSpPr>
        <p:spPr>
          <a:xfrm>
            <a:off x="3877935" y="3108304"/>
            <a:ext cx="0" cy="990537"/>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83BB23B-5FFF-6F2D-2F52-56669476C233}"/>
              </a:ext>
              <a:ext uri="{C183D7F6-B498-43B3-948B-1728B52AA6E4}">
                <adec:decorative xmlns:adec="http://schemas.microsoft.com/office/drawing/2017/decorative" val="1"/>
              </a:ext>
            </a:extLst>
          </p:cNvPr>
          <p:cNvCxnSpPr>
            <a:cxnSpLocks/>
            <a:stCxn id="5" idx="2"/>
          </p:cNvCxnSpPr>
          <p:nvPr/>
        </p:nvCxnSpPr>
        <p:spPr>
          <a:xfrm flipH="1">
            <a:off x="6281165" y="3108304"/>
            <a:ext cx="1" cy="2307324"/>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213DA59-D464-DA88-F805-7D75162C7B28}"/>
              </a:ext>
              <a:ext uri="{C183D7F6-B498-43B3-948B-1728B52AA6E4}">
                <adec:decorative xmlns:adec="http://schemas.microsoft.com/office/drawing/2017/decorative" val="1"/>
              </a:ext>
            </a:extLst>
          </p:cNvPr>
          <p:cNvCxnSpPr>
            <a:cxnSpLocks/>
          </p:cNvCxnSpPr>
          <p:nvPr/>
        </p:nvCxnSpPr>
        <p:spPr>
          <a:xfrm>
            <a:off x="8781069" y="3108304"/>
            <a:ext cx="0" cy="990537"/>
          </a:xfrm>
          <a:prstGeom prst="straightConnector1">
            <a:avLst/>
          </a:prstGeom>
          <a:ln w="158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5E09C61-FE74-D9ED-B363-30D1F020C6A9}"/>
              </a:ext>
            </a:extLst>
          </p:cNvPr>
          <p:cNvSpPr txBox="1"/>
          <p:nvPr/>
        </p:nvSpPr>
        <p:spPr>
          <a:xfrm>
            <a:off x="7545795" y="4069697"/>
            <a:ext cx="2470548"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Feedback-based</a:t>
            </a:r>
            <a:br>
              <a:rPr kumimoji="0" lang="en-US" sz="2400" b="0" i="0" u="none" strike="noStrike" kern="1200" cap="none" spc="0" normalizeH="0" baseline="0" noProof="0" dirty="0">
                <a:ln>
                  <a:noFill/>
                </a:ln>
                <a:solidFill>
                  <a:srgbClr val="232F3E"/>
                </a:solidFill>
                <a:effectLst/>
                <a:uLnTx/>
                <a:uFillTx/>
                <a:latin typeface="Amazon Ember Medium"/>
                <a:ea typeface="+mn-ea"/>
                <a:cs typeface="+mn-cs"/>
              </a:rPr>
            </a:b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(A/B Testing)</a:t>
            </a:r>
          </a:p>
        </p:txBody>
      </p:sp>
      <p:sp>
        <p:nvSpPr>
          <p:cNvPr id="18" name="TextBox 17">
            <a:extLst>
              <a:ext uri="{FF2B5EF4-FFF2-40B4-BE49-F238E27FC236}">
                <a16:creationId xmlns:a16="http://schemas.microsoft.com/office/drawing/2014/main" id="{52A92043-CF6C-7460-9646-043431FF267E}"/>
              </a:ext>
            </a:extLst>
          </p:cNvPr>
          <p:cNvSpPr txBox="1"/>
          <p:nvPr/>
        </p:nvSpPr>
        <p:spPr>
          <a:xfrm>
            <a:off x="5110816" y="5383207"/>
            <a:ext cx="2340705"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LLM Evaluators</a:t>
            </a:r>
          </a:p>
        </p:txBody>
      </p:sp>
      <p:sp>
        <p:nvSpPr>
          <p:cNvPr id="19" name="TextBox 18">
            <a:extLst>
              <a:ext uri="{FF2B5EF4-FFF2-40B4-BE49-F238E27FC236}">
                <a16:creationId xmlns:a16="http://schemas.microsoft.com/office/drawing/2014/main" id="{6755B360-573A-6742-A36D-A5E6E26B99E1}"/>
              </a:ext>
            </a:extLst>
          </p:cNvPr>
          <p:cNvSpPr txBox="1"/>
          <p:nvPr/>
        </p:nvSpPr>
        <p:spPr>
          <a:xfrm>
            <a:off x="2666706" y="3974332"/>
            <a:ext cx="2422458" cy="120032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Evaluation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Datasets</a:t>
            </a:r>
            <a:br>
              <a:rPr kumimoji="0" lang="en-US" sz="2400" b="0" i="0" u="none" strike="noStrike" kern="1200" cap="none" spc="0" normalizeH="0" baseline="0" noProof="0" dirty="0">
                <a:ln>
                  <a:noFill/>
                </a:ln>
                <a:solidFill>
                  <a:srgbClr val="232F3E"/>
                </a:solidFill>
                <a:effectLst/>
                <a:uLnTx/>
                <a:uFillTx/>
                <a:latin typeface="Amazon Ember Medium"/>
                <a:ea typeface="+mn-ea"/>
                <a:cs typeface="+mn-cs"/>
              </a:rPr>
            </a:br>
            <a:r>
              <a:rPr kumimoji="0" lang="en-US" sz="2400" b="0" i="0" u="none" strike="noStrike" kern="1200" cap="none" spc="0" normalizeH="0" baseline="0" noProof="0" dirty="0">
                <a:ln>
                  <a:noFill/>
                </a:ln>
                <a:solidFill>
                  <a:srgbClr val="232F3E"/>
                </a:solidFill>
                <a:effectLst/>
                <a:uLnTx/>
                <a:uFillTx/>
                <a:latin typeface="Amazon Ember Medium"/>
                <a:ea typeface="+mn-ea"/>
                <a:cs typeface="+mn-cs"/>
              </a:rPr>
              <a:t>(Benchmarking)</a:t>
            </a:r>
          </a:p>
        </p:txBody>
      </p:sp>
    </p:spTree>
    <p:extLst>
      <p:ext uri="{BB962C8B-B14F-4D97-AF65-F5344CB8AC3E}">
        <p14:creationId xmlns:p14="http://schemas.microsoft.com/office/powerpoint/2010/main" val="3932719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78473EB-CA54-7F8C-CED3-437C5F310F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774692-B5D9-9490-BF3B-6C2696BBD47A}"/>
              </a:ext>
            </a:extLst>
          </p:cNvPr>
          <p:cNvSpPr>
            <a:spLocks noGrp="1"/>
          </p:cNvSpPr>
          <p:nvPr>
            <p:ph type="sldNum" idx="97"/>
          </p:nvPr>
        </p:nvSpPr>
        <p:spPr/>
        <p:txBody>
          <a:bodyPr/>
          <a:lstStyle/>
          <a:p>
            <a:fld id="{86A8BF56-6CB3-514C-9A64-F39D95C9E25B}" type="slidenum">
              <a:rPr lang="en-US" smtClean="0"/>
              <a:t>30</a:t>
            </a:fld>
            <a:endParaRPr lang="en-US"/>
          </a:p>
        </p:txBody>
      </p:sp>
      <p:sp>
        <p:nvSpPr>
          <p:cNvPr id="3" name="Title 2">
            <a:extLst>
              <a:ext uri="{FF2B5EF4-FFF2-40B4-BE49-F238E27FC236}">
                <a16:creationId xmlns:a16="http://schemas.microsoft.com/office/drawing/2014/main" id="{C1B75019-F1BB-1B18-FD4E-C98AF0756B80}"/>
              </a:ext>
            </a:extLst>
          </p:cNvPr>
          <p:cNvSpPr>
            <a:spLocks noGrp="1"/>
          </p:cNvSpPr>
          <p:nvPr>
            <p:ph type="title" idx="1"/>
          </p:nvPr>
        </p:nvSpPr>
        <p:spPr/>
        <p:txBody>
          <a:bodyPr/>
          <a:lstStyle/>
          <a:p>
            <a:r>
              <a:rPr lang="en-DE"/>
              <a:t>Evaluation </a:t>
            </a:r>
            <a:r>
              <a:rPr lang="en-US" dirty="0"/>
              <a:t>o</a:t>
            </a:r>
            <a:r>
              <a:rPr lang="en-DE"/>
              <a:t>n Amazon Bedrock</a:t>
            </a:r>
            <a:endParaRPr lang="en-US" dirty="0"/>
          </a:p>
        </p:txBody>
      </p:sp>
      <p:sp>
        <p:nvSpPr>
          <p:cNvPr id="6" name="Rounded Rectangle 5">
            <a:extLst>
              <a:ext uri="{FF2B5EF4-FFF2-40B4-BE49-F238E27FC236}">
                <a16:creationId xmlns:a16="http://schemas.microsoft.com/office/drawing/2014/main" id="{1C7D7705-F185-B399-2D64-F2072171F82C}"/>
              </a:ext>
            </a:extLst>
          </p:cNvPr>
          <p:cNvSpPr/>
          <p:nvPr/>
        </p:nvSpPr>
        <p:spPr>
          <a:xfrm>
            <a:off x="933486" y="1402080"/>
            <a:ext cx="10234385" cy="5354905"/>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A20EF60-F8E1-B2CD-43A0-9BCB67614A29}"/>
              </a:ext>
            </a:extLst>
          </p:cNvPr>
          <p:cNvCxnSpPr>
            <a:cxnSpLocks/>
            <a:stCxn id="20" idx="2"/>
            <a:endCxn id="13" idx="1"/>
          </p:cNvCxnSpPr>
          <p:nvPr/>
        </p:nvCxnSpPr>
        <p:spPr>
          <a:xfrm>
            <a:off x="5092544" y="3101702"/>
            <a:ext cx="1815352" cy="88334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CFBC5AF2-7E56-6C7F-D531-B63A76FAC5FB}"/>
              </a:ext>
            </a:extLst>
          </p:cNvPr>
          <p:cNvGrpSpPr/>
          <p:nvPr/>
        </p:nvGrpSpPr>
        <p:grpSpPr>
          <a:xfrm>
            <a:off x="1159632" y="3101702"/>
            <a:ext cx="7865823" cy="1610055"/>
            <a:chOff x="1356294" y="4278324"/>
            <a:chExt cx="7865823" cy="1610055"/>
          </a:xfrm>
        </p:grpSpPr>
        <p:sp>
          <p:nvSpPr>
            <p:cNvPr id="13" name="Rounded Rectangle 12">
              <a:extLst>
                <a:ext uri="{FF2B5EF4-FFF2-40B4-BE49-F238E27FC236}">
                  <a16:creationId xmlns:a16="http://schemas.microsoft.com/office/drawing/2014/main" id="{60900B69-5328-EE0D-FA85-0971E286AA63}"/>
                </a:ext>
              </a:extLst>
            </p:cNvPr>
            <p:cNvSpPr/>
            <p:nvPr/>
          </p:nvSpPr>
          <p:spPr>
            <a:xfrm>
              <a:off x="7104558" y="4434963"/>
              <a:ext cx="2117559" cy="1453415"/>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000" b="1" dirty="0"/>
                <a:t>Human Evaluation</a:t>
              </a:r>
            </a:p>
            <a:p>
              <a:pPr algn="ctr"/>
              <a:endParaRPr lang="en-DE" b="1" dirty="0"/>
            </a:p>
          </p:txBody>
        </p:sp>
        <p:sp>
          <p:nvSpPr>
            <p:cNvPr id="14" name="Rounded Rectangle 13">
              <a:extLst>
                <a:ext uri="{FF2B5EF4-FFF2-40B4-BE49-F238E27FC236}">
                  <a16:creationId xmlns:a16="http://schemas.microsoft.com/office/drawing/2014/main" id="{7BA78A4F-CCBA-8528-8D2B-EE3F5623BEB7}"/>
                </a:ext>
              </a:extLst>
            </p:cNvPr>
            <p:cNvSpPr/>
            <p:nvPr/>
          </p:nvSpPr>
          <p:spPr>
            <a:xfrm>
              <a:off x="1356294" y="4434964"/>
              <a:ext cx="2117559" cy="1453415"/>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Programmatic</a:t>
              </a:r>
              <a:endParaRPr lang="en-DE" sz="2000" b="1" dirty="0"/>
            </a:p>
          </p:txBody>
        </p:sp>
        <p:cxnSp>
          <p:nvCxnSpPr>
            <p:cNvPr id="15" name="Straight Arrow Connector 14">
              <a:extLst>
                <a:ext uri="{FF2B5EF4-FFF2-40B4-BE49-F238E27FC236}">
                  <a16:creationId xmlns:a16="http://schemas.microsoft.com/office/drawing/2014/main" id="{90642A77-41A6-6DD6-2EAD-5DD536769518}"/>
                </a:ext>
              </a:extLst>
            </p:cNvPr>
            <p:cNvCxnSpPr>
              <a:cxnSpLocks/>
              <a:stCxn id="20" idx="2"/>
              <a:endCxn id="14" idx="3"/>
            </p:cNvCxnSpPr>
            <p:nvPr/>
          </p:nvCxnSpPr>
          <p:spPr>
            <a:xfrm flipH="1">
              <a:off x="3473853" y="4278324"/>
              <a:ext cx="1815353" cy="88334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descr="Amazon Bedrock logo.">
            <a:extLst>
              <a:ext uri="{FF2B5EF4-FFF2-40B4-BE49-F238E27FC236}">
                <a16:creationId xmlns:a16="http://schemas.microsoft.com/office/drawing/2014/main" id="{C31300B2-9059-B7D2-A50E-E93F0263EF0A}"/>
              </a:ext>
              <a:ext uri="{C183D7F6-B498-43B3-948B-1728B52AA6E4}">
                <adec:decorative xmlns:adec="http://schemas.microsoft.com/office/drawing/2017/decorative" val="0"/>
              </a:ext>
            </a:extLst>
          </p:cNvPr>
          <p:cNvGrpSpPr/>
          <p:nvPr/>
        </p:nvGrpSpPr>
        <p:grpSpPr>
          <a:xfrm>
            <a:off x="3822599" y="1483935"/>
            <a:ext cx="2539890" cy="1617767"/>
            <a:chOff x="4826055" y="1590772"/>
            <a:chExt cx="2539890" cy="1617767"/>
          </a:xfrm>
        </p:grpSpPr>
        <p:sp>
          <p:nvSpPr>
            <p:cNvPr id="20" name="Rectangle 19">
              <a:extLst>
                <a:ext uri="{FF2B5EF4-FFF2-40B4-BE49-F238E27FC236}">
                  <a16:creationId xmlns:a16="http://schemas.microsoft.com/office/drawing/2014/main" id="{5A473572-F37E-978A-FB16-B467367415D7}"/>
                </a:ext>
              </a:extLst>
            </p:cNvPr>
            <p:cNvSpPr/>
            <p:nvPr/>
          </p:nvSpPr>
          <p:spPr>
            <a:xfrm>
              <a:off x="4826055" y="1668988"/>
              <a:ext cx="2539890" cy="1539551"/>
            </a:xfrm>
            <a:prstGeom prst="rect">
              <a:avLst/>
            </a:prstGeom>
            <a:solidFill>
              <a:schemeClr val="bg1"/>
            </a:solidFill>
            <a:ln w="285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mazon Ember Light"/>
                <a:ea typeface="+mn-ea"/>
                <a:cs typeface="+mn-cs"/>
              </a:endParaRPr>
            </a:p>
          </p:txBody>
        </p:sp>
        <p:sp>
          <p:nvSpPr>
            <p:cNvPr id="21" name="TextBox 10">
              <a:extLst>
                <a:ext uri="{FF2B5EF4-FFF2-40B4-BE49-F238E27FC236}">
                  <a16:creationId xmlns:a16="http://schemas.microsoft.com/office/drawing/2014/main" id="{E5A6425A-A789-D9EA-7D92-025CBF5C2EC4}"/>
                </a:ext>
              </a:extLst>
            </p:cNvPr>
            <p:cNvSpPr txBox="1"/>
            <p:nvPr/>
          </p:nvSpPr>
          <p:spPr>
            <a:xfrm>
              <a:off x="4826055" y="2736149"/>
              <a:ext cx="2539890" cy="400110"/>
            </a:xfrm>
            <a:prstGeom prst="rect">
              <a:avLst/>
            </a:prstGeom>
            <a:noFill/>
          </p:spPr>
          <p:txBody>
            <a:bodyPr wrap="square" rtlCol="0">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232F3E"/>
                  </a:solidFill>
                  <a:effectLst/>
                  <a:uLnTx/>
                  <a:uFillTx/>
                  <a:latin typeface="Amazon Ember Medium"/>
                  <a:ea typeface="Amazon Ember Display" panose="020F0603020204020204" pitchFamily="34" charset="0"/>
                  <a:cs typeface="Amazon Ember Display" panose="020F0603020204020204" pitchFamily="34" charset="0"/>
                </a:rPr>
                <a:t>Amazon Bedrock</a:t>
              </a:r>
            </a:p>
          </p:txBody>
        </p:sp>
        <p:sp>
          <p:nvSpPr>
            <p:cNvPr id="22" name="Rectangle 21">
              <a:extLst>
                <a:ext uri="{FF2B5EF4-FFF2-40B4-BE49-F238E27FC236}">
                  <a16:creationId xmlns:a16="http://schemas.microsoft.com/office/drawing/2014/main" id="{9E4B0D1C-E665-CD93-8DA8-87C380F9E58B}"/>
                </a:ext>
              </a:extLst>
            </p:cNvPr>
            <p:cNvSpPr/>
            <p:nvPr/>
          </p:nvSpPr>
          <p:spPr>
            <a:xfrm>
              <a:off x="4826055" y="1590772"/>
              <a:ext cx="2539890" cy="91440"/>
            </a:xfrm>
            <a:prstGeom prst="rect">
              <a:avLst/>
            </a:prstGeom>
            <a:solidFill>
              <a:schemeClr val="accent2"/>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1F3F3"/>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23" name="Picture 22">
              <a:extLst>
                <a:ext uri="{FF2B5EF4-FFF2-40B4-BE49-F238E27FC236}">
                  <a16:creationId xmlns:a16="http://schemas.microsoft.com/office/drawing/2014/main" id="{8B993EAD-0EBF-1F31-01F7-03ABB27E214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1573" y="1809772"/>
              <a:ext cx="888911" cy="888911"/>
            </a:xfrm>
            <a:prstGeom prst="rect">
              <a:avLst/>
            </a:prstGeom>
          </p:spPr>
        </p:pic>
      </p:grpSp>
      <p:sp>
        <p:nvSpPr>
          <p:cNvPr id="33" name="Rounded Rectangle 32">
            <a:extLst>
              <a:ext uri="{FF2B5EF4-FFF2-40B4-BE49-F238E27FC236}">
                <a16:creationId xmlns:a16="http://schemas.microsoft.com/office/drawing/2014/main" id="{E227D525-4602-CF72-3F60-4C87EEE0D1E7}"/>
              </a:ext>
            </a:extLst>
          </p:cNvPr>
          <p:cNvSpPr/>
          <p:nvPr/>
        </p:nvSpPr>
        <p:spPr>
          <a:xfrm>
            <a:off x="4790337" y="4729044"/>
            <a:ext cx="2117559" cy="1453415"/>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000" b="1" dirty="0"/>
              <a:t>AWS managed team</a:t>
            </a:r>
          </a:p>
          <a:p>
            <a:pPr algn="ctr"/>
            <a:endParaRPr lang="en-DE" b="1" dirty="0"/>
          </a:p>
        </p:txBody>
      </p:sp>
      <p:sp>
        <p:nvSpPr>
          <p:cNvPr id="34" name="Rounded Rectangle 33">
            <a:extLst>
              <a:ext uri="{FF2B5EF4-FFF2-40B4-BE49-F238E27FC236}">
                <a16:creationId xmlns:a16="http://schemas.microsoft.com/office/drawing/2014/main" id="{C7FB3B0C-A6F6-1FD0-493F-54A651ABD646}"/>
              </a:ext>
            </a:extLst>
          </p:cNvPr>
          <p:cNvSpPr/>
          <p:nvPr/>
        </p:nvSpPr>
        <p:spPr>
          <a:xfrm>
            <a:off x="8790407" y="4711756"/>
            <a:ext cx="2117559" cy="1453415"/>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2000" b="1" dirty="0"/>
              <a:t>Bring your own team</a:t>
            </a:r>
          </a:p>
          <a:p>
            <a:pPr algn="ctr"/>
            <a:endParaRPr lang="en-DE" b="1" dirty="0"/>
          </a:p>
        </p:txBody>
      </p:sp>
      <p:cxnSp>
        <p:nvCxnSpPr>
          <p:cNvPr id="36" name="Straight Arrow Connector 35">
            <a:extLst>
              <a:ext uri="{FF2B5EF4-FFF2-40B4-BE49-F238E27FC236}">
                <a16:creationId xmlns:a16="http://schemas.microsoft.com/office/drawing/2014/main" id="{D74136F3-3B7E-4D89-9B14-762E6F395C20}"/>
              </a:ext>
            </a:extLst>
          </p:cNvPr>
          <p:cNvCxnSpPr>
            <a:cxnSpLocks/>
            <a:stCxn id="13" idx="2"/>
            <a:endCxn id="33" idx="3"/>
          </p:cNvCxnSpPr>
          <p:nvPr/>
        </p:nvCxnSpPr>
        <p:spPr>
          <a:xfrm flipH="1">
            <a:off x="6907896" y="4711756"/>
            <a:ext cx="1058780" cy="74399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6F89802-D780-B004-8C64-7249BD50BE8F}"/>
              </a:ext>
            </a:extLst>
          </p:cNvPr>
          <p:cNvCxnSpPr>
            <a:cxnSpLocks/>
            <a:stCxn id="13" idx="2"/>
            <a:endCxn id="34" idx="1"/>
          </p:cNvCxnSpPr>
          <p:nvPr/>
        </p:nvCxnSpPr>
        <p:spPr>
          <a:xfrm>
            <a:off x="7966676" y="4711756"/>
            <a:ext cx="823731" cy="72670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8864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EEP-GitHub">
  <a:themeElements>
    <a:clrScheme name="MLU-Academy">
      <a:dk1>
        <a:sysClr val="windowText" lastClr="000000"/>
      </a:dk1>
      <a:lt1>
        <a:sysClr val="window" lastClr="FFFFFF"/>
      </a:lt1>
      <a:dk2>
        <a:srgbClr val="232F3E"/>
      </a:dk2>
      <a:lt2>
        <a:srgbClr val="F1F3F3"/>
      </a:lt2>
      <a:accent1>
        <a:srgbClr val="003181"/>
      </a:accent1>
      <a:accent2>
        <a:srgbClr val="FFAD97"/>
      </a:accent2>
      <a:accent3>
        <a:srgbClr val="F46EBB"/>
      </a:accent3>
      <a:accent4>
        <a:srgbClr val="2074D5"/>
      </a:accent4>
      <a:accent5>
        <a:srgbClr val="7C5AED"/>
      </a:accent5>
      <a:accent6>
        <a:srgbClr val="DF2A5D"/>
      </a:accent6>
      <a:hlink>
        <a:srgbClr val="0972D3"/>
      </a:hlink>
      <a:folHlink>
        <a:srgbClr val="0972D3"/>
      </a:folHlink>
    </a:clrScheme>
    <a:fontScheme name="MLU-Academy-fonts">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Squid Ink">
      <a:srgbClr val="161E2D"/>
    </a:custClr>
    <a:custClr name="Squid Ink">
      <a:srgbClr val="232F3E"/>
    </a:custClr>
    <a:custClr name="Stone">
      <a:srgbClr val="D4DADA"/>
    </a:custClr>
    <a:custClr name="Paper">
      <a:srgbClr val="F1F3F3"/>
    </a:custClr>
    <a:custClr name="White">
      <a:srgbClr val="FFFFFF"/>
    </a:custClr>
    <a:custClr name="blank">
      <a:srgbClr val="FFFFFF"/>
    </a:custClr>
    <a:custClr name="blank">
      <a:srgbClr val="FFFFFF"/>
    </a:custClr>
    <a:custClr name="blank">
      <a:srgbClr val="FFFFFF"/>
    </a:custClr>
    <a:custClr name="blank">
      <a:srgbClr val="FFFFFF"/>
    </a:custClr>
    <a:custClr name="blank">
      <a:srgbClr val="FFFFFF"/>
    </a:custClr>
    <a:custClr name="Anchor">
      <a:srgbClr val="003181"/>
    </a:custClr>
    <a:custClr name="Sky">
      <a:srgbClr val="2074D5"/>
    </a:custClr>
    <a:custClr name="Rind">
      <a:srgbClr val="FBD8BF"/>
    </a:custClr>
    <a:custClr name="Smile">
      <a:srgbClr val="FF9900"/>
    </a:custClr>
    <a:custClr name="blank">
      <a:srgbClr val="FFFFFF"/>
    </a:custClr>
    <a:custClr name="Galaxy">
      <a:srgbClr val="330066"/>
    </a:custClr>
    <a:custClr name="Cosmos">
      <a:srgbClr val="DF2A5D"/>
    </a:custClr>
    <a:custClr name="Violet">
      <a:srgbClr val="7C5AED"/>
    </a:custClr>
    <a:custClr name="Cyan">
      <a:srgbClr val="7CE8F4"/>
    </a:custClr>
    <a:custClr name="blank">
      <a:srgbClr val="FFFFFF"/>
    </a:custClr>
    <a:custClr name="Sea Blue">
      <a:srgbClr val="005276"/>
    </a:custClr>
    <a:custClr name="Aqua">
      <a:srgbClr val="007FAA"/>
    </a:custClr>
    <a:custClr name="Lab">
      <a:srgbClr val="38EF7D"/>
    </a:custClr>
    <a:custClr name="Mist">
      <a:srgbClr val="9FFCEA"/>
    </a:custClr>
    <a:custClr name="blank">
      <a:srgbClr val="FFFFFF"/>
    </a:custClr>
    <a:custClr name="Anchor">
      <a:srgbClr val="003181"/>
    </a:custClr>
    <a:custClr name="Sky">
      <a:srgbClr val="2074D5"/>
    </a:custClr>
    <a:custClr name="Magenta">
      <a:srgbClr val="F46EBB"/>
    </a:custClr>
    <a:custClr name="Peach">
      <a:srgbClr val="FFAD97"/>
    </a:custClr>
    <a:custClr name="blank">
      <a:srgbClr val="FFFFFF"/>
    </a:custClr>
  </a:custClrLst>
  <a:extLst>
    <a:ext uri="{05A4C25C-085E-4340-85A3-A5531E510DB2}">
      <thm15:themeFamily xmlns:thm15="http://schemas.microsoft.com/office/thememl/2012/main" name="EEP-GitHub" id="{842962CA-AC46-1D48-882A-3684688E17DC}" vid="{EA6B7C85-BB29-624A-944E-87E8D14E34C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EEP-GitHub</Template>
  <TotalTime>16847</TotalTime>
  <Words>7746</Words>
  <Application>Microsoft Macintosh PowerPoint</Application>
  <PresentationFormat>Widescreen</PresentationFormat>
  <Paragraphs>1068</Paragraphs>
  <Slides>30</Slides>
  <Notes>30</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Amazon Ember</vt:lpstr>
      <vt:lpstr>Amazon Ember Display</vt:lpstr>
      <vt:lpstr>Amazon Ember Display Heavy</vt:lpstr>
      <vt:lpstr>Amazon Ember Heavy</vt:lpstr>
      <vt:lpstr>Amazon Ember Light</vt:lpstr>
      <vt:lpstr>Amazon Ember Medium</vt:lpstr>
      <vt:lpstr>Arial</vt:lpstr>
      <vt:lpstr>Calibri</vt:lpstr>
      <vt:lpstr>Lucida Console</vt:lpstr>
      <vt:lpstr>System Font Regular</vt:lpstr>
      <vt:lpstr>Wingdings</vt:lpstr>
      <vt:lpstr>EEP-GitHub</vt:lpstr>
      <vt:lpstr>Evaluating LLMs</vt:lpstr>
      <vt:lpstr>Today’s activities</vt:lpstr>
      <vt:lpstr>Review: Foundation models</vt:lpstr>
      <vt:lpstr>Review: Large Language Models (LLMs)</vt:lpstr>
      <vt:lpstr>Review: Good prompting practices</vt:lpstr>
      <vt:lpstr>Why is it important to evaluate LLMs?</vt:lpstr>
      <vt:lpstr>1. Increasing number of core abilities</vt:lpstr>
      <vt:lpstr>2. Knowledge of diverse topics</vt:lpstr>
      <vt:lpstr>3. Increasing visibility and influence</vt:lpstr>
      <vt:lpstr>4. Going beyond content generation</vt:lpstr>
      <vt:lpstr>5. LLMs Acting as experts for other systems</vt:lpstr>
      <vt:lpstr>Evaluating LLMs</vt:lpstr>
      <vt:lpstr>Evaluating LLMs is hard</vt:lpstr>
      <vt:lpstr>Where do LLMs fail?</vt:lpstr>
      <vt:lpstr>Spectrum of evaluation approaches</vt:lpstr>
      <vt:lpstr>Metric-based evaluation</vt:lpstr>
      <vt:lpstr>Evaluation Datasets</vt:lpstr>
      <vt:lpstr>Examples of evaluation datasets</vt:lpstr>
      <vt:lpstr>HellaSwag: Example</vt:lpstr>
      <vt:lpstr>Always evaluate, even if difficult</vt:lpstr>
      <vt:lpstr>Performance Evaluation on Amazon Bedrock</vt:lpstr>
      <vt:lpstr>Evaluation on Amazon Bedrock</vt:lpstr>
      <vt:lpstr>Programmatic evaluation</vt:lpstr>
      <vt:lpstr>Manual evaluation</vt:lpstr>
      <vt:lpstr>How human evaluation works  (Bring your own team)</vt:lpstr>
      <vt:lpstr>Analyze results</vt:lpstr>
      <vt:lpstr>Next lesson</vt:lpstr>
      <vt:lpstr>PowerPoint Presentation</vt:lpstr>
      <vt:lpstr>Spectrum of evaluation approaches</vt:lpstr>
      <vt:lpstr>Evaluation on Amazon Bedrock</vt:lpstr>
    </vt:vector>
  </TitlesOfParts>
  <Manager/>
  <Company>Amazon,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Educator Enablement Program - Generative AI</dc:title>
  <dc:subject>Foundation Models and Large Language Models</dc:subject>
  <dc:creator>Machine Learning University</dc:creator>
  <cp:keywords/>
  <dc:description/>
  <cp:lastModifiedBy>Bugbee, Erin</cp:lastModifiedBy>
  <cp:revision>84</cp:revision>
  <cp:lastPrinted>2025-06-17T19:42:32Z</cp:lastPrinted>
  <dcterms:created xsi:type="dcterms:W3CDTF">2022-11-16T15:46:36Z</dcterms:created>
  <dcterms:modified xsi:type="dcterms:W3CDTF">2025-09-29T19:09:24Z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2025-06-16T21:50:46Z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6fb3e647-4c13-403f-ba5a-8d7cfd2c504a</vt:lpwstr>
  </property>
  <property fmtid="{D5CDD505-2E9C-101B-9397-08002B2CF9AE}" pid="8" name="MSIP_Label_929eed6f-34eb-4453-9f97-09510b9b219f_ContentBits">
    <vt:lpwstr>0</vt:lpwstr>
  </property>
</Properties>
</file>